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46"/>
  </p:notesMasterIdLst>
  <p:sldIdLst>
    <p:sldId id="274" r:id="rId2"/>
    <p:sldId id="270" r:id="rId3"/>
    <p:sldId id="258" r:id="rId4"/>
    <p:sldId id="512" r:id="rId5"/>
    <p:sldId id="500" r:id="rId6"/>
    <p:sldId id="501" r:id="rId7"/>
    <p:sldId id="532" r:id="rId8"/>
    <p:sldId id="530" r:id="rId9"/>
    <p:sldId id="525" r:id="rId10"/>
    <p:sldId id="526" r:id="rId11"/>
    <p:sldId id="502" r:id="rId12"/>
    <p:sldId id="489" r:id="rId13"/>
    <p:sldId id="505" r:id="rId14"/>
    <p:sldId id="523" r:id="rId15"/>
    <p:sldId id="535" r:id="rId16"/>
    <p:sldId id="507" r:id="rId17"/>
    <p:sldId id="511" r:id="rId18"/>
    <p:sldId id="490" r:id="rId19"/>
    <p:sldId id="481" r:id="rId20"/>
    <p:sldId id="482" r:id="rId21"/>
    <p:sldId id="498" r:id="rId22"/>
    <p:sldId id="506" r:id="rId23"/>
    <p:sldId id="464" r:id="rId24"/>
    <p:sldId id="521" r:id="rId25"/>
    <p:sldId id="520" r:id="rId26"/>
    <p:sldId id="471" r:id="rId27"/>
    <p:sldId id="492" r:id="rId28"/>
    <p:sldId id="461" r:id="rId29"/>
    <p:sldId id="467" r:id="rId30"/>
    <p:sldId id="537" r:id="rId31"/>
    <p:sldId id="536" r:id="rId32"/>
    <p:sldId id="470" r:id="rId33"/>
    <p:sldId id="515" r:id="rId34"/>
    <p:sldId id="518" r:id="rId35"/>
    <p:sldId id="485" r:id="rId36"/>
    <p:sldId id="534" r:id="rId37"/>
    <p:sldId id="491" r:id="rId38"/>
    <p:sldId id="509" r:id="rId39"/>
    <p:sldId id="504" r:id="rId40"/>
    <p:sldId id="533" r:id="rId41"/>
    <p:sldId id="479" r:id="rId42"/>
    <p:sldId id="480" r:id="rId43"/>
    <p:sldId id="476" r:id="rId44"/>
    <p:sldId id="513" r:id="rId4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3F59"/>
    <a:srgbClr val="A5A5A5"/>
    <a:srgbClr val="EFBA5B"/>
    <a:srgbClr val="C5E0B4"/>
    <a:srgbClr val="ED7D31"/>
    <a:srgbClr val="DAE3F3"/>
    <a:srgbClr val="5B9BD5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21" autoAdjust="0"/>
    <p:restoredTop sz="93409" autoAdjust="0"/>
  </p:normalViewPr>
  <p:slideViewPr>
    <p:cSldViewPr snapToGrid="0">
      <p:cViewPr varScale="1">
        <p:scale>
          <a:sx n="96" d="100"/>
          <a:sy n="96" d="100"/>
        </p:scale>
        <p:origin x="6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&#27963;&#38913;&#31807;1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535835430572271"/>
          <c:y val="5.0466243790610966E-2"/>
          <c:w val="0.87074515811357922"/>
          <c:h val="0.82930921935548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104775">
              <a:solidFill>
                <a:schemeClr val="accent3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04775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52F-416B-85B8-79E22E28089C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 w="104775"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52F-416B-85B8-79E22E28089C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104775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52F-416B-85B8-79E22E28089C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25000"/>
                </a:schemeClr>
              </a:solidFill>
              <a:ln w="104775">
                <a:solidFill>
                  <a:schemeClr val="bg2">
                    <a:lumMod val="2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52F-416B-85B8-79E22E28089C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ln w="104775">
                <a:solidFill>
                  <a:srgbClr val="FF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52F-416B-85B8-79E22E28089C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4">
                  <a:lumMod val="75000"/>
                </a:schemeClr>
              </a:solidFill>
              <a:ln w="104775">
                <a:solidFill>
                  <a:schemeClr val="accent4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52F-416B-85B8-79E22E28089C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 w="104775">
                <a:solidFill>
                  <a:schemeClr val="accent5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052F-416B-85B8-79E22E28089C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 w="1047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052F-416B-85B8-79E22E28089C}"/>
              </c:ext>
            </c:extLst>
          </c:dPt>
          <c:cat>
            <c:numRef>
              <c:f>工作表1!$A$2:$A$9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7</c:v>
                </c:pt>
                <c:pt idx="4">
                  <c:v>8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numCache>
            </c:numRef>
          </c:cat>
          <c:val>
            <c:numRef>
              <c:f>工作表1!$B$2:$B$9</c:f>
              <c:numCache>
                <c:formatCode>General</c:formatCode>
                <c:ptCount val="8"/>
                <c:pt idx="0">
                  <c:v>100</c:v>
                </c:pt>
                <c:pt idx="1">
                  <c:v>88</c:v>
                </c:pt>
                <c:pt idx="2">
                  <c:v>80</c:v>
                </c:pt>
                <c:pt idx="3">
                  <c:v>50</c:v>
                </c:pt>
                <c:pt idx="4">
                  <c:v>36</c:v>
                </c:pt>
                <c:pt idx="5">
                  <c:v>20</c:v>
                </c:pt>
                <c:pt idx="6">
                  <c:v>10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52F-416B-85B8-79E22E2808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7474399"/>
        <c:axId val="785775663"/>
      </c:barChart>
      <c:catAx>
        <c:axId val="787474399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TW" dirty="0"/>
                  <a:t>classes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crossAx val="785775663"/>
        <c:crosses val="autoZero"/>
        <c:auto val="1"/>
        <c:lblAlgn val="ctr"/>
        <c:lblOffset val="100"/>
        <c:noMultiLvlLbl val="0"/>
      </c:catAx>
      <c:valAx>
        <c:axId val="785775663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TW" dirty="0"/>
                  <a:t>number</a:t>
                </a:r>
                <a:r>
                  <a:rPr lang="en-US" altLang="zh-TW" baseline="0" dirty="0"/>
                  <a:t> of data</a:t>
                </a:r>
                <a:endParaRPr lang="zh-TW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 altLang="en-US"/>
            </a:p>
          </c:txPr>
        </c:title>
        <c:numFmt formatCode="General" sourceLinked="1"/>
        <c:majorTickMark val="none"/>
        <c:minorTickMark val="none"/>
        <c:tickLblPos val="nextTo"/>
        <c:crossAx val="787474399"/>
        <c:crosses val="autoZero"/>
        <c:crossBetween val="between"/>
      </c:valAx>
      <c:spPr>
        <a:noFill/>
        <a:ln w="79375">
          <a:solidFill>
            <a:schemeClr val="bg2"/>
          </a:solidFill>
        </a:ln>
        <a:effectLst/>
      </c:spPr>
    </c:plotArea>
    <c:plotVisOnly val="1"/>
    <c:dispBlanksAs val="gap"/>
    <c:showDLblsOverMax val="0"/>
  </c:chart>
  <c:spPr>
    <a:noFill/>
    <a:ln w="41275" cap="flat" cmpd="sng" algn="ctr">
      <a:noFill/>
      <a:round/>
    </a:ln>
    <a:effectLst/>
  </c:spPr>
  <c:txPr>
    <a:bodyPr/>
    <a:lstStyle/>
    <a:p>
      <a:pPr>
        <a:defRPr/>
      </a:pPr>
      <a:endParaRPr lang="zh-TW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dirty="0"/>
              <a:t>Accuracy</a:t>
            </a:r>
            <a:endParaRPr lang="zh-TW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373369793822651"/>
          <c:y val="0.13204735712424928"/>
          <c:w val="0.86292004667914135"/>
          <c:h val="0.672053516802331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工作表1!$A$2:$A$4</c:f>
              <c:strCache>
                <c:ptCount val="3"/>
                <c:pt idx="0">
                  <c:v>Iteration1</c:v>
                </c:pt>
                <c:pt idx="1">
                  <c:v>Iteration2</c:v>
                </c:pt>
                <c:pt idx="2">
                  <c:v>Iteration3</c:v>
                </c:pt>
              </c:strCache>
            </c:strRef>
          </c:cat>
          <c:val>
            <c:numRef>
              <c:f>工作表1!$B$2:$B$4</c:f>
              <c:numCache>
                <c:formatCode>0.00%</c:formatCode>
                <c:ptCount val="3"/>
                <c:pt idx="0">
                  <c:v>9.4600000000000004E-2</c:v>
                </c:pt>
                <c:pt idx="1">
                  <c:v>0.217</c:v>
                </c:pt>
                <c:pt idx="2">
                  <c:v>0.31580000000000003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5A-4125-8F2B-ED8F8FC2A08A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0.3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工作表1!$A$2:$A$4</c:f>
              <c:strCache>
                <c:ptCount val="3"/>
                <c:pt idx="0">
                  <c:v>Iteration1</c:v>
                </c:pt>
                <c:pt idx="1">
                  <c:v>Iteration2</c:v>
                </c:pt>
                <c:pt idx="2">
                  <c:v>Iteration3</c:v>
                </c:pt>
              </c:strCache>
            </c:strRef>
          </c:cat>
          <c:val>
            <c:numRef>
              <c:f>工作表1!$C$2:$C$4</c:f>
              <c:numCache>
                <c:formatCode>0.00%</c:formatCode>
                <c:ptCount val="3"/>
                <c:pt idx="1">
                  <c:v>0.2462</c:v>
                </c:pt>
                <c:pt idx="2">
                  <c:v>0.32819999999999999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5A-4125-8F2B-ED8F8FC2A08A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0.5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工作表1!$A$2:$A$4</c:f>
              <c:strCache>
                <c:ptCount val="3"/>
                <c:pt idx="0">
                  <c:v>Iteration1</c:v>
                </c:pt>
                <c:pt idx="1">
                  <c:v>Iteration2</c:v>
                </c:pt>
                <c:pt idx="2">
                  <c:v>Iteration3</c:v>
                </c:pt>
              </c:strCache>
            </c:strRef>
          </c:cat>
          <c:val>
            <c:numRef>
              <c:f>工作表1!$D$2:$D$4</c:f>
              <c:numCache>
                <c:formatCode>0.00%</c:formatCode>
                <c:ptCount val="3"/>
                <c:pt idx="1">
                  <c:v>0.24160000000000001</c:v>
                </c:pt>
                <c:pt idx="2">
                  <c:v>0.31759999999999999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5A-4125-8F2B-ED8F8FC2A08A}"/>
            </c:ext>
          </c:extLst>
        </c:ser>
        <c:ser>
          <c:idx val="3"/>
          <c:order val="3"/>
          <c:tx>
            <c:strRef>
              <c:f>工作表1!$E$1</c:f>
              <c:strCache>
                <c:ptCount val="1"/>
                <c:pt idx="0">
                  <c:v>0.7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工作表1!$A$2:$A$4</c:f>
              <c:strCache>
                <c:ptCount val="3"/>
                <c:pt idx="0">
                  <c:v>Iteration1</c:v>
                </c:pt>
                <c:pt idx="1">
                  <c:v>Iteration2</c:v>
                </c:pt>
                <c:pt idx="2">
                  <c:v>Iteration3</c:v>
                </c:pt>
              </c:strCache>
            </c:strRef>
          </c:cat>
          <c:val>
            <c:numRef>
              <c:f>工作表1!$E$2:$E$4</c:f>
              <c:numCache>
                <c:formatCode>0.00%</c:formatCode>
                <c:ptCount val="3"/>
                <c:pt idx="1">
                  <c:v>0.22639999999999999</c:v>
                </c:pt>
                <c:pt idx="2">
                  <c:v>0.35199999999999998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5A-4125-8F2B-ED8F8FC2A08A}"/>
            </c:ext>
          </c:extLst>
        </c:ser>
        <c:ser>
          <c:idx val="4"/>
          <c:order val="4"/>
          <c:tx>
            <c:strRef>
              <c:f>工作表1!$F$1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工作表1!$A$2:$A$4</c:f>
              <c:strCache>
                <c:ptCount val="3"/>
                <c:pt idx="0">
                  <c:v>Iteration1</c:v>
                </c:pt>
                <c:pt idx="1">
                  <c:v>Iteration2</c:v>
                </c:pt>
                <c:pt idx="2">
                  <c:v>Iteration3</c:v>
                </c:pt>
              </c:strCache>
            </c:strRef>
          </c:cat>
          <c:val>
            <c:numRef>
              <c:f>工作表1!$F$2:$F$4</c:f>
              <c:numCache>
                <c:formatCode>0.00%</c:formatCode>
                <c:ptCount val="3"/>
                <c:pt idx="0">
                  <c:v>0.1492</c:v>
                </c:pt>
                <c:pt idx="1">
                  <c:v>0.21299999999999999</c:v>
                </c:pt>
                <c:pt idx="2">
                  <c:v>0.34160000000000001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C5A-4125-8F2B-ED8F8FC2A0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40808415"/>
        <c:axId val="1848759375"/>
      </c:barChart>
      <c:catAx>
        <c:axId val="1840808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48759375"/>
        <c:crosses val="autoZero"/>
        <c:auto val="1"/>
        <c:lblAlgn val="ctr"/>
        <c:lblOffset val="100"/>
        <c:noMultiLvlLbl val="0"/>
      </c:catAx>
      <c:valAx>
        <c:axId val="18487593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40808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51828-0AAC-49A4-A1C4-1B27FFD8A8C0}" type="datetimeFigureOut">
              <a:rPr lang="zh-TW" altLang="en-US" smtClean="0"/>
              <a:t>2026/7/17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1FB4BC78-DDE0-51EC-5AA6-EC017AEF1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E81A4-5FAD-433B-8D66-3754F25ECE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628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54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6469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242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8946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7802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6F9E0-F42C-AC02-000C-7D8D82AD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5ABCA47-7CD2-5608-FA58-FAA59D3BB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ED830E4-F779-7E3C-D035-8F6469D11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617715-3AD4-8C9E-46E1-8A2B0850B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0645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07AA9-9509-499F-9B25-2AFC39FC9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7C1E4BD-5E95-0C0F-ADE8-44AFDF4C1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4CBABDC-682D-B194-7B31-C22A5597B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4C3BC0-0B70-1025-5221-B4C535385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951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91EF1-CA9F-D9A4-8686-AE9165537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89A8E06-9A4F-BF51-71FA-1CFA16BA0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BF643CE-9240-8E08-7811-57CE94CCF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86E007-3655-21D6-F54D-D40D689AA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1207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72FFF-EB9D-FE43-0AE4-FD40A7F3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D6E5921-073F-A1E7-997D-9EC89B994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4A2B4F4-C116-8ECB-8B9E-3661DBE13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D03C6E-96A5-18C6-CDF9-E798A5C9E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6756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4066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3786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827C0-E594-8E5A-EEE6-41B522627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A348125-36F2-8A65-5959-44CEEDF80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2D03985-0DA7-20F3-89F8-402884244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AFEEE9-488F-FEAF-448E-8E80AD777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8550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1F6F-8280-9ED7-CC02-6DF16505A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6E6AD62-30EF-E247-C924-B64B4A967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A48697D-D299-3B32-E3C6-AACF46A28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A9A955-6FE2-930A-FC2E-138961065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40899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5242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TW" altLang="zh-TW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好，現在我想介紹一個很重要的概念，叫做「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Compositional Condition Diffusion Models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」，簡稱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CCDM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。這是我論文工作的靈感來源。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問題的起點很簡單： 傳統的條件式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diffusion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模型，通常只能接受單一的標籤。比如說，你告訴模型「生成一隻狗」，就是一個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class label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。但真實世界的需求往往更複雜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——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我們想要「紅色的狗」、「在雪地裡的狗」、「從俯視角看的狗」，這些都不只是一個標籤，而是多個語義條件的組合。</a:t>
                </a:r>
              </a:p>
              <a:p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CCDM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的核心想法 就在解決這個問題。你看這張圖的結構：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左邊：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Pixel Space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這是傳統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diffusion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的部分。模型學習一個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forward diffusion process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，把清晰的影像 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_0</a:t>
                </a:r>
                <a:r>
                  <a:rPr lang="ar-AE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逐步加噪到 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</a:t>
                </a:r>
                <a:r>
                  <a:rPr lang="zh-TW" alt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；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然後在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reverse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時，用一個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denoising model 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𝜖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𝜃</a:t>
                </a:r>
                <a:r>
                  <a:rPr lang="ar-AE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來預測噪聲，慢慢還原影像。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右邊：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Condition Space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（這是新的部分）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這才是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CCDM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的創新所在。不是直接給模型一個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label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，而是：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把多個原始條件分開 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—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比如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"color"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、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"object"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、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"pose"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，每個都是一個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class label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組合它們 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—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透過一個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Compositional class encoder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，把這些分散的標籤合併成一個統一的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condition representation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endParaRPr lang="en-US" altLang="zh-TW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這個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就是最後丟給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denoising model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的條件</a:t>
                </a:r>
              </a:p>
              <a:p>
                <a:endParaRPr lang="en-US" altLang="zh-TW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下一頁我會介紹原本的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Diffusion Transformer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長什麼樣，之後再説明我怎樣把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CCDM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的「組合條件」概念引入進去，讓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Diffusion Transformer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不只能接受一個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endParaRPr lang="zh-TW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13284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步驟一：原始資料集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首先展示原始的資料集，可以看到資料分布明顯不均衡，某些類別（如綠色、橘色）樣本數較多，藍色則較少。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步驟二：計算類別權重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接下來為每個樣本分配權重。權重計算公式是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𝑤_𝑖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/𝑁_𝑐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，其中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𝑁_𝑐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是該類別的樣本數。例如橘色類別有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個樣本，所以每個橘色樣本分配 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；綠色有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個樣本，每個樣本分配 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8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步驟三：歸一化為抽樣機率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將權重加總後得到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，並將每個權重除以總和，讓所有樣本機率和為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。像是藍色的 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轉換為 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6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等。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步驟四：依機率隨機抽樣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最後，根據計算好的機率，執行隨機抽樣，讓每種顏色的類別更均勻地分布於抽樣後的資料集中。最終能有效提升模型對少數類別的學習效果，並減少資料不均衡帶來的偏差。</a:t>
                </a:r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876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γ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值的意義與取樣效果</a:t>
                </a:r>
              </a:p>
              <a:p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γ = 1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Balanced sampling</a:t>
                </a:r>
              </a:p>
              <a:p>
                <a:pPr lvl="1"/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這時每個類別的樣本權重是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𝑤_𝑖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/𝑁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，等同於全力補足稀有類別，效果最激進，適合嚴重不平衡的情境，但容易過度取樣而產生過擬合。</a:t>
                </a:r>
              </a:p>
              <a:p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 &lt; γ &lt; 1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Smoothed Balanced sampling</a:t>
                </a:r>
              </a:p>
              <a:p>
                <a:pPr lvl="1"/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權重公式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𝑤_𝑖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/𝑁^𝛾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γ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值介於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到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之間，代表對稀有類別適度提升權重，但程度較為溫和，有助於避免過擬合，同時維持類別的多樣性。</a:t>
                </a:r>
              </a:p>
              <a:p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γ = 0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Random sampling</a:t>
                </a:r>
              </a:p>
              <a:p>
                <a:pPr lvl="1"/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此時所有類別樣本權重相同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𝑤_𝑖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。不進行任何補償，是最一般的隨機取樣方法，無法解決不平衡問題，但也不會出現過度擬合。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最終實作流程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利用上述公式計算每個樣本的取樣權重。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取權重向量除以權重總和，得到最終每個樣本的取樣機率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𝑤𝑒𝑖𝑔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ℎ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𝑡𝑠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𝑤𝑒𝑖𝑔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ℎ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𝑡𝑠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.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𝑠𝑢𝑚(┤)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根據機率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進行隨機取樣，得到新的已平衡資料集。</a:t>
                </a:r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0983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演算法細節：三個主要步驟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第一步：初始化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—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計算權重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根據公式 </a:t>
                </a:r>
                <a:r>
                  <a:rPr lang="zh-TW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〖</a:t>
                </a:r>
                <a:r>
                  <a:rPr lang="en-US" altLang="zh-TW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r>
                  <a:rPr lang="en-US" altLang="zh-TW" b="0" i="0"/>
                  <a:t>weight</a:t>
                </a:r>
                <a:r>
                  <a:rPr lang="zh-TW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〗_</a:t>
                </a:r>
                <a:r>
                  <a:rPr lang="zh-TW" altLang="en-US" b="0" i="0"/>
                  <a:t>𝑖</a:t>
                </a:r>
                <a:r>
                  <a:rPr lang="en-US" altLang="zh-TW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TW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/(</a:t>
                </a:r>
                <a:r>
                  <a:rPr lang="en-US" altLang="zh-TW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"class\_counts</a:t>
                </a:r>
                <a:r>
                  <a:rPr lang="zh-TW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[𝑐] ├ </a:t>
                </a:r>
                <a:r>
                  <a:rPr lang="en-US" altLang="zh-TW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┤^𝛾 ┤ </a:t>
                </a:r>
                <a:endParaRPr lang="zh-TW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這邊的 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γ (gamma) 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是個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smoothing parameter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，很關鍵：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如果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𝛾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：完全反比於類別頻率，權重差異非常大。少數類別會被極度高估，可能造成訓練不穩定。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如果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𝛾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=0.5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到 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0.8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左右（推薦做法）：取平方根或其他冪次，這樣權重的差異被平滑化，不會讓少數類太過主導，也不會完全忽視。這是一個更溫和、更穩定的平衡。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然後把所有權重加總，做一個 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normalize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，變成一個合法的機率分佈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endParaRPr lang="en-US" altLang="zh-TW" dirty="0"/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第二步：生成索引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— Weighted Random Sampling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每個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epoch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，我們用這個概率分佈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去採樣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次（其中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是你整個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batch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大小或一個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epoch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的樣本數）：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這裡用 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seed = s + e 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的做法，是為了確保可復現性：同一個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epoch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在不同執行裡會得到相同的採樣順序，方便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debug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和對比實驗。</a:t>
                </a:r>
              </a:p>
              <a:p>
                <a:br>
                  <a:rPr lang="zh-TW" altLang="en-US" dirty="0"/>
                </a:b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第三步：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Shuffle (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可選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最後可以對這一個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epoch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的索引列表做一個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shuffle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，進一步打亂順序，讓訓練更隨機。</a:t>
                </a:r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2312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TW" altLang="zh-TW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Pixel Space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（像素空間）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首先，原始影像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會經過編碼器（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encoder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）轉換到低維潛在空間（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latent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），得到潛變量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𝑧_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endParaRPr lang="en-US" altLang="zh-TW" dirty="0"/>
              </a:p>
              <a:p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Latent Space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（低維潛在空間）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進入潛在空間後，模型進行前向擴散（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forward diffusion process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），逐步將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𝑧_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轉換到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𝑧_𝑇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。在反向生成過程中，模型也會導入噪聲、線性變換、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Layer Norm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等操作。這裡會將潛變量轉換為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token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，以便後續進入</a:t>
                </a:r>
                <a:r>
                  <a:rPr lang="en-US" altLang="zh-TW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DiT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Block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endParaRPr lang="en-US" altLang="zh-TW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altLang="zh-TW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Condition Space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（條件空間）</a:t>
                </a: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模型同時引入條件資訊：包含時間步（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）、兩個組成條件（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𝑐_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1,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𝑐_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）。這些條件分別經過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embedding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模組，轉換為向量後，一起送入</a:t>
                </a:r>
                <a:r>
                  <a:rPr lang="en-US" altLang="zh-TW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DiT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Block</a:t>
                </a:r>
              </a:p>
              <a:p>
                <a:endParaRPr lang="zh-TW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57941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DCC15-CB28-0F04-6081-7B06DD6DA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3289619-4148-BA0F-CF23-FCEBAAC9D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BA5C6661-5BC6-1361-12CA-2D77869C94E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TW" altLang="zh-TW" dirty="0"/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BA5C6661-5BC6-1361-12CA-2D77869C94E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(</a:t>
                </a:r>
                <a:r>
                  <a:rPr lang="zh-TW" altLang="en-US" dirty="0"/>
                  <a:t>這裡用了 </a:t>
                </a:r>
                <a:r>
                  <a:rPr lang="en-US" altLang="zh-TW" sz="1200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nn.Embedding</a:t>
                </a:r>
                <a:r>
                  <a:rPr lang="en-US" altLang="zh-TW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num_classes</a:t>
                </a:r>
                <a:r>
                  <a:rPr lang="en-US" altLang="zh-TW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+ </a:t>
                </a:r>
                <a:r>
                  <a:rPr lang="en-US" altLang="zh-TW" sz="1200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use_cfg_embedding</a:t>
                </a:r>
                <a:r>
                  <a:rPr lang="en-US" altLang="zh-TW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altLang="zh-TW" sz="1200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hidden_size</a:t>
                </a:r>
                <a:r>
                  <a:rPr lang="en-US" altLang="zh-TW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))</a:t>
                </a:r>
                <a:endParaRPr lang="en-US" altLang="zh-TW" dirty="0"/>
              </a:p>
              <a:p>
                <a:r>
                  <a:rPr lang="zh-TW" altLang="en-US" dirty="0"/>
                  <a:t>輸入的 </a:t>
                </a:r>
                <a:r>
                  <a:rPr lang="en-US" altLang="zh-TW" dirty="0"/>
                  <a:t>Condition</a:t>
                </a:r>
                <a:r>
                  <a:rPr lang="zh-TW" altLang="en-US" dirty="0"/>
                  <a:t>是 </a:t>
                </a:r>
                <a:r>
                  <a:rPr lang="zh-TW" altLang="en-US" b="1" dirty="0"/>
                  <a:t>整數索引 </a:t>
                </a:r>
                <a:r>
                  <a:rPr lang="en-US" altLang="zh-TW" b="1" dirty="0"/>
                  <a:t>(class id)</a:t>
                </a:r>
                <a:r>
                  <a:rPr lang="zh-TW" altLang="en-US" dirty="0"/>
                  <a:t>，直接丟進 </a:t>
                </a:r>
                <a:r>
                  <a:rPr lang="en-US" altLang="zh-TW" sz="1200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embedding_table</a:t>
                </a:r>
                <a:r>
                  <a:rPr lang="en-US" altLang="zh-TW" dirty="0"/>
                  <a:t> </a:t>
                </a:r>
                <a:r>
                  <a:rPr lang="zh-TW" altLang="en-US" dirty="0"/>
                  <a:t>就會拿到對應的向量</a:t>
                </a:r>
                <a:br>
                  <a:rPr lang="en-US" altLang="zh-TW" dirty="0"/>
                </a:b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支援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classifier-free guidance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，即機率性把標籤拋棄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(drop out)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，使模型學會「不帶條件也能生成」</a:t>
                </a:r>
                <a:endParaRPr lang="en-US" altLang="zh-TW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altLang="zh-TW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「這個 </a:t>
                </a:r>
                <a:r>
                  <a:rPr lang="en-US" altLang="zh-TW" sz="1200" b="0" i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LabelEmbedder</a:t>
                </a:r>
                <a:r>
                  <a:rPr lang="en-US" altLang="zh-TW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有一個 </a:t>
                </a:r>
                <a:r>
                  <a:rPr lang="en-US" altLang="zh-TW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embedding table</a:t>
                </a:r>
                <a:r>
                  <a:rPr lang="zh-TW" alt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，大小是 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(𝐾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+1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×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𝑑</a:t>
                </a:r>
                <a:r>
                  <a:rPr lang="zh-TW" alt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，其中前 </a:t>
                </a:r>
                <a:r>
                  <a:rPr lang="en-US" altLang="zh-TW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 </a:t>
                </a:r>
                <a:r>
                  <a:rPr lang="zh-TW" alt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行對應真正的類別（</a:t>
                </a:r>
                <a:r>
                  <a:rPr lang="en-US" altLang="zh-TW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 </a:t>
                </a:r>
                <a:r>
                  <a:rPr lang="zh-TW" alt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到 </a:t>
                </a:r>
                <a:r>
                  <a:rPr lang="en-US" altLang="zh-TW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K-1</a:t>
                </a:r>
                <a:r>
                  <a:rPr lang="zh-TW" alt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），第 </a:t>
                </a:r>
                <a:r>
                  <a:rPr lang="en-US" altLang="zh-TW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K+1 </a:t>
                </a:r>
                <a:r>
                  <a:rPr lang="zh-TW" alt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行是專門留給無條件狀態用的。在訓練時，如果觸發了 </a:t>
                </a:r>
                <a:r>
                  <a:rPr lang="en-US" altLang="zh-TW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CFG dropout</a:t>
                </a:r>
                <a:r>
                  <a:rPr lang="zh-TW" alt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，我們就把原本的 </a:t>
                </a:r>
                <a:r>
                  <a:rPr lang="en-US" altLang="zh-TW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class id </a:t>
                </a:r>
                <a:r>
                  <a:rPr lang="zh-TW" alt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換成 </a:t>
                </a:r>
                <a:r>
                  <a:rPr lang="en-US" altLang="zh-TW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</a:t>
                </a:r>
                <a:r>
                  <a:rPr lang="zh-TW" alt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，查表拿到</a:t>
                </a:r>
                <a:r>
                  <a:rPr lang="en-US" altLang="zh-TW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『</a:t>
                </a:r>
                <a:r>
                  <a:rPr lang="zh-TW" alt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無條件 </a:t>
                </a:r>
                <a:r>
                  <a:rPr lang="en-US" altLang="zh-TW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embedding』</a:t>
                </a:r>
                <a:r>
                  <a:rPr lang="zh-TW" alt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；否則就查對應的類別 </a:t>
                </a:r>
                <a:r>
                  <a:rPr lang="en-US" altLang="zh-TW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embedding</a:t>
                </a:r>
                <a:r>
                  <a:rPr lang="zh-TW" alt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。推論時就能用這兩個 </a:t>
                </a:r>
                <a:r>
                  <a:rPr lang="en-US" altLang="zh-TW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embedding </a:t>
                </a:r>
                <a:r>
                  <a:rPr lang="zh-TW" alt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的組合來調節條件強度。」</a:t>
                </a:r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1CB1F3-080A-9AFA-24A5-C060B6D68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5982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C9A3F-1BEB-58C3-1FD8-634AAD00A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B5D2302-5933-CDB0-A37C-8D5161C3B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01B3445D-9331-29D7-3839-800708539D1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01B3445D-9331-29D7-3839-800708539D1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b="1" dirty="0"/>
                  <a:t>1. Class Embedding (</a:t>
                </a:r>
                <a:r>
                  <a:rPr lang="zh-TW" altLang="en-US" b="1" dirty="0"/>
                  <a:t>條件向量</a:t>
                </a:r>
                <a:r>
                  <a:rPr lang="en-US" altLang="zh-TW" b="1" dirty="0"/>
                  <a:t>)</a:t>
                </a:r>
              </a:p>
              <a:p>
                <a:r>
                  <a:rPr lang="en-US" altLang="zh-TW" b="1" dirty="0"/>
                  <a:t>Class-Attribute Embedding C1</a:t>
                </a:r>
                <a:r>
                  <a:rPr lang="zh-TW" altLang="en-US" dirty="0"/>
                  <a:t>：例如「顏色 </a:t>
                </a:r>
                <a:r>
                  <a:rPr lang="en-US" altLang="zh-TW" dirty="0"/>
                  <a:t>= </a:t>
                </a:r>
                <a:r>
                  <a:rPr lang="zh-TW" altLang="en-US" dirty="0"/>
                  <a:t>紅色」的 </a:t>
                </a:r>
                <a:r>
                  <a:rPr lang="en-US" altLang="zh-TW" dirty="0"/>
                  <a:t>embedding</a:t>
                </a:r>
                <a:r>
                  <a:rPr lang="zh-TW" altLang="en-US" dirty="0"/>
                  <a:t>。</a:t>
                </a:r>
              </a:p>
              <a:p>
                <a:r>
                  <a:rPr lang="en-US" altLang="zh-TW" b="1" dirty="0"/>
                  <a:t>Class-Object Embedding C2</a:t>
                </a:r>
                <a:r>
                  <a:rPr lang="zh-TW" altLang="en-US" dirty="0"/>
                  <a:t>：例如「物件 </a:t>
                </a:r>
                <a:r>
                  <a:rPr lang="en-US" altLang="zh-TW" dirty="0"/>
                  <a:t>= </a:t>
                </a:r>
                <a:r>
                  <a:rPr lang="zh-TW" altLang="en-US" dirty="0"/>
                  <a:t>狗」的 </a:t>
                </a:r>
                <a:r>
                  <a:rPr lang="en-US" altLang="zh-TW" dirty="0"/>
                  <a:t>embedding</a:t>
                </a:r>
                <a:r>
                  <a:rPr lang="zh-TW" altLang="en-US" dirty="0"/>
                  <a:t>。</a:t>
                </a:r>
              </a:p>
              <a:p>
                <a:r>
                  <a:rPr lang="zh-TW" altLang="en-US" dirty="0"/>
                  <a:t>這些 </a:t>
                </a:r>
                <a:r>
                  <a:rPr lang="en-US" altLang="zh-TW" dirty="0"/>
                  <a:t>embedding </a:t>
                </a:r>
                <a:r>
                  <a:rPr lang="zh-TW" altLang="en-US" dirty="0"/>
                  <a:t>通常是由 </a:t>
                </a:r>
                <a:r>
                  <a:rPr lang="en-US" altLang="zh-TW" b="1" dirty="0"/>
                  <a:t>embedding table </a:t>
                </a:r>
                <a:r>
                  <a:rPr lang="zh-TW" altLang="en-US" b="1" dirty="0"/>
                  <a:t>查表得到</a:t>
                </a:r>
                <a:r>
                  <a:rPr lang="zh-TW" altLang="en-US" dirty="0"/>
                  <a:t>的固定維度向量。</a:t>
                </a:r>
              </a:p>
              <a:p>
                <a:endParaRPr lang="zh-TW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altLang="zh-TW" b="1" dirty="0"/>
                  <a:t>2. Concatenation (</a:t>
                </a:r>
                <a:r>
                  <a:rPr lang="zh-TW" altLang="en-US" b="1" dirty="0"/>
                  <a:t>拼接</a:t>
                </a:r>
                <a:r>
                  <a:rPr lang="en-US" altLang="zh-TW" b="1" dirty="0"/>
                  <a:t>)</a:t>
                </a:r>
              </a:p>
              <a:p>
                <a:r>
                  <a:rPr lang="zh-TW" altLang="en-US" dirty="0"/>
                  <a:t>把 </a:t>
                </a:r>
                <a:r>
                  <a:rPr lang="en-US" altLang="zh-TW" dirty="0"/>
                  <a:t>C1 </a:t>
                </a:r>
                <a:r>
                  <a:rPr lang="zh-TW" altLang="en-US" dirty="0"/>
                  <a:t>和 </a:t>
                </a:r>
                <a:r>
                  <a:rPr lang="en-US" altLang="zh-TW" dirty="0"/>
                  <a:t>C2 </a:t>
                </a:r>
                <a:r>
                  <a:rPr lang="zh-TW" altLang="en-US" b="1" dirty="0"/>
                  <a:t>串接 </a:t>
                </a:r>
                <a:r>
                  <a:rPr lang="en-US" altLang="zh-TW" b="1" dirty="0"/>
                  <a:t>(concatenate)</a:t>
                </a:r>
                <a:r>
                  <a:rPr lang="en-US" altLang="zh-TW" dirty="0"/>
                  <a:t> </a:t>
                </a:r>
                <a:r>
                  <a:rPr lang="zh-TW" altLang="en-US" dirty="0"/>
                  <a:t>在一起，形成一個更長的條件向量：</a:t>
                </a:r>
                <a:endParaRPr lang="ar-AE" altLang="zh-TW" dirty="0"/>
              </a:p>
              <a:p>
                <a:r>
                  <a:rPr lang="zh-TW" altLang="en-US" dirty="0"/>
                  <a:t>這樣做可以同時保留「屬性」和「物件」的資訊。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b="1" dirty="0"/>
                  <a:t>3. MLP </a:t>
                </a:r>
                <a:r>
                  <a:rPr lang="zh-TW" altLang="en-US" b="1" dirty="0"/>
                  <a:t>投影</a:t>
                </a:r>
              </a:p>
              <a:p>
                <a:r>
                  <a:rPr lang="zh-TW" altLang="en-US" dirty="0"/>
                  <a:t>拼接後的向量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zh-TW" altLang="en-US" dirty="0"/>
                  <a:t>維度可能與模型需要的不一致。</a:t>
                </a:r>
              </a:p>
              <a:p>
                <a:r>
                  <a:rPr lang="zh-TW" altLang="en-US" dirty="0"/>
                  <a:t>經過 </a:t>
                </a:r>
                <a:r>
                  <a:rPr lang="en-US" altLang="zh-TW" b="1" dirty="0"/>
                  <a:t>MLP (</a:t>
                </a:r>
                <a:r>
                  <a:rPr lang="zh-TW" altLang="en-US" b="1" dirty="0"/>
                  <a:t>多層感知器</a:t>
                </a:r>
                <a:r>
                  <a:rPr lang="en-US" altLang="zh-TW" b="1" dirty="0"/>
                  <a:t>)</a:t>
                </a:r>
                <a:r>
                  <a:rPr lang="zh-TW" altLang="en-US" dirty="0"/>
                  <a:t> 投影，得到一個隱藏向量 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ℎ</a:t>
                </a:r>
                <a:r>
                  <a:rPr lang="zh-TW" altLang="en-US" dirty="0"/>
                  <a:t>，對齊到與 </a:t>
                </a:r>
                <a:r>
                  <a:rPr lang="en-US" altLang="zh-TW" b="1" dirty="0"/>
                  <a:t>Timestep embedding</a:t>
                </a:r>
                <a:r>
                  <a:rPr lang="zh-TW" altLang="en-US" dirty="0"/>
                  <a:t> 相同的維度：</a:t>
                </a:r>
              </a:p>
              <a:p>
                <a:endParaRPr lang="en-US" altLang="zh-TW" dirty="0"/>
              </a:p>
              <a:p>
                <a:r>
                  <a:rPr lang="en-US" altLang="zh-TW" b="1" dirty="0"/>
                  <a:t>4. Timestep Embedding</a:t>
                </a:r>
              </a:p>
              <a:p>
                <a:r>
                  <a:rPr lang="en-US" altLang="zh-TW" dirty="0"/>
                  <a:t>Diffusion </a:t>
                </a:r>
                <a:r>
                  <a:rPr lang="zh-TW" altLang="en-US" dirty="0"/>
                  <a:t>模型需要知道「目前在哪個噪聲時間步 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」。</a:t>
                </a:r>
              </a:p>
              <a:p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zh-TW" altLang="en-US" dirty="0"/>
                  <a:t>會被嵌入成一個向量 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zh-TW" altLang="ar-AE" dirty="0"/>
                  <a:t>，</a:t>
                </a:r>
                <a:r>
                  <a:rPr lang="zh-TW" altLang="en-US" dirty="0"/>
                  <a:t>代表當前 </a:t>
                </a:r>
                <a:r>
                  <a:rPr lang="en-US" altLang="zh-TW" dirty="0"/>
                  <a:t>step </a:t>
                </a:r>
                <a:r>
                  <a:rPr lang="zh-TW" altLang="en-US" dirty="0"/>
                  <a:t>的訊息。</a:t>
                </a:r>
                <a:endParaRPr lang="en-US" altLang="zh-TW" dirty="0"/>
              </a:p>
              <a:p>
                <a:pPr lvl="1"/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先用類似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Transformer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位置編碼的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sinusoidal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（正弦餘弦）嵌入把每個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變成一個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frequency embedding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（如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256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維）。</a:t>
                </a:r>
              </a:p>
              <a:p>
                <a:pPr lvl="1"/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將這個頻率嵌入結果送進一個小型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MLP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，進一步轉成和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Transformer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主架構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hidden size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（如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1152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維）一樣長的向量。</a:t>
                </a:r>
              </a:p>
              <a:p>
                <a:pPr lvl="1"/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得到每個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batch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樣本的「時間步向量」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TW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t_emb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endParaRPr lang="zh-TW" altLang="en-US" dirty="0"/>
              </a:p>
              <a:p>
                <a:r>
                  <a:rPr lang="en-US" altLang="zh-TW" b="1" dirty="0"/>
                  <a:t>5. Element-wise Addition (</a:t>
                </a:r>
                <a:r>
                  <a:rPr lang="zh-TW" altLang="en-US" b="1" dirty="0"/>
                  <a:t>逐元素相加</a:t>
                </a:r>
                <a:r>
                  <a:rPr lang="en-US" altLang="zh-TW" b="1" dirty="0"/>
                  <a:t>)</a:t>
                </a:r>
              </a:p>
              <a:p>
                <a:r>
                  <a:rPr lang="zh-TW" altLang="en-US" dirty="0"/>
                  <a:t>把 </a:t>
                </a:r>
                <a:r>
                  <a:rPr lang="en-US" altLang="zh-TW" b="1" dirty="0"/>
                  <a:t>MLP </a:t>
                </a:r>
                <a:r>
                  <a:rPr lang="zh-TW" altLang="en-US" b="1" dirty="0"/>
                  <a:t>輸出的條件向量 </a:t>
                </a:r>
                <a:r>
                  <a:rPr lang="en-US" altLang="zh-TW" b="1" dirty="0"/>
                  <a:t>h</a:t>
                </a:r>
                <a:r>
                  <a:rPr lang="en-US" altLang="zh-TW" dirty="0"/>
                  <a:t> </a:t>
                </a:r>
                <a:r>
                  <a:rPr lang="zh-TW" altLang="en-US" dirty="0"/>
                  <a:t>和 </a:t>
                </a:r>
                <a:r>
                  <a:rPr lang="en-US" altLang="zh-TW" b="1" dirty="0"/>
                  <a:t>timestep embedding 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zh-TW" altLang="en-US" dirty="0"/>
                  <a:t>相加：</a:t>
                </a:r>
              </a:p>
              <a:p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ℎ^′=ℎ+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TW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endParaRPr lang="ar-AE" altLang="zh-TW" dirty="0"/>
              </a:p>
              <a:p>
                <a:r>
                  <a:rPr lang="zh-TW" altLang="en-US" dirty="0"/>
                  <a:t>這樣可以讓條件訊息和時間訊息一起影響生成過程。</a:t>
                </a:r>
              </a:p>
              <a:p>
                <a:endParaRPr lang="zh-TW" altLang="en-US" dirty="0"/>
              </a:p>
              <a:p>
                <a:r>
                  <a:rPr lang="en-US" altLang="zh-TW" b="1" dirty="0"/>
                  <a:t>6. </a:t>
                </a:r>
                <a:r>
                  <a:rPr lang="zh-TW" altLang="en-US" b="1" dirty="0"/>
                  <a:t>送進 </a:t>
                </a:r>
                <a:r>
                  <a:rPr lang="en-US" altLang="zh-TW" b="1" dirty="0" err="1"/>
                  <a:t>DiT</a:t>
                </a:r>
                <a:r>
                  <a:rPr lang="en-US" altLang="zh-TW" b="1" dirty="0"/>
                  <a:t> block</a:t>
                </a:r>
              </a:p>
              <a:p>
                <a:r>
                  <a:rPr lang="zh-TW" altLang="en-US" dirty="0"/>
                  <a:t>最後，融合後的向量 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ℎ^′</a:t>
                </a:r>
                <a:r>
                  <a:rPr lang="zh-TW" altLang="en-US" dirty="0"/>
                  <a:t>被輸入到 </a:t>
                </a:r>
                <a:r>
                  <a:rPr lang="en-US" altLang="zh-TW" b="1" dirty="0"/>
                  <a:t>Diffusion Transformer block (</a:t>
                </a:r>
                <a:r>
                  <a:rPr lang="en-US" altLang="zh-TW" b="1" dirty="0" err="1"/>
                  <a:t>DiT</a:t>
                </a:r>
                <a:r>
                  <a:rPr lang="en-US" altLang="zh-TW" b="1" dirty="0"/>
                  <a:t> block)</a:t>
                </a:r>
                <a:r>
                  <a:rPr lang="zh-TW" altLang="en-US" dirty="0"/>
                  <a:t>。</a:t>
                </a:r>
              </a:p>
              <a:p>
                <a:r>
                  <a:rPr lang="en-US" altLang="zh-TW" dirty="0" err="1"/>
                  <a:t>DiT</a:t>
                </a:r>
                <a:r>
                  <a:rPr lang="en-US" altLang="zh-TW" dirty="0"/>
                  <a:t> block </a:t>
                </a:r>
                <a:r>
                  <a:rPr lang="zh-TW" altLang="en-US" dirty="0"/>
                  <a:t>就會同時考慮 </a:t>
                </a:r>
                <a:r>
                  <a:rPr lang="zh-TW" altLang="en-US" b="1" dirty="0"/>
                  <a:t>物件條件、屬性條件、時間步</a:t>
                </a:r>
                <a:r>
                  <a:rPr lang="zh-TW" altLang="en-US" dirty="0"/>
                  <a:t>，在生成過程中控制圖像內容。</a:t>
                </a:r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C92217-1B8F-C18B-1183-DFD22FE08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8979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0242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7999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09718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FF477-3C29-5F87-8E0D-C72FC19AD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0084C6B-3DAA-96F8-A160-E286324B6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8BC764-879A-1731-B62D-19F78530C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72E4EB-E7D4-2C14-DFC4-575B771F7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81345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30599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74345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91225-5D52-B0FA-A08D-230E066D8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0EEEB79-778C-3602-EFEB-DC7D078C2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9A4592-6385-9D2E-18A4-568B4139D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732A7F-3458-0161-1FFF-4CB6405E2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31179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8191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TW" altLang="zh-TW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從這張 </a:t>
                </a:r>
                <a:r>
                  <a:rPr lang="en-US" altLang="zh-TW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t-SNE </a:t>
                </a:r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圖可以看到，橘色的點（</a:t>
                </a:r>
                <a:endParaRPr lang="zh-TW" altLang="en-US" dirty="0"/>
              </a:p>
              <a:p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𝛾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=0</a:t>
                </a:r>
                <a:endParaRPr lang="zh-TW" alt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）明顯集中在特定的幾個區域，代表模型生成的圖片特徵比較單一。而隨著我們增加 </a:t>
                </a:r>
                <a:endParaRPr lang="zh-TW" altLang="en-US" dirty="0"/>
              </a:p>
              <a:p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𝛾</a:t>
                </a:r>
                <a:endParaRPr lang="zh-TW" alt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值，可以看到綠色的點（</a:t>
                </a:r>
                <a:endParaRPr lang="zh-TW" altLang="en-US" dirty="0"/>
              </a:p>
              <a:p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𝛾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endParaRPr lang="zh-TW" alt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）填滿了更多的空間，分布更為廣泛，這證明了我們的平衡採樣策略確實提升了生成結果的多樣性</a:t>
                </a:r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3568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46086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E81A4-5FAD-433B-8D66-3754F25ECE25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6117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890463-3B27-4033-B2C2-4B19092702B8}" type="datetime1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5BE2B-728A-4539-B86A-F2CEE53DE51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84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3E8EB-7505-45D5-8A11-9124006565F8}" type="datetime1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58769B-FD91-4354-84DF-C542D236D27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15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906333-B8EA-41F1-8CDB-EEB8DBB24EC7}" type="datetime1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02487E-DA75-40AD-AFB9-B7E66780091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60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4DD05-AF6E-4EE3-A3C2-7FD58AEA5CA5}" type="datetime1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019AB3-A56A-40DC-B315-4C9AF1D9AEF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995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4F6BA-4DAA-482C-BCC9-5B2BD78F71B1}" type="datetime1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19823B-989B-4FE0-A31C-A45838B716C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45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BFD9F-38A2-40DC-8ABB-9539111ED3B7}" type="datetime1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7C2566-FD93-41C5-8007-9C6D9D8DF86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86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D644E-F24A-4807-8C55-4562597B1F7A}" type="datetime1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64219" y="6492875"/>
            <a:ext cx="2743200" cy="365125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fld id="{9D55DC8D-C4F0-4F0D-B826-92573808DA56}" type="slidenum">
              <a:rPr lang="zh-CN" altLang="en-US" smtClean="0"/>
              <a:pPr/>
              <a:t>‹#›</a:t>
            </a:fld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533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D71BF-5F7E-4B2F-A377-E10A9674DB9D}" type="datetime1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B07F97-2FC2-4714-850C-6700199D619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34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C9CFA-7CAE-43D7-A5E6-DD70D0021742}" type="datetime1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D9D1E1-5454-45C3-93DA-86C3DA9ECB4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593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2CB773-2E18-404A-B527-3E01327756BF}" type="datetime1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DF9EC1-C088-4DAC-AB69-D10F40584BD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893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C853F-955F-45F8-8E36-D66421137D08}" type="datetime1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0597D9-2D04-4C83-915B-79D3B5D496F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282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F07541F-AF5B-4A78-A9B2-87E6F2284654}" type="datetime1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DA430D88-0AE5-4EDA-BDD3-1B97B5FCD56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17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jp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3" Type="http://schemas.openxmlformats.org/officeDocument/2006/relationships/image" Target="../media/image470.png"/><Relationship Id="rId7" Type="http://schemas.openxmlformats.org/officeDocument/2006/relationships/image" Target="../media/image5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0.png"/><Relationship Id="rId4" Type="http://schemas.openxmlformats.org/officeDocument/2006/relationships/image" Target="../media/image480.png"/><Relationship Id="rId9" Type="http://schemas.openxmlformats.org/officeDocument/2006/relationships/image" Target="../media/image8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220.png"/><Relationship Id="rId18" Type="http://schemas.openxmlformats.org/officeDocument/2006/relationships/image" Target="../media/image270.png"/><Relationship Id="rId26" Type="http://schemas.openxmlformats.org/officeDocument/2006/relationships/image" Target="../media/image370.png"/><Relationship Id="rId3" Type="http://schemas.openxmlformats.org/officeDocument/2006/relationships/image" Target="../media/image101.png"/><Relationship Id="rId21" Type="http://schemas.openxmlformats.org/officeDocument/2006/relationships/image" Target="../media/image310.png"/><Relationship Id="rId7" Type="http://schemas.openxmlformats.org/officeDocument/2006/relationships/image" Target="../media/image140.png"/><Relationship Id="rId12" Type="http://schemas.openxmlformats.org/officeDocument/2006/relationships/image" Target="../media/image190.png"/><Relationship Id="rId17" Type="http://schemas.openxmlformats.org/officeDocument/2006/relationships/image" Target="../media/image260.png"/><Relationship Id="rId25" Type="http://schemas.openxmlformats.org/officeDocument/2006/relationships/image" Target="../media/image350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50.png"/><Relationship Id="rId20" Type="http://schemas.openxmlformats.org/officeDocument/2006/relationships/image" Target="../media/image290.png"/><Relationship Id="rId29" Type="http://schemas.openxmlformats.org/officeDocument/2006/relationships/image" Target="../media/image410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80.png"/><Relationship Id="rId24" Type="http://schemas.openxmlformats.org/officeDocument/2006/relationships/image" Target="../media/image340.png"/><Relationship Id="rId32" Type="http://schemas.openxmlformats.org/officeDocument/2006/relationships/image" Target="../media/image44.png"/><Relationship Id="rId5" Type="http://schemas.openxmlformats.org/officeDocument/2006/relationships/image" Target="../media/image120.png"/><Relationship Id="rId15" Type="http://schemas.openxmlformats.org/officeDocument/2006/relationships/image" Target="../media/image240.png"/><Relationship Id="rId23" Type="http://schemas.openxmlformats.org/officeDocument/2006/relationships/image" Target="../media/image330.png"/><Relationship Id="rId28" Type="http://schemas.openxmlformats.org/officeDocument/2006/relationships/image" Target="../media/image390.png"/><Relationship Id="rId10" Type="http://schemas.openxmlformats.org/officeDocument/2006/relationships/image" Target="../media/image170.png"/><Relationship Id="rId19" Type="http://schemas.openxmlformats.org/officeDocument/2006/relationships/image" Target="../media/image280.png"/><Relationship Id="rId31" Type="http://schemas.openxmlformats.org/officeDocument/2006/relationships/image" Target="../media/image430.png"/><Relationship Id="rId4" Type="http://schemas.openxmlformats.org/officeDocument/2006/relationships/image" Target="../media/image110.png"/><Relationship Id="rId9" Type="http://schemas.openxmlformats.org/officeDocument/2006/relationships/image" Target="../media/image160.png"/><Relationship Id="rId14" Type="http://schemas.openxmlformats.org/officeDocument/2006/relationships/image" Target="../media/image230.png"/><Relationship Id="rId22" Type="http://schemas.openxmlformats.org/officeDocument/2006/relationships/image" Target="../media/image320.png"/><Relationship Id="rId27" Type="http://schemas.openxmlformats.org/officeDocument/2006/relationships/image" Target="../media/image380.png"/><Relationship Id="rId30" Type="http://schemas.openxmlformats.org/officeDocument/2006/relationships/image" Target="../media/image4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7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700.png"/><Relationship Id="rId3" Type="http://schemas.openxmlformats.org/officeDocument/2006/relationships/image" Target="../media/image100.png"/><Relationship Id="rId12" Type="http://schemas.openxmlformats.org/officeDocument/2006/relationships/image" Target="../media/image6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0.png"/><Relationship Id="rId11" Type="http://schemas.openxmlformats.org/officeDocument/2006/relationships/image" Target="../media/image500.png"/><Relationship Id="rId5" Type="http://schemas.openxmlformats.org/officeDocument/2006/relationships/image" Target="../media/image300.png"/><Relationship Id="rId10" Type="http://schemas.openxmlformats.org/officeDocument/2006/relationships/image" Target="../media/image411.png"/><Relationship Id="rId4" Type="http://schemas.openxmlformats.org/officeDocument/2006/relationships/image" Target="../media/image211.png"/><Relationship Id="rId9" Type="http://schemas.openxmlformats.org/officeDocument/2006/relationships/image" Target="../media/image360.png"/><Relationship Id="rId14" Type="http://schemas.openxmlformats.org/officeDocument/2006/relationships/image" Target="../media/image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48.jpg"/><Relationship Id="rId7" Type="http://schemas.openxmlformats.org/officeDocument/2006/relationships/image" Target="../media/image6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1.png"/><Relationship Id="rId5" Type="http://schemas.openxmlformats.org/officeDocument/2006/relationships/image" Target="../media/image491.png"/><Relationship Id="rId10" Type="http://schemas.openxmlformats.org/officeDocument/2006/relationships/image" Target="../media/image90.png"/><Relationship Id="rId4" Type="http://schemas.openxmlformats.org/officeDocument/2006/relationships/image" Target="../media/image49.jpg"/><Relationship Id="rId9" Type="http://schemas.openxmlformats.org/officeDocument/2006/relationships/image" Target="../media/image8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jp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8.jpg"/><Relationship Id="rId5" Type="http://schemas.openxmlformats.org/officeDocument/2006/relationships/image" Target="../media/image52.png"/><Relationship Id="rId15" Type="http://schemas.openxmlformats.org/officeDocument/2006/relationships/image" Target="../media/image62.jpg"/><Relationship Id="rId10" Type="http://schemas.openxmlformats.org/officeDocument/2006/relationships/image" Target="../media/image57.jp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jp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jpg"/><Relationship Id="rId3" Type="http://schemas.openxmlformats.org/officeDocument/2006/relationships/image" Target="../media/image57.jpg"/><Relationship Id="rId7" Type="http://schemas.openxmlformats.org/officeDocument/2006/relationships/image" Target="../media/image6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jpg"/><Relationship Id="rId5" Type="http://schemas.openxmlformats.org/officeDocument/2006/relationships/image" Target="../media/image59.jpg"/><Relationship Id="rId4" Type="http://schemas.openxmlformats.org/officeDocument/2006/relationships/image" Target="../media/image58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g"/><Relationship Id="rId13" Type="http://schemas.openxmlformats.org/officeDocument/2006/relationships/image" Target="../media/image73.jpeg"/><Relationship Id="rId18" Type="http://schemas.openxmlformats.org/officeDocument/2006/relationships/image" Target="../media/image78.jpeg"/><Relationship Id="rId3" Type="http://schemas.openxmlformats.org/officeDocument/2006/relationships/image" Target="../media/image63.jpg"/><Relationship Id="rId21" Type="http://schemas.openxmlformats.org/officeDocument/2006/relationships/image" Target="../media/image81.jpeg"/><Relationship Id="rId7" Type="http://schemas.openxmlformats.org/officeDocument/2006/relationships/image" Target="../media/image67.jpg"/><Relationship Id="rId12" Type="http://schemas.openxmlformats.org/officeDocument/2006/relationships/image" Target="../media/image72.jpeg"/><Relationship Id="rId17" Type="http://schemas.openxmlformats.org/officeDocument/2006/relationships/image" Target="../media/image77.jpe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76.jpeg"/><Relationship Id="rId20" Type="http://schemas.openxmlformats.org/officeDocument/2006/relationships/image" Target="../media/image8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jpg"/><Relationship Id="rId11" Type="http://schemas.openxmlformats.org/officeDocument/2006/relationships/image" Target="../media/image71.jpg"/><Relationship Id="rId5" Type="http://schemas.openxmlformats.org/officeDocument/2006/relationships/image" Target="../media/image65.jpg"/><Relationship Id="rId15" Type="http://schemas.openxmlformats.org/officeDocument/2006/relationships/image" Target="../media/image75.jpeg"/><Relationship Id="rId23" Type="http://schemas.openxmlformats.org/officeDocument/2006/relationships/image" Target="../media/image83.jpeg"/><Relationship Id="rId10" Type="http://schemas.openxmlformats.org/officeDocument/2006/relationships/image" Target="../media/image70.jpg"/><Relationship Id="rId19" Type="http://schemas.openxmlformats.org/officeDocument/2006/relationships/image" Target="../media/image79.jpeg"/><Relationship Id="rId4" Type="http://schemas.openxmlformats.org/officeDocument/2006/relationships/image" Target="../media/image64.jpg"/><Relationship Id="rId9" Type="http://schemas.openxmlformats.org/officeDocument/2006/relationships/image" Target="../media/image69.jpg"/><Relationship Id="rId14" Type="http://schemas.openxmlformats.org/officeDocument/2006/relationships/image" Target="../media/image74.jpeg"/><Relationship Id="rId22" Type="http://schemas.openxmlformats.org/officeDocument/2006/relationships/image" Target="../media/image8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eg"/><Relationship Id="rId13" Type="http://schemas.openxmlformats.org/officeDocument/2006/relationships/image" Target="../media/image98.jpeg"/><Relationship Id="rId18" Type="http://schemas.openxmlformats.org/officeDocument/2006/relationships/image" Target="../media/image103.jpeg"/><Relationship Id="rId26" Type="http://schemas.openxmlformats.org/officeDocument/2006/relationships/image" Target="../media/image111.jpeg"/><Relationship Id="rId3" Type="http://schemas.openxmlformats.org/officeDocument/2006/relationships/image" Target="../media/image88.jpeg"/><Relationship Id="rId21" Type="http://schemas.openxmlformats.org/officeDocument/2006/relationships/image" Target="../media/image106.jpeg"/><Relationship Id="rId7" Type="http://schemas.openxmlformats.org/officeDocument/2006/relationships/image" Target="../media/image92.jpeg"/><Relationship Id="rId12" Type="http://schemas.openxmlformats.org/officeDocument/2006/relationships/image" Target="../media/image97.jpeg"/><Relationship Id="rId17" Type="http://schemas.openxmlformats.org/officeDocument/2006/relationships/image" Target="../media/image102.jpeg"/><Relationship Id="rId25" Type="http://schemas.openxmlformats.org/officeDocument/2006/relationships/image" Target="../media/image110.jpe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01.jpeg"/><Relationship Id="rId20" Type="http://schemas.openxmlformats.org/officeDocument/2006/relationships/image" Target="../media/image10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jpeg"/><Relationship Id="rId11" Type="http://schemas.openxmlformats.org/officeDocument/2006/relationships/image" Target="../media/image96.jpeg"/><Relationship Id="rId24" Type="http://schemas.openxmlformats.org/officeDocument/2006/relationships/image" Target="../media/image109.jpeg"/><Relationship Id="rId5" Type="http://schemas.openxmlformats.org/officeDocument/2006/relationships/image" Target="../media/image90.jpeg"/><Relationship Id="rId15" Type="http://schemas.openxmlformats.org/officeDocument/2006/relationships/image" Target="../media/image100.jpeg"/><Relationship Id="rId23" Type="http://schemas.openxmlformats.org/officeDocument/2006/relationships/image" Target="../media/image108.jpeg"/><Relationship Id="rId10" Type="http://schemas.openxmlformats.org/officeDocument/2006/relationships/image" Target="../media/image95.jpeg"/><Relationship Id="rId19" Type="http://schemas.openxmlformats.org/officeDocument/2006/relationships/image" Target="../media/image104.jpeg"/><Relationship Id="rId4" Type="http://schemas.openxmlformats.org/officeDocument/2006/relationships/image" Target="../media/image89.jpeg"/><Relationship Id="rId9" Type="http://schemas.openxmlformats.org/officeDocument/2006/relationships/image" Target="../media/image94.jpeg"/><Relationship Id="rId14" Type="http://schemas.openxmlformats.org/officeDocument/2006/relationships/image" Target="../media/image99.jpeg"/><Relationship Id="rId22" Type="http://schemas.openxmlformats.org/officeDocument/2006/relationships/image" Target="../media/image107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7" Type="http://schemas.openxmlformats.org/officeDocument/2006/relationships/image" Target="../media/image117.jp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jpg"/><Relationship Id="rId5" Type="http://schemas.openxmlformats.org/officeDocument/2006/relationships/image" Target="../media/image115.jpg"/><Relationship Id="rId4" Type="http://schemas.openxmlformats.org/officeDocument/2006/relationships/image" Target="../media/image114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1494632" y="4700072"/>
            <a:ext cx="29670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reporter</a:t>
            </a:r>
            <a:r>
              <a:rPr lang="zh-CN" altLang="en-US" sz="1800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TW" altLang="en-US" sz="1800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吳佩珊 </a:t>
            </a:r>
            <a:endParaRPr lang="zh-CN" altLang="en-US" sz="1800" dirty="0">
              <a:solidFill>
                <a:srgbClr val="04487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49928" y="2257425"/>
            <a:ext cx="9871364" cy="2382838"/>
          </a:xfrm>
          <a:prstGeom prst="rect">
            <a:avLst/>
          </a:prstGeom>
          <a:noFill/>
          <a:ln w="25400">
            <a:solidFill>
              <a:srgbClr val="0448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43" name="组合 42"/>
          <p:cNvGrpSpPr>
            <a:grpSpLocks/>
          </p:cNvGrpSpPr>
          <p:nvPr/>
        </p:nvGrpSpPr>
        <p:grpSpPr bwMode="auto">
          <a:xfrm>
            <a:off x="10290175" y="4325938"/>
            <a:ext cx="1109663" cy="1130300"/>
            <a:chOff x="2666985" y="682103"/>
            <a:chExt cx="1109138" cy="1131217"/>
          </a:xfrm>
        </p:grpSpPr>
        <p:sp>
          <p:nvSpPr>
            <p:cNvPr id="40" name="矩形 39"/>
            <p:cNvSpPr/>
            <p:nvPr/>
          </p:nvSpPr>
          <p:spPr>
            <a:xfrm>
              <a:off x="2841527" y="858458"/>
              <a:ext cx="769574" cy="768973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2666985" y="682103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3217587" y="1254067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44" name="组合 43"/>
          <p:cNvGrpSpPr>
            <a:grpSpLocks/>
          </p:cNvGrpSpPr>
          <p:nvPr/>
        </p:nvGrpSpPr>
        <p:grpSpPr bwMode="auto">
          <a:xfrm>
            <a:off x="792163" y="1462088"/>
            <a:ext cx="1109662" cy="1131887"/>
            <a:chOff x="2666985" y="682103"/>
            <a:chExt cx="1109138" cy="1131217"/>
          </a:xfrm>
        </p:grpSpPr>
        <p:sp>
          <p:nvSpPr>
            <p:cNvPr id="45" name="矩形 44"/>
            <p:cNvSpPr/>
            <p:nvPr/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49" name="矩形 48"/>
          <p:cNvSpPr/>
          <p:nvPr/>
        </p:nvSpPr>
        <p:spPr>
          <a:xfrm>
            <a:off x="0" y="-12700"/>
            <a:ext cx="12192000" cy="373063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1566525" y="6523038"/>
            <a:ext cx="625475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6523038"/>
            <a:ext cx="10439400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3" name="Picture 4" descr="藍色_Logo_標誌">
            <a:extLst>
              <a:ext uri="{FF2B5EF4-FFF2-40B4-BE49-F238E27FC236}">
                <a16:creationId xmlns:a16="http://schemas.microsoft.com/office/drawing/2014/main" id="{39092BE1-2D5F-86EA-C935-FBBA6CE30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2123" y="6482619"/>
            <a:ext cx="1144402" cy="41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4F668AA-A0BA-3C05-B946-EF6C1DF1BE93}"/>
              </a:ext>
            </a:extLst>
          </p:cNvPr>
          <p:cNvSpPr txBox="1"/>
          <p:nvPr/>
        </p:nvSpPr>
        <p:spPr>
          <a:xfrm>
            <a:off x="1572491" y="3105834"/>
            <a:ext cx="966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3600" b="1" dirty="0"/>
              <a:t>Iterative Compositional Zero-Shot Generation</a:t>
            </a:r>
            <a:endParaRPr lang="zh-TW" altLang="en-US" sz="3600" b="1" dirty="0"/>
          </a:p>
        </p:txBody>
      </p:sp>
      <p:sp>
        <p:nvSpPr>
          <p:cNvPr id="7" name="文本框 21">
            <a:extLst>
              <a:ext uri="{FF2B5EF4-FFF2-40B4-BE49-F238E27FC236}">
                <a16:creationId xmlns:a16="http://schemas.microsoft.com/office/drawing/2014/main" id="{DAD23573-EC2D-F838-CA81-94CF87923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048" y="4708020"/>
            <a:ext cx="29670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Date:</a:t>
            </a:r>
            <a:r>
              <a:rPr lang="zh-TW" altLang="en-US" sz="1800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TW" sz="1800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07/13</a:t>
            </a:r>
            <a:endParaRPr lang="zh-CN" altLang="en-US" sz="1800" dirty="0">
              <a:solidFill>
                <a:srgbClr val="044875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2700"/>
            <a:ext cx="12192000" cy="373063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1566525" y="6523038"/>
            <a:ext cx="625475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523038"/>
            <a:ext cx="10439400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70" name="组合 69"/>
          <p:cNvGrpSpPr>
            <a:grpSpLocks/>
          </p:cNvGrpSpPr>
          <p:nvPr/>
        </p:nvGrpSpPr>
        <p:grpSpPr bwMode="auto">
          <a:xfrm>
            <a:off x="703086" y="2593975"/>
            <a:ext cx="4843462" cy="712788"/>
            <a:chOff x="6298049" y="1397569"/>
            <a:chExt cx="4842391" cy="712882"/>
          </a:xfrm>
        </p:grpSpPr>
        <p:sp>
          <p:nvSpPr>
            <p:cNvPr id="4156" name="文本框 20"/>
            <p:cNvSpPr txBox="1">
              <a:spLocks noChangeArrowheads="1"/>
            </p:cNvSpPr>
            <p:nvPr/>
          </p:nvSpPr>
          <p:spPr bwMode="auto">
            <a:xfrm>
              <a:off x="7217008" y="1441957"/>
              <a:ext cx="2433117" cy="584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3200" b="1" dirty="0">
                  <a:solidFill>
                    <a:schemeClr val="accent1">
                      <a:lumMod val="75000"/>
                    </a:schemeClr>
                  </a:solidFill>
                  <a:latin typeface="+mj-lt"/>
                  <a:sym typeface="+mn-ea"/>
                </a:rPr>
                <a:t>Introduction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7180504" y="1397569"/>
              <a:ext cx="3959936" cy="712882"/>
            </a:xfrm>
            <a:prstGeom prst="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4159" name="组合 68"/>
            <p:cNvGrpSpPr>
              <a:grpSpLocks/>
            </p:cNvGrpSpPr>
            <p:nvPr/>
          </p:nvGrpSpPr>
          <p:grpSpPr bwMode="auto">
            <a:xfrm>
              <a:off x="6298049" y="1397569"/>
              <a:ext cx="919239" cy="712882"/>
              <a:chOff x="6191369" y="1397569"/>
              <a:chExt cx="919239" cy="712882"/>
            </a:xfrm>
          </p:grpSpPr>
          <p:sp>
            <p:nvSpPr>
              <p:cNvPr id="68" name="矩形 67"/>
              <p:cNvSpPr/>
              <p:nvPr/>
            </p:nvSpPr>
            <p:spPr>
              <a:xfrm>
                <a:off x="6294533" y="1397569"/>
                <a:ext cx="712631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161" name="文本框 18"/>
              <p:cNvSpPr txBox="1">
                <a:spLocks noChangeArrowheads="1"/>
              </p:cNvSpPr>
              <p:nvPr/>
            </p:nvSpPr>
            <p:spPr bwMode="auto">
              <a:xfrm>
                <a:off x="6191369" y="1448645"/>
                <a:ext cx="919239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600" dirty="0">
                    <a:solidFill>
                      <a:srgbClr val="044875"/>
                    </a:solidFill>
                    <a:latin typeface="Impact" pitchFamily="34" charset="0"/>
                  </a:rPr>
                  <a:t>01</a:t>
                </a:r>
                <a:endParaRPr lang="zh-CN" altLang="en-US" sz="3600" dirty="0">
                  <a:solidFill>
                    <a:srgbClr val="044875"/>
                  </a:solidFill>
                  <a:latin typeface="Impact" pitchFamily="34" charset="0"/>
                </a:endParaRPr>
              </a:p>
            </p:txBody>
          </p:sp>
        </p:grpSp>
      </p:grpSp>
      <p:grpSp>
        <p:nvGrpSpPr>
          <p:cNvPr id="4147" name="组合 79"/>
          <p:cNvGrpSpPr>
            <a:grpSpLocks/>
          </p:cNvGrpSpPr>
          <p:nvPr/>
        </p:nvGrpSpPr>
        <p:grpSpPr bwMode="auto">
          <a:xfrm>
            <a:off x="703086" y="3724275"/>
            <a:ext cx="4959070" cy="712788"/>
            <a:chOff x="6298049" y="1397569"/>
            <a:chExt cx="4957973" cy="712882"/>
          </a:xfrm>
        </p:grpSpPr>
        <p:sp>
          <p:nvSpPr>
            <p:cNvPr id="4149" name="文本框 81"/>
            <p:cNvSpPr txBox="1">
              <a:spLocks noChangeArrowheads="1"/>
            </p:cNvSpPr>
            <p:nvPr/>
          </p:nvSpPr>
          <p:spPr bwMode="auto">
            <a:xfrm>
              <a:off x="8028810" y="1506484"/>
              <a:ext cx="3227212" cy="523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CN" dirty="0">
                <a:solidFill>
                  <a:schemeClr val="accent1"/>
                </a:solidFill>
                <a:latin typeface="+mj-ea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7180504" y="1397569"/>
              <a:ext cx="3959936" cy="712882"/>
            </a:xfrm>
            <a:prstGeom prst="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4152" name="组合 84"/>
            <p:cNvGrpSpPr>
              <a:grpSpLocks/>
            </p:cNvGrpSpPr>
            <p:nvPr/>
          </p:nvGrpSpPr>
          <p:grpSpPr bwMode="auto">
            <a:xfrm>
              <a:off x="6298049" y="1397569"/>
              <a:ext cx="919239" cy="712882"/>
              <a:chOff x="6191369" y="1397569"/>
              <a:chExt cx="919239" cy="712882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6294533" y="1397569"/>
                <a:ext cx="712631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154" name="文本框 86"/>
              <p:cNvSpPr txBox="1">
                <a:spLocks noChangeArrowheads="1"/>
              </p:cNvSpPr>
              <p:nvPr/>
            </p:nvSpPr>
            <p:spPr bwMode="auto">
              <a:xfrm>
                <a:off x="6191369" y="1436902"/>
                <a:ext cx="919239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600" dirty="0">
                    <a:solidFill>
                      <a:srgbClr val="044875"/>
                    </a:solidFill>
                    <a:latin typeface="Impact" pitchFamily="34" charset="0"/>
                  </a:rPr>
                  <a:t>03</a:t>
                </a:r>
                <a:endParaRPr lang="zh-CN" altLang="en-US" sz="3600" dirty="0">
                  <a:solidFill>
                    <a:srgbClr val="044875"/>
                  </a:solidFill>
                  <a:latin typeface="Impact" pitchFamily="34" charset="0"/>
                </a:endParaRPr>
              </a:p>
            </p:txBody>
          </p:sp>
        </p:grpSp>
      </p:grpSp>
      <p:grpSp>
        <p:nvGrpSpPr>
          <p:cNvPr id="4139" name="组合 116"/>
          <p:cNvGrpSpPr>
            <a:grpSpLocks/>
          </p:cNvGrpSpPr>
          <p:nvPr/>
        </p:nvGrpSpPr>
        <p:grpSpPr bwMode="auto">
          <a:xfrm>
            <a:off x="703086" y="4854575"/>
            <a:ext cx="4843462" cy="712788"/>
            <a:chOff x="6298049" y="1397569"/>
            <a:chExt cx="4842391" cy="712882"/>
          </a:xfrm>
        </p:grpSpPr>
        <p:sp>
          <p:nvSpPr>
            <p:cNvPr id="4141" name="文本框 126"/>
            <p:cNvSpPr txBox="1">
              <a:spLocks noChangeArrowheads="1"/>
            </p:cNvSpPr>
            <p:nvPr/>
          </p:nvSpPr>
          <p:spPr bwMode="auto">
            <a:xfrm>
              <a:off x="7180504" y="1456588"/>
              <a:ext cx="2840404" cy="584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3200" b="1" dirty="0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Conclusion</a:t>
              </a:r>
              <a:endParaRPr lang="zh-CN" altLang="en-US" sz="3200" b="1" dirty="0">
                <a:solidFill>
                  <a:schemeClr val="accent1">
                    <a:lumMod val="75000"/>
                  </a:schemeClr>
                </a:solidFill>
                <a:latin typeface="+mj-lt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7180504" y="1397569"/>
              <a:ext cx="3959936" cy="712882"/>
            </a:xfrm>
            <a:prstGeom prst="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4144" name="组合 129"/>
            <p:cNvGrpSpPr>
              <a:grpSpLocks/>
            </p:cNvGrpSpPr>
            <p:nvPr/>
          </p:nvGrpSpPr>
          <p:grpSpPr bwMode="auto">
            <a:xfrm>
              <a:off x="6298049" y="1397569"/>
              <a:ext cx="919239" cy="712882"/>
              <a:chOff x="6191369" y="1397569"/>
              <a:chExt cx="919239" cy="712882"/>
            </a:xfrm>
          </p:grpSpPr>
          <p:sp>
            <p:nvSpPr>
              <p:cNvPr id="131" name="矩形 130"/>
              <p:cNvSpPr/>
              <p:nvPr/>
            </p:nvSpPr>
            <p:spPr>
              <a:xfrm>
                <a:off x="6294533" y="1397569"/>
                <a:ext cx="712631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146" name="文本框 131"/>
              <p:cNvSpPr txBox="1">
                <a:spLocks noChangeArrowheads="1"/>
              </p:cNvSpPr>
              <p:nvPr/>
            </p:nvSpPr>
            <p:spPr bwMode="auto">
              <a:xfrm>
                <a:off x="6191369" y="1436902"/>
                <a:ext cx="919239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600" dirty="0">
                    <a:solidFill>
                      <a:srgbClr val="044875"/>
                    </a:solidFill>
                    <a:latin typeface="Impact" pitchFamily="34" charset="0"/>
                  </a:rPr>
                  <a:t>05</a:t>
                </a:r>
                <a:endParaRPr lang="zh-CN" altLang="en-US" sz="3600" dirty="0">
                  <a:solidFill>
                    <a:srgbClr val="044875"/>
                  </a:solidFill>
                  <a:latin typeface="Impact" pitchFamily="34" charset="0"/>
                </a:endParaRPr>
              </a:p>
            </p:txBody>
          </p:sp>
        </p:grpSp>
      </p:grpSp>
      <p:grpSp>
        <p:nvGrpSpPr>
          <p:cNvPr id="4131" name="组合 71"/>
          <p:cNvGrpSpPr>
            <a:grpSpLocks/>
          </p:cNvGrpSpPr>
          <p:nvPr/>
        </p:nvGrpSpPr>
        <p:grpSpPr bwMode="auto">
          <a:xfrm>
            <a:off x="6542265" y="2593975"/>
            <a:ext cx="4843462" cy="712788"/>
            <a:chOff x="6298049" y="1397569"/>
            <a:chExt cx="4842391" cy="712882"/>
          </a:xfrm>
        </p:grpSpPr>
        <p:sp>
          <p:nvSpPr>
            <p:cNvPr id="4133" name="文本框 73"/>
            <p:cNvSpPr txBox="1">
              <a:spLocks noChangeArrowheads="1"/>
            </p:cNvSpPr>
            <p:nvPr/>
          </p:nvSpPr>
          <p:spPr bwMode="auto">
            <a:xfrm>
              <a:off x="7217008" y="1428308"/>
              <a:ext cx="2840404" cy="584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3200" b="1" dirty="0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Related works</a:t>
              </a:r>
            </a:p>
          </p:txBody>
        </p:sp>
        <p:sp>
          <p:nvSpPr>
            <p:cNvPr id="75" name="矩形 74"/>
            <p:cNvSpPr/>
            <p:nvPr/>
          </p:nvSpPr>
          <p:spPr>
            <a:xfrm>
              <a:off x="7180504" y="1397569"/>
              <a:ext cx="3959936" cy="712882"/>
            </a:xfrm>
            <a:prstGeom prst="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4136" name="组合 76"/>
            <p:cNvGrpSpPr>
              <a:grpSpLocks/>
            </p:cNvGrpSpPr>
            <p:nvPr/>
          </p:nvGrpSpPr>
          <p:grpSpPr bwMode="auto">
            <a:xfrm>
              <a:off x="6298049" y="1397569"/>
              <a:ext cx="919239" cy="712882"/>
              <a:chOff x="6191369" y="1397569"/>
              <a:chExt cx="919239" cy="712882"/>
            </a:xfrm>
          </p:grpSpPr>
          <p:sp>
            <p:nvSpPr>
              <p:cNvPr id="78" name="矩形 77"/>
              <p:cNvSpPr/>
              <p:nvPr/>
            </p:nvSpPr>
            <p:spPr>
              <a:xfrm>
                <a:off x="6294533" y="1397569"/>
                <a:ext cx="712631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138" name="文本框 78"/>
              <p:cNvSpPr txBox="1">
                <a:spLocks noChangeArrowheads="1"/>
              </p:cNvSpPr>
              <p:nvPr/>
            </p:nvSpPr>
            <p:spPr bwMode="auto">
              <a:xfrm>
                <a:off x="6191369" y="1436902"/>
                <a:ext cx="919239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600" dirty="0">
                    <a:solidFill>
                      <a:srgbClr val="044875"/>
                    </a:solidFill>
                    <a:latin typeface="Impact" pitchFamily="34" charset="0"/>
                  </a:rPr>
                  <a:t>02</a:t>
                </a:r>
                <a:endParaRPr lang="zh-CN" altLang="en-US" sz="3600" dirty="0">
                  <a:solidFill>
                    <a:srgbClr val="044875"/>
                  </a:solidFill>
                  <a:latin typeface="Impact" pitchFamily="34" charset="0"/>
                </a:endParaRPr>
              </a:p>
            </p:txBody>
          </p:sp>
        </p:grpSp>
      </p:grpSp>
      <p:grpSp>
        <p:nvGrpSpPr>
          <p:cNvPr id="4123" name="组合 115"/>
          <p:cNvGrpSpPr>
            <a:grpSpLocks/>
          </p:cNvGrpSpPr>
          <p:nvPr/>
        </p:nvGrpSpPr>
        <p:grpSpPr bwMode="auto">
          <a:xfrm>
            <a:off x="6542265" y="3724276"/>
            <a:ext cx="4843462" cy="712788"/>
            <a:chOff x="6298049" y="1397569"/>
            <a:chExt cx="4842391" cy="712882"/>
          </a:xfrm>
        </p:grpSpPr>
        <p:sp>
          <p:nvSpPr>
            <p:cNvPr id="4125" name="文本框 133"/>
            <p:cNvSpPr txBox="1">
              <a:spLocks noChangeArrowheads="1"/>
            </p:cNvSpPr>
            <p:nvPr/>
          </p:nvSpPr>
          <p:spPr bwMode="auto">
            <a:xfrm>
              <a:off x="7180504" y="1464120"/>
              <a:ext cx="3688710" cy="584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3200" b="1" dirty="0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Experiment results</a:t>
              </a:r>
            </a:p>
          </p:txBody>
        </p:sp>
        <p:sp>
          <p:nvSpPr>
            <p:cNvPr id="135" name="矩形 134"/>
            <p:cNvSpPr/>
            <p:nvPr/>
          </p:nvSpPr>
          <p:spPr>
            <a:xfrm>
              <a:off x="7180504" y="1397569"/>
              <a:ext cx="3959936" cy="712882"/>
            </a:xfrm>
            <a:prstGeom prst="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4128" name="组合 136"/>
            <p:cNvGrpSpPr>
              <a:grpSpLocks/>
            </p:cNvGrpSpPr>
            <p:nvPr/>
          </p:nvGrpSpPr>
          <p:grpSpPr bwMode="auto">
            <a:xfrm>
              <a:off x="6298049" y="1397569"/>
              <a:ext cx="919239" cy="712882"/>
              <a:chOff x="6191369" y="1397569"/>
              <a:chExt cx="919239" cy="712882"/>
            </a:xfrm>
          </p:grpSpPr>
          <p:sp>
            <p:nvSpPr>
              <p:cNvPr id="138" name="矩形 137"/>
              <p:cNvSpPr/>
              <p:nvPr/>
            </p:nvSpPr>
            <p:spPr>
              <a:xfrm>
                <a:off x="6294533" y="1397569"/>
                <a:ext cx="712631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130" name="文本框 138"/>
              <p:cNvSpPr txBox="1">
                <a:spLocks noChangeArrowheads="1"/>
              </p:cNvSpPr>
              <p:nvPr/>
            </p:nvSpPr>
            <p:spPr bwMode="auto">
              <a:xfrm>
                <a:off x="6191369" y="1427069"/>
                <a:ext cx="919239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600" dirty="0">
                    <a:solidFill>
                      <a:srgbClr val="044875"/>
                    </a:solidFill>
                    <a:latin typeface="Impact" pitchFamily="34" charset="0"/>
                  </a:rPr>
                  <a:t>04</a:t>
                </a:r>
                <a:endParaRPr lang="zh-CN" altLang="en-US" sz="3600" dirty="0">
                  <a:solidFill>
                    <a:srgbClr val="044875"/>
                  </a:solidFill>
                  <a:latin typeface="Impact" pitchFamily="34" charset="0"/>
                </a:endParaRPr>
              </a:p>
            </p:txBody>
          </p:sp>
        </p:grpSp>
      </p:grpSp>
      <p:sp>
        <p:nvSpPr>
          <p:cNvPr id="7" name="文本框 6"/>
          <p:cNvSpPr txBox="1"/>
          <p:nvPr/>
        </p:nvSpPr>
        <p:spPr>
          <a:xfrm>
            <a:off x="2743200" y="582613"/>
            <a:ext cx="6688138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dirty="0">
                <a:solidFill>
                  <a:srgbClr val="044875"/>
                </a:solidFill>
                <a:latin typeface="+mj-lt"/>
                <a:ea typeface="+mn-ea"/>
              </a:rPr>
              <a:t>CONTENTS</a:t>
            </a:r>
            <a:endParaRPr lang="zh-CN" altLang="en-US" sz="5400" dirty="0">
              <a:solidFill>
                <a:srgbClr val="044875"/>
              </a:solidFill>
              <a:latin typeface="+mj-lt"/>
              <a:ea typeface="+mn-ea"/>
            </a:endParaRPr>
          </a:p>
        </p:txBody>
      </p:sp>
      <p:cxnSp>
        <p:nvCxnSpPr>
          <p:cNvPr id="157" name="直接连接符 156"/>
          <p:cNvCxnSpPr/>
          <p:nvPr/>
        </p:nvCxnSpPr>
        <p:spPr bwMode="auto">
          <a:xfrm flipV="1">
            <a:off x="3700463" y="1511300"/>
            <a:ext cx="4773612" cy="0"/>
          </a:xfrm>
          <a:prstGeom prst="line">
            <a:avLst/>
          </a:prstGeom>
          <a:ln w="25400">
            <a:solidFill>
              <a:srgbClr val="0448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126">
            <a:extLst>
              <a:ext uri="{FF2B5EF4-FFF2-40B4-BE49-F238E27FC236}">
                <a16:creationId xmlns:a16="http://schemas.microsoft.com/office/drawing/2014/main" id="{9EADDD7B-1AD5-F8F6-58C1-2441A610B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744" y="3802398"/>
            <a:ext cx="284103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Method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5" name="Picture 4" descr="藍色_Logo_標誌">
            <a:extLst>
              <a:ext uri="{FF2B5EF4-FFF2-40B4-BE49-F238E27FC236}">
                <a16:creationId xmlns:a16="http://schemas.microsoft.com/office/drawing/2014/main" id="{1029250F-01F0-0C3F-8098-5F7A608B8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2123" y="6482619"/>
            <a:ext cx="1144402" cy="41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8EC676DA-98CD-2E97-1BB4-EB77A996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2663825"/>
            <a:ext cx="951389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951389" y="2272774"/>
            <a:ext cx="251215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dist" eaLnBrk="1" hangingPunct="1"/>
            <a:r>
              <a:rPr lang="en-US" altLang="zh-CN" sz="8000" dirty="0">
                <a:solidFill>
                  <a:schemeClr val="bg1"/>
                </a:solidFill>
                <a:latin typeface="Impact" pitchFamily="34" charset="0"/>
              </a:rPr>
              <a:t>Part1</a:t>
            </a:r>
            <a:endParaRPr lang="zh-CN" altLang="en-US" sz="8000" dirty="0">
              <a:solidFill>
                <a:schemeClr val="bg1"/>
              </a:solidFill>
              <a:latin typeface="Impact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63540" y="2663825"/>
            <a:ext cx="8728460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6791325" y="3632200"/>
            <a:ext cx="57277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Introduction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8C19444-1C02-8058-E5EB-B7A926D12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10229F0-F4F9-9F0E-2A44-1ED348E116D5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0AC324-C3FB-7D6A-9519-A87159F3D0EB}"/>
              </a:ext>
            </a:extLst>
          </p:cNvPr>
          <p:cNvSpPr/>
          <p:nvPr/>
        </p:nvSpPr>
        <p:spPr>
          <a:xfrm>
            <a:off x="3264310" y="254000"/>
            <a:ext cx="892769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D3AFA2-24A2-E790-C451-9E22E7087429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2663D23-8F5F-7EAA-C35F-0D4BFA65E019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3">
            <a:extLst>
              <a:ext uri="{FF2B5EF4-FFF2-40B4-BE49-F238E27FC236}">
                <a16:creationId xmlns:a16="http://schemas.microsoft.com/office/drawing/2014/main" id="{B1FEFB35-997A-A98B-8A09-A9127A12D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0674"/>
            <a:ext cx="316427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Background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A5A4642-03B6-4B1E-E2E6-FE4C77AE9C1A}"/>
              </a:ext>
            </a:extLst>
          </p:cNvPr>
          <p:cNvSpPr txBox="1"/>
          <p:nvPr/>
        </p:nvSpPr>
        <p:spPr>
          <a:xfrm>
            <a:off x="230272" y="964773"/>
            <a:ext cx="112361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" panose="02040503050406030204" pitchFamily="18" charset="0"/>
                <a:ea typeface="Cambria" panose="02040503050406030204" pitchFamily="18" charset="0"/>
              </a:rPr>
              <a:t>In computer vision, image generation models—such as VAEs</a:t>
            </a:r>
            <a:r>
              <a:rPr lang="zh-TW" altLang="en-US" dirty="0">
                <a:latin typeface="Cambria" panose="02040503050406030204" pitchFamily="18" charset="0"/>
                <a:ea typeface="Cambria" panose="02040503050406030204" pitchFamily="18" charset="0"/>
              </a:rPr>
              <a:t>、</a:t>
            </a:r>
            <a:r>
              <a:rPr lang="en-US" altLang="zh-TW" dirty="0">
                <a:latin typeface="Cambria" panose="02040503050406030204" pitchFamily="18" charset="0"/>
                <a:ea typeface="Cambria" panose="02040503050406030204" pitchFamily="18" charset="0"/>
              </a:rPr>
              <a:t>GANs</a:t>
            </a:r>
            <a:r>
              <a:rPr lang="zh-TW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TW" dirty="0">
                <a:latin typeface="Cambria" panose="02040503050406030204" pitchFamily="18" charset="0"/>
                <a:ea typeface="Cambria" panose="02040503050406030204" pitchFamily="18" charset="0"/>
              </a:rPr>
              <a:t>and diffusion models—are widely used. These models can generate diverse content from inputs like text</a:t>
            </a:r>
            <a:r>
              <a:rPr lang="zh-TW" altLang="en-US" dirty="0">
                <a:latin typeface="Cambria" panose="02040503050406030204" pitchFamily="18" charset="0"/>
                <a:ea typeface="Cambria" panose="02040503050406030204" pitchFamily="18" charset="0"/>
              </a:rPr>
              <a:t>、</a:t>
            </a:r>
            <a:r>
              <a:rPr lang="en-US" altLang="zh-TW" dirty="0">
                <a:latin typeface="Cambria" panose="02040503050406030204" pitchFamily="18" charset="0"/>
                <a:ea typeface="Cambria" panose="02040503050406030204" pitchFamily="18" charset="0"/>
              </a:rPr>
              <a:t>labels</a:t>
            </a:r>
            <a:r>
              <a:rPr lang="zh-TW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TW" dirty="0">
                <a:latin typeface="Cambria" panose="02040503050406030204" pitchFamily="18" charset="0"/>
                <a:ea typeface="Cambria" panose="02040503050406030204" pitchFamily="18" charset="0"/>
              </a:rPr>
              <a:t>or images, with applications in style transfer</a:t>
            </a:r>
            <a:r>
              <a:rPr lang="zh-TW" altLang="en-US" dirty="0">
                <a:latin typeface="Cambria" panose="02040503050406030204" pitchFamily="18" charset="0"/>
                <a:ea typeface="Cambria" panose="02040503050406030204" pitchFamily="18" charset="0"/>
              </a:rPr>
              <a:t>、</a:t>
            </a:r>
            <a:r>
              <a:rPr lang="en-US" altLang="zh-TW" dirty="0">
                <a:latin typeface="Cambria" panose="02040503050406030204" pitchFamily="18" charset="0"/>
                <a:ea typeface="Cambria" panose="02040503050406030204" pitchFamily="18" charset="0"/>
              </a:rPr>
              <a:t>inpainting</a:t>
            </a:r>
            <a:r>
              <a:rPr lang="zh-TW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TW" dirty="0">
                <a:latin typeface="Cambria" panose="02040503050406030204" pitchFamily="18" charset="0"/>
                <a:ea typeface="Cambria" panose="02040503050406030204" pitchFamily="18" charset="0"/>
              </a:rPr>
              <a:t>enhancement</a:t>
            </a:r>
            <a:r>
              <a:rPr lang="zh-TW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TW" dirty="0">
                <a:latin typeface="Cambria" panose="02040503050406030204" pitchFamily="18" charset="0"/>
                <a:ea typeface="Cambria" panose="02040503050406030204" pitchFamily="18" charset="0"/>
              </a:rPr>
              <a:t>and data synthesis.</a:t>
            </a:r>
            <a:endParaRPr lang="zh-TW" altLang="en-US" dirty="0">
              <a:latin typeface="Cambria" panose="02040503050406030204" pitchFamily="18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E78DD06-80FB-C9B8-D4F2-116C2F06482D}"/>
              </a:ext>
            </a:extLst>
          </p:cNvPr>
          <p:cNvSpPr/>
          <p:nvPr/>
        </p:nvSpPr>
        <p:spPr>
          <a:xfrm>
            <a:off x="4386998" y="3055751"/>
            <a:ext cx="1889017" cy="132554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Image Generation Models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D1141B0-A040-6D0B-3A8B-BC189DE20C6F}"/>
              </a:ext>
            </a:extLst>
          </p:cNvPr>
          <p:cNvSpPr txBox="1"/>
          <p:nvPr/>
        </p:nvSpPr>
        <p:spPr>
          <a:xfrm>
            <a:off x="2079763" y="2949084"/>
            <a:ext cx="9615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latin typeface="Cambria" panose="02040503050406030204" pitchFamily="18" charset="0"/>
              </a:rPr>
              <a:t>Text</a:t>
            </a:r>
          </a:p>
          <a:p>
            <a:pPr algn="ctr"/>
            <a:endParaRPr lang="en-US" altLang="zh-TW" sz="2000" dirty="0">
              <a:latin typeface="Cambria" panose="02040503050406030204" pitchFamily="18" charset="0"/>
            </a:endParaRPr>
          </a:p>
          <a:p>
            <a:pPr algn="ctr"/>
            <a:r>
              <a:rPr lang="en-US" altLang="zh-TW" sz="2000" dirty="0">
                <a:latin typeface="Cambria" panose="02040503050406030204" pitchFamily="18" charset="0"/>
              </a:rPr>
              <a:t>Labels</a:t>
            </a:r>
          </a:p>
          <a:p>
            <a:pPr algn="ctr"/>
            <a:endParaRPr lang="en-US" altLang="zh-TW" sz="2000" dirty="0">
              <a:latin typeface="Cambria" panose="02040503050406030204" pitchFamily="18" charset="0"/>
            </a:endParaRPr>
          </a:p>
          <a:p>
            <a:pPr algn="ctr"/>
            <a:r>
              <a:rPr lang="en-US" altLang="zh-TW" sz="2000" dirty="0">
                <a:latin typeface="Cambria" panose="02040503050406030204" pitchFamily="18" charset="0"/>
              </a:rPr>
              <a:t>images</a:t>
            </a:r>
            <a:endParaRPr lang="zh-TW" altLang="en-US" sz="2000" dirty="0">
              <a:latin typeface="Cambria" panose="02040503050406030204" pitchFamily="18" charset="0"/>
            </a:endParaRPr>
          </a:p>
          <a:p>
            <a:pPr algn="ctr"/>
            <a:endParaRPr lang="zh-TW" altLang="en-US" sz="1200" dirty="0">
              <a:latin typeface="Cambria" panose="02040503050406030204" pitchFamily="18" charset="0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424CCCED-4A5D-36DD-2D14-90B6BF42253C}"/>
              </a:ext>
            </a:extLst>
          </p:cNvPr>
          <p:cNvCxnSpPr>
            <a:cxnSpLocks/>
          </p:cNvCxnSpPr>
          <p:nvPr/>
        </p:nvCxnSpPr>
        <p:spPr>
          <a:xfrm flipV="1">
            <a:off x="3024879" y="3812015"/>
            <a:ext cx="1377201" cy="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B506DD2-092B-5FE9-9DAE-9FAE2DDB156A}"/>
              </a:ext>
            </a:extLst>
          </p:cNvPr>
          <p:cNvSpPr txBox="1"/>
          <p:nvPr/>
        </p:nvSpPr>
        <p:spPr>
          <a:xfrm>
            <a:off x="2860500" y="3535051"/>
            <a:ext cx="1977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latin typeface="Cambria" panose="02040503050406030204" pitchFamily="18" charset="0"/>
              </a:rPr>
              <a:t>input</a:t>
            </a:r>
            <a:endParaRPr lang="zh-TW" altLang="en-US" sz="1200" dirty="0">
              <a:latin typeface="Cambria" panose="02040503050406030204" pitchFamily="18" charset="0"/>
            </a:endParaRP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726E1F33-7F54-AA17-ED8A-D6F532AA5C76}"/>
              </a:ext>
            </a:extLst>
          </p:cNvPr>
          <p:cNvCxnSpPr>
            <a:cxnSpLocks/>
          </p:cNvCxnSpPr>
          <p:nvPr/>
        </p:nvCxnSpPr>
        <p:spPr>
          <a:xfrm flipV="1">
            <a:off x="6276015" y="3812086"/>
            <a:ext cx="1377201" cy="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B5BBD17-18BE-BC45-3E74-32094CC50091}"/>
              </a:ext>
            </a:extLst>
          </p:cNvPr>
          <p:cNvSpPr txBox="1"/>
          <p:nvPr/>
        </p:nvSpPr>
        <p:spPr>
          <a:xfrm>
            <a:off x="5976079" y="3580026"/>
            <a:ext cx="1977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latin typeface="Cambria" panose="02040503050406030204" pitchFamily="18" charset="0"/>
              </a:rPr>
              <a:t>output</a:t>
            </a:r>
            <a:endParaRPr lang="zh-TW" altLang="en-US" sz="1200" dirty="0">
              <a:latin typeface="Cambria" panose="020405030504060302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D501FC-CCB0-9543-0141-C49FFB60D764}"/>
              </a:ext>
            </a:extLst>
          </p:cNvPr>
          <p:cNvSpPr/>
          <p:nvPr/>
        </p:nvSpPr>
        <p:spPr>
          <a:xfrm>
            <a:off x="7850015" y="3506120"/>
            <a:ext cx="1196436" cy="61186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Generated</a:t>
            </a:r>
          </a:p>
          <a:p>
            <a:pPr algn="ctr"/>
            <a:r>
              <a:rPr lang="en-US" altLang="zh-TW" dirty="0"/>
              <a:t>image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BE747B8-2047-63DA-B636-EE1A09E8BFAE}"/>
              </a:ext>
            </a:extLst>
          </p:cNvPr>
          <p:cNvSpPr txBox="1"/>
          <p:nvPr/>
        </p:nvSpPr>
        <p:spPr>
          <a:xfrm>
            <a:off x="9046450" y="3410793"/>
            <a:ext cx="33359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" panose="02040503050406030204" pitchFamily="18" charset="0"/>
                <a:ea typeface="Cambria" panose="02040503050406030204" pitchFamily="18" charset="0"/>
              </a:rPr>
              <a:t>style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" panose="02040503050406030204" pitchFamily="18" charset="0"/>
                <a:ea typeface="Cambria" panose="02040503050406030204" pitchFamily="18" charset="0"/>
              </a:rPr>
              <a:t>inpainting</a:t>
            </a:r>
            <a:r>
              <a:rPr lang="zh-TW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TW" dirty="0">
                <a:latin typeface="Cambria" panose="02040503050406030204" pitchFamily="18" charset="0"/>
                <a:ea typeface="Cambria" panose="02040503050406030204" pitchFamily="18" charset="0"/>
              </a:rPr>
              <a:t>enhancement</a:t>
            </a:r>
            <a:r>
              <a:rPr lang="zh-TW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altLang="zh-TW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synthesis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本框 126">
            <a:extLst>
              <a:ext uri="{FF2B5EF4-FFF2-40B4-BE49-F238E27FC236}">
                <a16:creationId xmlns:a16="http://schemas.microsoft.com/office/drawing/2014/main" id="{15074DAD-F3BE-237B-FFFB-B31CCCA6B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2779" y="6478121"/>
            <a:ext cx="42036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600" dirty="0">
                <a:latin typeface="+mj-lt"/>
              </a:rPr>
              <a:t>4</a:t>
            </a:r>
            <a:endParaRPr lang="zh-CN" altLang="en-US" sz="2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73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D8C0C-C29F-1D77-AEFC-C9F31C88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E99880F-38CF-B095-0C09-6F4B1287CBF2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FF6C70-C1CE-C323-95A5-85EED7EADB88}"/>
              </a:ext>
            </a:extLst>
          </p:cNvPr>
          <p:cNvSpPr/>
          <p:nvPr/>
        </p:nvSpPr>
        <p:spPr>
          <a:xfrm>
            <a:off x="3264310" y="254000"/>
            <a:ext cx="892769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C751B4-E47A-3B08-3E32-1DF02D1024E6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E3A4B60-6283-BA37-930D-12A81C773487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" name="文本框 3">
            <a:extLst>
              <a:ext uri="{FF2B5EF4-FFF2-40B4-BE49-F238E27FC236}">
                <a16:creationId xmlns:a16="http://schemas.microsoft.com/office/drawing/2014/main" id="{A8A1ADE2-6C97-AD03-FF12-974B646BA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0674"/>
            <a:ext cx="316427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Background</a:t>
            </a:r>
          </a:p>
        </p:txBody>
      </p:sp>
      <p:sp>
        <p:nvSpPr>
          <p:cNvPr id="4" name="文本框 126">
            <a:extLst>
              <a:ext uri="{FF2B5EF4-FFF2-40B4-BE49-F238E27FC236}">
                <a16:creationId xmlns:a16="http://schemas.microsoft.com/office/drawing/2014/main" id="{1A057E4E-A07C-B304-AF03-B72FB0B57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2779" y="6478121"/>
            <a:ext cx="42036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600" dirty="0">
                <a:latin typeface="+mj-lt"/>
              </a:rPr>
              <a:t>5</a:t>
            </a:r>
            <a:endParaRPr lang="zh-CN" altLang="en-US" sz="2600" dirty="0">
              <a:latin typeface="+mj-lt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1AE17E4D-001D-2D74-C2AC-BB11A643D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0293"/>
            <a:ext cx="4561840" cy="3777774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3252AEE3-C1FD-B20C-9653-36DD680A3822}"/>
              </a:ext>
            </a:extLst>
          </p:cNvPr>
          <p:cNvCxnSpPr>
            <a:cxnSpLocks/>
          </p:cNvCxnSpPr>
          <p:nvPr/>
        </p:nvCxnSpPr>
        <p:spPr>
          <a:xfrm>
            <a:off x="4756190" y="762050"/>
            <a:ext cx="0" cy="57160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DBD52360-2EC6-CE0D-54DF-38B564A2151D}"/>
              </a:ext>
            </a:extLst>
          </p:cNvPr>
          <p:cNvSpPr txBox="1"/>
          <p:nvPr/>
        </p:nvSpPr>
        <p:spPr>
          <a:xfrm>
            <a:off x="4816679" y="1172108"/>
            <a:ext cx="706258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VAE</a:t>
            </a:r>
            <a:r>
              <a:rPr lang="en-US" altLang="zh-TW" dirty="0"/>
              <a:t>: Although training is stable, the generated images tend to be blurry and less detailed.</a:t>
            </a:r>
          </a:p>
          <a:p>
            <a:endParaRPr lang="en-US" altLang="zh-TW" dirty="0"/>
          </a:p>
          <a:p>
            <a:r>
              <a:rPr lang="en-US" altLang="zh-TW" b="1" dirty="0"/>
              <a:t>GAN</a:t>
            </a:r>
            <a:r>
              <a:rPr lang="en-US" altLang="zh-TW" dirty="0"/>
              <a:t>: Produces sharper and more realistic images but often suffers from training instability and mode collapse.</a:t>
            </a:r>
          </a:p>
          <a:p>
            <a:endParaRPr lang="en-US" altLang="zh-TW" dirty="0"/>
          </a:p>
          <a:p>
            <a:r>
              <a:rPr lang="en-US" altLang="zh-TW" b="1" dirty="0"/>
              <a:t>Diffusion Models</a:t>
            </a:r>
            <a:r>
              <a:rPr lang="en-US" altLang="zh-TW" dirty="0"/>
              <a:t>: Generate high-quality and diverse images by gradually denoising, becoming the current mainstream approach in image synthesis.</a:t>
            </a:r>
          </a:p>
          <a:p>
            <a:endParaRPr lang="en-US" altLang="zh-TW" dirty="0"/>
          </a:p>
          <a:p>
            <a:r>
              <a:rPr lang="en-US" altLang="zh-TW" dirty="0"/>
              <a:t>Limitations of  Traditional </a:t>
            </a:r>
            <a:r>
              <a:rPr lang="en-US" altLang="zh-TW" dirty="0" err="1"/>
              <a:t>UNet</a:t>
            </a:r>
            <a:r>
              <a:rPr lang="en-US" altLang="zh-TW" dirty="0"/>
              <a:t> Architecture: Effective at capturing local image features but struggles with modeling long-range dependencies and complex global context.</a:t>
            </a:r>
          </a:p>
          <a:p>
            <a:endParaRPr lang="en-US" altLang="zh-TW" dirty="0"/>
          </a:p>
          <a:p>
            <a:r>
              <a:rPr lang="en-US" altLang="zh-TW" dirty="0"/>
              <a:t>Advantages of Transformer Architecture: Excels at capturing global relationships, enhancing image diversity and resolution.</a:t>
            </a:r>
          </a:p>
          <a:p>
            <a:endParaRPr lang="en-US" altLang="zh-TW" dirty="0"/>
          </a:p>
          <a:p>
            <a:r>
              <a:rPr lang="en-US" altLang="zh-TW" dirty="0"/>
              <a:t>Therefore, our research use </a:t>
            </a:r>
            <a:r>
              <a:rPr lang="en-US" altLang="zh-TW" b="1" dirty="0"/>
              <a:t>Diffusion Transformer  </a:t>
            </a:r>
            <a:r>
              <a:rPr lang="en-US" altLang="zh-TW" dirty="0"/>
              <a:t>(DiT) </a:t>
            </a:r>
          </a:p>
        </p:txBody>
      </p:sp>
    </p:spTree>
    <p:extLst>
      <p:ext uri="{BB962C8B-B14F-4D97-AF65-F5344CB8AC3E}">
        <p14:creationId xmlns:p14="http://schemas.microsoft.com/office/powerpoint/2010/main" val="13486097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3C6EB-E07C-E162-AB7A-5F7E536D1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59E16D5-2331-4433-3DB7-E77E7981AEA2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22E266-0424-C503-2AEB-92B927A04EB4}"/>
              </a:ext>
            </a:extLst>
          </p:cNvPr>
          <p:cNvSpPr/>
          <p:nvPr/>
        </p:nvSpPr>
        <p:spPr>
          <a:xfrm>
            <a:off x="4947920" y="254000"/>
            <a:ext cx="724408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4FC6073-C6D1-E147-FA9C-207A6FE735D8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456C27-9781-4BA9-E095-93E94ABA06C9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" name="文本框 3">
            <a:extLst>
              <a:ext uri="{FF2B5EF4-FFF2-40B4-BE49-F238E27FC236}">
                <a16:creationId xmlns:a16="http://schemas.microsoft.com/office/drawing/2014/main" id="{3F881F51-F7D4-E41A-2A79-726191A26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0674"/>
            <a:ext cx="463296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 motivation</a:t>
            </a:r>
          </a:p>
        </p:txBody>
      </p:sp>
      <p:sp>
        <p:nvSpPr>
          <p:cNvPr id="4" name="文本框 126">
            <a:extLst>
              <a:ext uri="{FF2B5EF4-FFF2-40B4-BE49-F238E27FC236}">
                <a16:creationId xmlns:a16="http://schemas.microsoft.com/office/drawing/2014/main" id="{4D92B2FF-56B3-37BA-A19D-46383C441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2779" y="6478121"/>
            <a:ext cx="42036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600" dirty="0">
                <a:latin typeface="+mj-lt"/>
              </a:rPr>
              <a:t>6</a:t>
            </a:r>
            <a:endParaRPr lang="zh-CN" altLang="en-US" sz="2600" dirty="0">
              <a:latin typeface="+mj-lt"/>
            </a:endParaRPr>
          </a:p>
        </p:txBody>
      </p:sp>
      <p:sp>
        <p:nvSpPr>
          <p:cNvPr id="5" name="文本框 25">
            <a:extLst>
              <a:ext uri="{FF2B5EF4-FFF2-40B4-BE49-F238E27FC236}">
                <a16:creationId xmlns:a16="http://schemas.microsoft.com/office/drawing/2014/main" id="{1F84BD9B-0E43-01D2-CC6B-F697C6E4E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82841" y="1215670"/>
            <a:ext cx="80483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ctr" eaLnBrk="1" hangingPunct="1"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+mn-lt"/>
              </a:rPr>
              <a:t>Training</a:t>
            </a:r>
            <a:r>
              <a:rPr lang="en-US" altLang="zh-CN" sz="2000" dirty="0">
                <a:latin typeface="+mn-lt"/>
              </a:rPr>
              <a:t>: train DiT with single label y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2D8F3C6-1646-9551-3288-9E2ECB8EEC49}"/>
              </a:ext>
            </a:extLst>
          </p:cNvPr>
          <p:cNvSpPr/>
          <p:nvPr/>
        </p:nvSpPr>
        <p:spPr>
          <a:xfrm>
            <a:off x="701040" y="1652490"/>
            <a:ext cx="3159760" cy="1744321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2C49FBCD-B0BE-F43B-67AC-391C3E33F37F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3860800" y="2521337"/>
            <a:ext cx="2840710" cy="33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文本框 25">
            <a:extLst>
              <a:ext uri="{FF2B5EF4-FFF2-40B4-BE49-F238E27FC236}">
                <a16:creationId xmlns:a16="http://schemas.microsoft.com/office/drawing/2014/main" id="{30CB8C5F-D71B-DD87-BF1B-22E239A18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3378007"/>
            <a:ext cx="36982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+mn-lt"/>
              </a:rPr>
              <a:t>Training Data</a:t>
            </a:r>
            <a:endParaRPr lang="zh-CN" altLang="en-US" sz="1600" dirty="0">
              <a:latin typeface="+mn-lt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3DA14C8-05D0-5BED-2CC8-776DFE60C738}"/>
              </a:ext>
            </a:extLst>
          </p:cNvPr>
          <p:cNvSpPr txBox="1"/>
          <p:nvPr/>
        </p:nvSpPr>
        <p:spPr>
          <a:xfrm>
            <a:off x="7747235" y="3414341"/>
            <a:ext cx="43473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TW" sz="1600" dirty="0">
                <a:latin typeface="+mn-lt"/>
              </a:rPr>
              <a:t>The training dataset does not include such samples,</a:t>
            </a:r>
          </a:p>
          <a:p>
            <a:pPr eaLnBrk="1" hangingPunct="1"/>
            <a:r>
              <a:rPr lang="en-US" altLang="zh-TW" sz="1600" dirty="0">
                <a:latin typeface="+mn-lt"/>
              </a:rPr>
              <a:t>they can be generated, but their correctness is not guaranteed</a:t>
            </a:r>
            <a:r>
              <a:rPr lang="en-US" altLang="zh-TW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  <p:pic>
        <p:nvPicPr>
          <p:cNvPr id="11" name="圖片 10" descr="5&#10;&#10;AI 產生的內容可能不正確。">
            <a:extLst>
              <a:ext uri="{FF2B5EF4-FFF2-40B4-BE49-F238E27FC236}">
                <a16:creationId xmlns:a16="http://schemas.microsoft.com/office/drawing/2014/main" id="{5DFCAAEE-3147-3BC3-47C0-6FCEFF1B7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60" y="2605561"/>
            <a:ext cx="576000" cy="576000"/>
          </a:xfrm>
          <a:prstGeom prst="rect">
            <a:avLst/>
          </a:prstGeom>
        </p:spPr>
      </p:pic>
      <p:pic>
        <p:nvPicPr>
          <p:cNvPr id="18" name="圖片 17" descr="5&#10;&#10;AI 產生的內容可能不正確。">
            <a:extLst>
              <a:ext uri="{FF2B5EF4-FFF2-40B4-BE49-F238E27FC236}">
                <a16:creationId xmlns:a16="http://schemas.microsoft.com/office/drawing/2014/main" id="{51AC16F0-C2F0-F065-26A3-C95F06227F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60" y="1892480"/>
            <a:ext cx="576000" cy="576000"/>
          </a:xfrm>
          <a:prstGeom prst="rect">
            <a:avLst/>
          </a:prstGeom>
        </p:spPr>
      </p:pic>
      <p:pic>
        <p:nvPicPr>
          <p:cNvPr id="20" name="圖片 19" descr="6&#10;&#10;AI 產生的內容可能不正確。">
            <a:extLst>
              <a:ext uri="{FF2B5EF4-FFF2-40B4-BE49-F238E27FC236}">
                <a16:creationId xmlns:a16="http://schemas.microsoft.com/office/drawing/2014/main" id="{E265C146-AB2F-49AF-226E-C422C0DD41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275" y="1892480"/>
            <a:ext cx="576000" cy="57600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32693452-4C70-C04B-AAA7-08B2755CEA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4770" y="1892480"/>
            <a:ext cx="576000" cy="576000"/>
          </a:xfrm>
          <a:prstGeom prst="rect">
            <a:avLst/>
          </a:prstGeom>
        </p:spPr>
      </p:pic>
      <p:pic>
        <p:nvPicPr>
          <p:cNvPr id="30" name="圖片 29" descr="7&#10;&#10;AI 產生的內容可能不正確。">
            <a:extLst>
              <a:ext uri="{FF2B5EF4-FFF2-40B4-BE49-F238E27FC236}">
                <a16:creationId xmlns:a16="http://schemas.microsoft.com/office/drawing/2014/main" id="{DEFE090E-8045-6FFF-4C90-EC8889CB7B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770" y="2609708"/>
            <a:ext cx="576000" cy="576000"/>
          </a:xfrm>
          <a:prstGeom prst="rect">
            <a:avLst/>
          </a:prstGeom>
        </p:spPr>
      </p:pic>
      <p:grpSp>
        <p:nvGrpSpPr>
          <p:cNvPr id="23" name="群組 22">
            <a:extLst>
              <a:ext uri="{FF2B5EF4-FFF2-40B4-BE49-F238E27FC236}">
                <a16:creationId xmlns:a16="http://schemas.microsoft.com/office/drawing/2014/main" id="{8A1945BC-8EAA-7830-124C-4C11A225312F}"/>
              </a:ext>
            </a:extLst>
          </p:cNvPr>
          <p:cNvGrpSpPr/>
          <p:nvPr/>
        </p:nvGrpSpPr>
        <p:grpSpPr>
          <a:xfrm>
            <a:off x="4616501" y="3829840"/>
            <a:ext cx="3698240" cy="2594040"/>
            <a:chOff x="6639560" y="747996"/>
            <a:chExt cx="3698240" cy="2594040"/>
          </a:xfrm>
        </p:grpSpPr>
        <p:pic>
          <p:nvPicPr>
            <p:cNvPr id="12" name="圖片 11" descr="The image appears to be a nocturnal or low-light scene with a pattern of colored dots or specks, likely in shades of blue and green.&#10;&#10;AI 產生的內容可能不正確。">
              <a:extLst>
                <a:ext uri="{FF2B5EF4-FFF2-40B4-BE49-F238E27FC236}">
                  <a16:creationId xmlns:a16="http://schemas.microsoft.com/office/drawing/2014/main" id="{A2043F86-E96B-3D6C-0F60-DCCEDD5FF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1045" y="2207000"/>
              <a:ext cx="609600" cy="609600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FA9BF850-B973-9566-CE64-B18A82DB8AA9}"/>
                </a:ext>
              </a:extLst>
            </p:cNvPr>
            <p:cNvSpPr/>
            <p:nvPr/>
          </p:nvSpPr>
          <p:spPr>
            <a:xfrm>
              <a:off x="6908800" y="1260393"/>
              <a:ext cx="3159760" cy="174432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文本框 25">
              <a:extLst>
                <a:ext uri="{FF2B5EF4-FFF2-40B4-BE49-F238E27FC236}">
                  <a16:creationId xmlns:a16="http://schemas.microsoft.com/office/drawing/2014/main" id="{7C598C46-D624-5623-ED3E-5E743275FA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9560" y="3003482"/>
              <a:ext cx="369824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+mn-lt"/>
                </a:rPr>
                <a:t>Generated image</a:t>
              </a:r>
              <a:endParaRPr lang="zh-CN" altLang="en-US" sz="1600" dirty="0">
                <a:latin typeface="+mn-lt"/>
              </a:endParaRPr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0D35BB17-2944-30EC-772F-07AF3EBB9835}"/>
                </a:ext>
              </a:extLst>
            </p:cNvPr>
            <p:cNvSpPr/>
            <p:nvPr/>
          </p:nvSpPr>
          <p:spPr>
            <a:xfrm>
              <a:off x="8194640" y="2213629"/>
              <a:ext cx="637500" cy="591357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32" name="圖片 31" descr="5&#10;&#10;AI 產生的內容可能不正確。">
              <a:extLst>
                <a:ext uri="{FF2B5EF4-FFF2-40B4-BE49-F238E27FC236}">
                  <a16:creationId xmlns:a16="http://schemas.microsoft.com/office/drawing/2014/main" id="{09F0D848-F54E-29AD-CF95-19445F851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1475" y="2209422"/>
              <a:ext cx="576000" cy="576000"/>
            </a:xfrm>
            <a:prstGeom prst="rect">
              <a:avLst/>
            </a:prstGeom>
          </p:spPr>
        </p:pic>
        <p:pic>
          <p:nvPicPr>
            <p:cNvPr id="34" name="圖片 33" descr="5&#10;&#10;AI 產生的內容可能不正確。">
              <a:extLst>
                <a:ext uri="{FF2B5EF4-FFF2-40B4-BE49-F238E27FC236}">
                  <a16:creationId xmlns:a16="http://schemas.microsoft.com/office/drawing/2014/main" id="{D97E4C2C-AEC4-6CEA-0D9A-40A62EF49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1475" y="1496341"/>
              <a:ext cx="576000" cy="576000"/>
            </a:xfrm>
            <a:prstGeom prst="rect">
              <a:avLst/>
            </a:prstGeom>
          </p:spPr>
        </p:pic>
        <p:pic>
          <p:nvPicPr>
            <p:cNvPr id="35" name="圖片 34" descr="6&#10;&#10;AI 產生的內容可能不正確。">
              <a:extLst>
                <a:ext uri="{FF2B5EF4-FFF2-40B4-BE49-F238E27FC236}">
                  <a16:creationId xmlns:a16="http://schemas.microsoft.com/office/drawing/2014/main" id="{D5D1FB87-B5F3-A273-A6EB-FD288FCBC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5390" y="1496341"/>
              <a:ext cx="576000" cy="576000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CAAA66DB-D683-960E-0AFC-14B9295C7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99885" y="1496341"/>
              <a:ext cx="576000" cy="576000"/>
            </a:xfrm>
            <a:prstGeom prst="rect">
              <a:avLst/>
            </a:prstGeom>
          </p:spPr>
        </p:pic>
        <p:pic>
          <p:nvPicPr>
            <p:cNvPr id="64" name="圖片 63" descr="7&#10;&#10;AI 產生的內容可能不正確。">
              <a:extLst>
                <a:ext uri="{FF2B5EF4-FFF2-40B4-BE49-F238E27FC236}">
                  <a16:creationId xmlns:a16="http://schemas.microsoft.com/office/drawing/2014/main" id="{7217B2FB-509B-A03F-D85C-98523C660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99885" y="2213569"/>
              <a:ext cx="576000" cy="576000"/>
            </a:xfrm>
            <a:prstGeom prst="rect">
              <a:avLst/>
            </a:prstGeom>
          </p:spPr>
        </p:pic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1F7790E2-143C-F8BA-F930-EE499CACD78E}"/>
                </a:ext>
              </a:extLst>
            </p:cNvPr>
            <p:cNvCxnSpPr>
              <a:cxnSpLocks/>
              <a:stCxn id="8" idx="1"/>
              <a:endCxn id="13" idx="6"/>
            </p:cNvCxnSpPr>
            <p:nvPr/>
          </p:nvCxnSpPr>
          <p:spPr>
            <a:xfrm flipH="1">
              <a:off x="8832140" y="747996"/>
              <a:ext cx="938154" cy="17613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2F1A445-909D-6CFD-6690-CC4E72A315C0}"/>
              </a:ext>
            </a:extLst>
          </p:cNvPr>
          <p:cNvSpPr txBox="1"/>
          <p:nvPr/>
        </p:nvSpPr>
        <p:spPr>
          <a:xfrm>
            <a:off x="609600" y="540063"/>
            <a:ext cx="63345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/>
              <a:t>Limitation of Single-label Conditioning</a:t>
            </a:r>
            <a:endParaRPr lang="zh-TW" altLang="en-US" sz="2400" b="1" dirty="0"/>
          </a:p>
        </p:txBody>
      </p:sp>
      <p:sp>
        <p:nvSpPr>
          <p:cNvPr id="24" name="文本框 25">
            <a:extLst>
              <a:ext uri="{FF2B5EF4-FFF2-40B4-BE49-F238E27FC236}">
                <a16:creationId xmlns:a16="http://schemas.microsoft.com/office/drawing/2014/main" id="{1905702B-3CD8-4CDD-DD79-C574233D7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36240" y="4061869"/>
            <a:ext cx="32210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ctr" eaLnBrk="1" hangingPunct="1"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+mn-lt"/>
              </a:rPr>
              <a:t>Inference Result</a:t>
            </a:r>
            <a:endParaRPr lang="en-US" altLang="zh-CN" sz="2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73B85F30-BD63-3702-07BC-0FECDCBD1E87}"/>
                  </a:ext>
                </a:extLst>
              </p:cNvPr>
              <p:cNvSpPr txBox="1"/>
              <p:nvPr/>
            </p:nvSpPr>
            <p:spPr>
              <a:xfrm>
                <a:off x="4822120" y="2147754"/>
                <a:ext cx="6985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/>
                  <a:t>Label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73B85F30-BD63-3702-07BC-0FECDCBD1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120" y="2147754"/>
                <a:ext cx="6985190" cy="369332"/>
              </a:xfrm>
              <a:prstGeom prst="rect">
                <a:avLst/>
              </a:prstGeom>
              <a:blipFill>
                <a:blip r:embed="rId9"/>
                <a:stretch>
                  <a:fillRect l="-698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文字方塊 48">
            <a:extLst>
              <a:ext uri="{FF2B5EF4-FFF2-40B4-BE49-F238E27FC236}">
                <a16:creationId xmlns:a16="http://schemas.microsoft.com/office/drawing/2014/main" id="{66648B13-393B-E23E-DDF6-9270A3322B92}"/>
              </a:ext>
            </a:extLst>
          </p:cNvPr>
          <p:cNvSpPr txBox="1"/>
          <p:nvPr/>
        </p:nvSpPr>
        <p:spPr>
          <a:xfrm>
            <a:off x="3954586" y="2589689"/>
            <a:ext cx="3698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1" dirty="0">
                <a:effectLst/>
                <a:latin typeface="KaTeX_Math"/>
              </a:rPr>
              <a:t>y</a:t>
            </a:r>
            <a:r>
              <a:rPr lang="en-US" altLang="zh-TW" sz="1400" b="0" i="0" dirty="0">
                <a:effectLst/>
                <a:latin typeface="KaTeX_Main"/>
              </a:rPr>
              <a:t>∈{White 5, White 6,…., Red 7}</a:t>
            </a:r>
            <a:endParaRPr lang="zh-TW" altLang="en-US" sz="1400" dirty="0"/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510B77E5-A40A-B281-4D35-FB76AA3BF1D6}"/>
              </a:ext>
            </a:extLst>
          </p:cNvPr>
          <p:cNvSpPr/>
          <p:nvPr/>
        </p:nvSpPr>
        <p:spPr>
          <a:xfrm>
            <a:off x="3017435" y="4866185"/>
            <a:ext cx="1422400" cy="6924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DiT</a:t>
            </a:r>
            <a:endParaRPr lang="zh-TW" altLang="en-US" sz="2800" b="1" dirty="0"/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1E43C107-B554-12C3-EF75-EB4F03A38988}"/>
              </a:ext>
            </a:extLst>
          </p:cNvPr>
          <p:cNvCxnSpPr>
            <a:cxnSpLocks/>
            <a:stCxn id="54" idx="3"/>
            <a:endCxn id="42" idx="1"/>
          </p:cNvCxnSpPr>
          <p:nvPr/>
        </p:nvCxnSpPr>
        <p:spPr>
          <a:xfrm>
            <a:off x="4439835" y="5212434"/>
            <a:ext cx="445906" cy="19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3FF2DE4D-C620-262D-4523-C4312E9050A4}"/>
              </a:ext>
            </a:extLst>
          </p:cNvPr>
          <p:cNvSpPr txBox="1"/>
          <p:nvPr/>
        </p:nvSpPr>
        <p:spPr>
          <a:xfrm>
            <a:off x="458236" y="4760929"/>
            <a:ext cx="7070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Input condition:</a:t>
            </a:r>
            <a:endParaRPr lang="zh-TW" altLang="en-US" dirty="0"/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85F26C2E-757D-99B0-36B9-5F4E70D03664}"/>
              </a:ext>
            </a:extLst>
          </p:cNvPr>
          <p:cNvSpPr txBox="1"/>
          <p:nvPr/>
        </p:nvSpPr>
        <p:spPr>
          <a:xfrm>
            <a:off x="98675" y="5063976"/>
            <a:ext cx="369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1" dirty="0">
                <a:effectLst/>
                <a:latin typeface="KaTeX_Math"/>
              </a:rPr>
              <a:t>y</a:t>
            </a:r>
            <a:r>
              <a:rPr lang="en-US" altLang="zh-TW" sz="1400" b="0" i="0" dirty="0">
                <a:effectLst/>
                <a:latin typeface="KaTeX_Main"/>
              </a:rPr>
              <a:t>∈{White 5, White 6, White 7, </a:t>
            </a:r>
          </a:p>
          <a:p>
            <a:r>
              <a:rPr lang="en-US" altLang="zh-TW" sz="1400" dirty="0">
                <a:latin typeface="KaTeX_Main"/>
              </a:rPr>
              <a:t>      </a:t>
            </a:r>
            <a:r>
              <a:rPr lang="en-US" altLang="zh-TW" sz="1400" b="0" i="0" dirty="0">
                <a:effectLst/>
                <a:latin typeface="KaTeX_Main"/>
              </a:rPr>
              <a:t>Red 5</a:t>
            </a:r>
            <a:r>
              <a:rPr lang="en-US" altLang="zh-TW" sz="1400" dirty="0">
                <a:latin typeface="KaTeX_Main"/>
              </a:rPr>
              <a:t> , Red 6</a:t>
            </a:r>
            <a:r>
              <a:rPr lang="en-US" altLang="zh-TW" sz="1400" b="0" i="0" dirty="0">
                <a:effectLst/>
                <a:latin typeface="KaTeX_Main"/>
              </a:rPr>
              <a:t>, Red 7}</a:t>
            </a:r>
            <a:endParaRPr lang="zh-TW" altLang="en-US" sz="1400" dirty="0"/>
          </a:p>
        </p:txBody>
      </p: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50EF9FB9-24C1-2772-FC16-57CBBC39F3BD}"/>
              </a:ext>
            </a:extLst>
          </p:cNvPr>
          <p:cNvCxnSpPr>
            <a:cxnSpLocks/>
          </p:cNvCxnSpPr>
          <p:nvPr/>
        </p:nvCxnSpPr>
        <p:spPr>
          <a:xfrm>
            <a:off x="2571529" y="5233553"/>
            <a:ext cx="445906" cy="19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7D570C44-9EBC-9310-C2E4-051F2BA70AC3}"/>
              </a:ext>
            </a:extLst>
          </p:cNvPr>
          <p:cNvSpPr/>
          <p:nvPr/>
        </p:nvSpPr>
        <p:spPr>
          <a:xfrm>
            <a:off x="1975601" y="2650047"/>
            <a:ext cx="595928" cy="569377"/>
          </a:xfrm>
          <a:prstGeom prst="rect">
            <a:avLst/>
          </a:prstGeom>
          <a:noFill/>
          <a:ln w="38100">
            <a:solidFill>
              <a:srgbClr val="A5A5A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A048B42E-26F8-DF27-6592-50882F376357}"/>
              </a:ext>
            </a:extLst>
          </p:cNvPr>
          <p:cNvSpPr txBox="1"/>
          <p:nvPr/>
        </p:nvSpPr>
        <p:spPr>
          <a:xfrm>
            <a:off x="1889483" y="2750480"/>
            <a:ext cx="817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Missing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cxnSp>
        <p:nvCxnSpPr>
          <p:cNvPr id="98" name="直線單箭頭接點 97">
            <a:extLst>
              <a:ext uri="{FF2B5EF4-FFF2-40B4-BE49-F238E27FC236}">
                <a16:creationId xmlns:a16="http://schemas.microsoft.com/office/drawing/2014/main" id="{50039BE8-D250-4192-C013-4F2C304C7B67}"/>
              </a:ext>
            </a:extLst>
          </p:cNvPr>
          <p:cNvCxnSpPr>
            <a:cxnSpLocks/>
            <a:endCxn id="100" idx="1"/>
          </p:cNvCxnSpPr>
          <p:nvPr/>
        </p:nvCxnSpPr>
        <p:spPr>
          <a:xfrm flipV="1">
            <a:off x="8123910" y="2512835"/>
            <a:ext cx="1183320" cy="85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矩形: 圓角 99">
            <a:extLst>
              <a:ext uri="{FF2B5EF4-FFF2-40B4-BE49-F238E27FC236}">
                <a16:creationId xmlns:a16="http://schemas.microsoft.com/office/drawing/2014/main" id="{67E785C3-4601-8219-B91D-35DC8E94522C}"/>
              </a:ext>
            </a:extLst>
          </p:cNvPr>
          <p:cNvSpPr/>
          <p:nvPr/>
        </p:nvSpPr>
        <p:spPr>
          <a:xfrm>
            <a:off x="9307230" y="2166586"/>
            <a:ext cx="1422400" cy="6924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DiT</a:t>
            </a:r>
            <a:endParaRPr lang="zh-TW" altLang="en-US" sz="2800" b="1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037F4DE1-46AB-CA26-E153-BDE244D2996A}"/>
              </a:ext>
            </a:extLst>
          </p:cNvPr>
          <p:cNvSpPr/>
          <p:nvPr/>
        </p:nvSpPr>
        <p:spPr>
          <a:xfrm>
            <a:off x="6713126" y="1801091"/>
            <a:ext cx="1410784" cy="1214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bg1"/>
                </a:solidFill>
              </a:rPr>
              <a:t>DiT</a:t>
            </a:r>
          </a:p>
          <a:p>
            <a:pPr algn="ctr"/>
            <a:r>
              <a:rPr lang="en-US" altLang="zh-TW" sz="2400" b="1" dirty="0">
                <a:solidFill>
                  <a:schemeClr val="bg1"/>
                </a:solidFill>
              </a:rPr>
              <a:t>Training  process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6340436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ED35F-DC0D-737E-E8CB-E6B9B055C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07F869-421E-8DD6-3D20-335689ADB0D0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910EB5-5262-0F68-4026-2775F0C8AF56}"/>
              </a:ext>
            </a:extLst>
          </p:cNvPr>
          <p:cNvSpPr/>
          <p:nvPr/>
        </p:nvSpPr>
        <p:spPr>
          <a:xfrm>
            <a:off x="4937760" y="254000"/>
            <a:ext cx="7254240" cy="2573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C09FD7-4259-81AF-C2A6-9407D9836E54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24E2D61-A632-E57E-86D9-24C306045586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126">
            <a:extLst>
              <a:ext uri="{FF2B5EF4-FFF2-40B4-BE49-F238E27FC236}">
                <a16:creationId xmlns:a16="http://schemas.microsoft.com/office/drawing/2014/main" id="{BF98F927-CCE5-6221-7208-376730C34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2779" y="6478121"/>
            <a:ext cx="42036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600" dirty="0">
                <a:latin typeface="+mj-lt"/>
              </a:rPr>
              <a:t>7</a:t>
            </a:r>
            <a:endParaRPr lang="zh-CN" altLang="en-US" sz="2600" dirty="0">
              <a:latin typeface="+mj-lt"/>
            </a:endParaRP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06E9722E-A73B-67D4-A79A-DD4B14DB05E5}"/>
              </a:ext>
            </a:extLst>
          </p:cNvPr>
          <p:cNvSpPr/>
          <p:nvPr/>
        </p:nvSpPr>
        <p:spPr>
          <a:xfrm>
            <a:off x="9248576" y="1923564"/>
            <a:ext cx="1725504" cy="13443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Compositional Conditional </a:t>
            </a:r>
          </a:p>
          <a:p>
            <a:pPr algn="ctr"/>
            <a:r>
              <a:rPr lang="en-US" altLang="zh-TW" sz="2800" b="1" dirty="0"/>
              <a:t>DiT</a:t>
            </a:r>
            <a:endParaRPr lang="zh-TW" altLang="en-US" sz="5400" b="1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94A6B08-C1B0-C56C-728B-CE4D9B221839}"/>
              </a:ext>
            </a:extLst>
          </p:cNvPr>
          <p:cNvSpPr/>
          <p:nvPr/>
        </p:nvSpPr>
        <p:spPr>
          <a:xfrm>
            <a:off x="703196" y="1760051"/>
            <a:ext cx="3159760" cy="1744321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780A9A8B-D294-3F92-8E67-A7B4B0B50FF3}"/>
              </a:ext>
            </a:extLst>
          </p:cNvPr>
          <p:cNvCxnSpPr>
            <a:cxnSpLocks/>
            <a:stCxn id="51" idx="3"/>
            <a:endCxn id="54" idx="1"/>
          </p:cNvCxnSpPr>
          <p:nvPr/>
        </p:nvCxnSpPr>
        <p:spPr>
          <a:xfrm flipV="1">
            <a:off x="3862956" y="2601174"/>
            <a:ext cx="2988095" cy="310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B4E6F0C0-5FFC-E12F-280F-509907B86549}"/>
              </a:ext>
            </a:extLst>
          </p:cNvPr>
          <p:cNvSpPr/>
          <p:nvPr/>
        </p:nvSpPr>
        <p:spPr>
          <a:xfrm>
            <a:off x="5433667" y="4386296"/>
            <a:ext cx="3159760" cy="1744321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本框 25">
            <a:extLst>
              <a:ext uri="{FF2B5EF4-FFF2-40B4-BE49-F238E27FC236}">
                <a16:creationId xmlns:a16="http://schemas.microsoft.com/office/drawing/2014/main" id="{4F54B6E2-1383-EBA3-5FB2-8B50F3310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956" y="3548277"/>
            <a:ext cx="36982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+mn-lt"/>
              </a:rPr>
              <a:t>Train dataset</a:t>
            </a:r>
            <a:endParaRPr lang="zh-CN" altLang="en-US" sz="1600" dirty="0">
              <a:latin typeface="+mn-lt"/>
            </a:endParaRPr>
          </a:p>
        </p:txBody>
      </p:sp>
      <p:sp>
        <p:nvSpPr>
          <p:cNvPr id="61" name="文本框 25">
            <a:extLst>
              <a:ext uri="{FF2B5EF4-FFF2-40B4-BE49-F238E27FC236}">
                <a16:creationId xmlns:a16="http://schemas.microsoft.com/office/drawing/2014/main" id="{D84B6481-B2AA-3C2A-C708-DED75CDF9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427" y="6129385"/>
            <a:ext cx="36982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1600" dirty="0">
                <a:latin typeface="+mn-lt"/>
              </a:rPr>
              <a:t>Generated image</a:t>
            </a:r>
            <a:endParaRPr lang="zh-CN" altLang="en-US" sz="1600" dirty="0">
              <a:latin typeface="+mn-lt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B1EF28E7-13FD-006A-D76B-330AD189A8E8}"/>
              </a:ext>
            </a:extLst>
          </p:cNvPr>
          <p:cNvSpPr/>
          <p:nvPr/>
        </p:nvSpPr>
        <p:spPr>
          <a:xfrm>
            <a:off x="6759287" y="5216153"/>
            <a:ext cx="825720" cy="78396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文本框 25">
            <a:extLst>
              <a:ext uri="{FF2B5EF4-FFF2-40B4-BE49-F238E27FC236}">
                <a16:creationId xmlns:a16="http://schemas.microsoft.com/office/drawing/2014/main" id="{97D67C06-2065-E899-DACA-4CFA4FC45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1327" y="3987260"/>
            <a:ext cx="49856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+mn-lt"/>
              </a:rPr>
              <a:t>Generating unseen images outperforms the original DiT.</a:t>
            </a:r>
            <a:endParaRPr lang="zh-CN" altLang="en-US" sz="1600" dirty="0">
              <a:latin typeface="+mn-lt"/>
            </a:endParaRPr>
          </a:p>
        </p:txBody>
      </p:sp>
      <p:sp>
        <p:nvSpPr>
          <p:cNvPr id="6" name="文本框 25">
            <a:extLst>
              <a:ext uri="{FF2B5EF4-FFF2-40B4-BE49-F238E27FC236}">
                <a16:creationId xmlns:a16="http://schemas.microsoft.com/office/drawing/2014/main" id="{3BF16FC1-2E1F-837A-F1F3-F25FBE29C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8249" y="5532834"/>
            <a:ext cx="34200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dirty="0">
                <a:solidFill>
                  <a:srgbClr val="FF0000"/>
                </a:solidFill>
                <a:latin typeface="+mn-lt"/>
              </a:rPr>
              <a:t>Problem :</a:t>
            </a:r>
          </a:p>
          <a:p>
            <a:r>
              <a:rPr lang="en-US" altLang="zh-TW" sz="1600" dirty="0">
                <a:latin typeface="+mn-lt"/>
              </a:rPr>
              <a:t>Some generated images are correct, </a:t>
            </a:r>
          </a:p>
          <a:p>
            <a:r>
              <a:rPr lang="en-US" altLang="zh-TW" sz="1600" dirty="0">
                <a:latin typeface="+mn-lt"/>
              </a:rPr>
              <a:t>while others contain noticeable errors</a:t>
            </a:r>
            <a:r>
              <a:rPr lang="en-US" altLang="zh-TW" sz="1400" dirty="0">
                <a:latin typeface="+mn-lt"/>
              </a:rPr>
              <a:t>.</a:t>
            </a:r>
            <a:endParaRPr lang="zh-CN" altLang="en-US" sz="1400" dirty="0">
              <a:latin typeface="+mn-lt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F532EFF9-2972-62FD-2E15-9444C018E857}"/>
              </a:ext>
            </a:extLst>
          </p:cNvPr>
          <p:cNvCxnSpPr>
            <a:cxnSpLocks/>
            <a:stCxn id="62" idx="5"/>
            <a:endCxn id="6" idx="1"/>
          </p:cNvCxnSpPr>
          <p:nvPr/>
        </p:nvCxnSpPr>
        <p:spPr>
          <a:xfrm>
            <a:off x="7464083" y="5885312"/>
            <a:ext cx="1374166" cy="630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5" name="圖片 64">
            <a:extLst>
              <a:ext uri="{FF2B5EF4-FFF2-40B4-BE49-F238E27FC236}">
                <a16:creationId xmlns:a16="http://schemas.microsoft.com/office/drawing/2014/main" id="{66FA692B-FB0B-B7F0-03AE-665F6CA3A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5917" y="2718869"/>
            <a:ext cx="576000" cy="576000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4D38AFA1-FFC3-F254-C16F-8D66C79A93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5917" y="2005788"/>
            <a:ext cx="576000" cy="576000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53FB2AEC-968E-8A2C-BFCF-EBECBE458D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9832" y="2005788"/>
            <a:ext cx="576000" cy="576000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7CEE408D-5D71-F730-02AB-560F6175A6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44327" y="2005788"/>
            <a:ext cx="576000" cy="576000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3E1C7A40-8901-272E-8CE6-24C4FA2355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44327" y="2723016"/>
            <a:ext cx="576000" cy="576000"/>
          </a:xfrm>
          <a:prstGeom prst="rect">
            <a:avLst/>
          </a:prstGeom>
        </p:spPr>
      </p:pic>
      <p:pic>
        <p:nvPicPr>
          <p:cNvPr id="79" name="圖片 78">
            <a:extLst>
              <a:ext uri="{FF2B5EF4-FFF2-40B4-BE49-F238E27FC236}">
                <a16:creationId xmlns:a16="http://schemas.microsoft.com/office/drawing/2014/main" id="{8429B042-B7D4-5CE5-7D77-2BEEC22F7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7136" y="5302805"/>
            <a:ext cx="576000" cy="576000"/>
          </a:xfrm>
          <a:prstGeom prst="rect">
            <a:avLst/>
          </a:prstGeom>
        </p:spPr>
      </p:pic>
      <p:pic>
        <p:nvPicPr>
          <p:cNvPr id="80" name="圖片 79">
            <a:extLst>
              <a:ext uri="{FF2B5EF4-FFF2-40B4-BE49-F238E27FC236}">
                <a16:creationId xmlns:a16="http://schemas.microsoft.com/office/drawing/2014/main" id="{42DFAE16-3069-5894-04F4-4C17054FFB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7136" y="4589724"/>
            <a:ext cx="576000" cy="576000"/>
          </a:xfrm>
          <a:prstGeom prst="rect">
            <a:avLst/>
          </a:prstGeom>
        </p:spPr>
      </p:pic>
      <p:pic>
        <p:nvPicPr>
          <p:cNvPr id="81" name="圖片 80">
            <a:extLst>
              <a:ext uri="{FF2B5EF4-FFF2-40B4-BE49-F238E27FC236}">
                <a16:creationId xmlns:a16="http://schemas.microsoft.com/office/drawing/2014/main" id="{1A6CB252-0B5E-2653-1309-9C5D9F814C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1051" y="4589724"/>
            <a:ext cx="576000" cy="576000"/>
          </a:xfrm>
          <a:prstGeom prst="rect">
            <a:avLst/>
          </a:prstGeom>
        </p:spPr>
      </p:pic>
      <p:pic>
        <p:nvPicPr>
          <p:cNvPr id="82" name="圖片 81">
            <a:extLst>
              <a:ext uri="{FF2B5EF4-FFF2-40B4-BE49-F238E27FC236}">
                <a16:creationId xmlns:a16="http://schemas.microsoft.com/office/drawing/2014/main" id="{932BAEEF-3C06-E5AB-C3F2-7F753E5C93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25546" y="4589724"/>
            <a:ext cx="576000" cy="576000"/>
          </a:xfrm>
          <a:prstGeom prst="rect">
            <a:avLst/>
          </a:prstGeom>
        </p:spPr>
      </p:pic>
      <p:pic>
        <p:nvPicPr>
          <p:cNvPr id="84" name="圖片 83">
            <a:extLst>
              <a:ext uri="{FF2B5EF4-FFF2-40B4-BE49-F238E27FC236}">
                <a16:creationId xmlns:a16="http://schemas.microsoft.com/office/drawing/2014/main" id="{F087AC59-481C-CD5E-96F6-0445D91499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25546" y="5306952"/>
            <a:ext cx="576000" cy="576000"/>
          </a:xfrm>
          <a:prstGeom prst="rect">
            <a:avLst/>
          </a:prstGeom>
        </p:spPr>
      </p:pic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93D5BC7F-0D0E-2B7A-D706-7BCADF61D88D}"/>
              </a:ext>
            </a:extLst>
          </p:cNvPr>
          <p:cNvCxnSpPr>
            <a:cxnSpLocks/>
            <a:endCxn id="62" idx="7"/>
          </p:cNvCxnSpPr>
          <p:nvPr/>
        </p:nvCxnSpPr>
        <p:spPr>
          <a:xfrm flipH="1">
            <a:off x="7464083" y="4361764"/>
            <a:ext cx="1487964" cy="96919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5" name="圖形 8">
            <a:extLst>
              <a:ext uri="{FF2B5EF4-FFF2-40B4-BE49-F238E27FC236}">
                <a16:creationId xmlns:a16="http://schemas.microsoft.com/office/drawing/2014/main" id="{9B3D4C67-B862-FD0B-EAF3-FDA49027EC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66948" y="5306952"/>
            <a:ext cx="576000" cy="576000"/>
          </a:xfrm>
          <a:prstGeom prst="rect">
            <a:avLst/>
          </a:prstGeom>
        </p:spPr>
      </p:pic>
      <p:sp>
        <p:nvSpPr>
          <p:cNvPr id="12" name="文本框 25">
            <a:extLst>
              <a:ext uri="{FF2B5EF4-FFF2-40B4-BE49-F238E27FC236}">
                <a16:creationId xmlns:a16="http://schemas.microsoft.com/office/drawing/2014/main" id="{ED2D3108-6BFB-23FC-FE45-2FD17E38D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613599" y="1203155"/>
            <a:ext cx="804837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ctr" eaLnBrk="1" hangingPunct="1"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+mn-lt"/>
              </a:rPr>
              <a:t>Training</a:t>
            </a:r>
            <a:r>
              <a:rPr lang="en-US" altLang="zh-CN" sz="2000" dirty="0">
                <a:latin typeface="+mn-lt"/>
              </a:rPr>
              <a:t>: Compositional Conditional DiT</a:t>
            </a:r>
          </a:p>
          <a:p>
            <a:pPr marL="342900" indent="-342900" algn="ctr" eaLnBrk="1" hangingPunct="1">
              <a:buFont typeface="Wingdings" panose="05000000000000000000" pitchFamily="2" charset="2"/>
              <a:buChar char="Ø"/>
            </a:pPr>
            <a:endParaRPr lang="en-US" altLang="zh-CN" sz="2000" dirty="0">
              <a:latin typeface="+mn-lt"/>
            </a:endParaRPr>
          </a:p>
        </p:txBody>
      </p:sp>
      <p:sp>
        <p:nvSpPr>
          <p:cNvPr id="19" name="文本框 25">
            <a:extLst>
              <a:ext uri="{FF2B5EF4-FFF2-40B4-BE49-F238E27FC236}">
                <a16:creationId xmlns:a16="http://schemas.microsoft.com/office/drawing/2014/main" id="{272CE15A-F0D4-8C93-DEC3-18DAE7BC2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26528" y="4066197"/>
            <a:ext cx="32210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ctr" eaLnBrk="1" hangingPunct="1"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+mn-lt"/>
              </a:rPr>
              <a:t>Inference Result</a:t>
            </a:r>
            <a:endParaRPr lang="en-US" altLang="zh-CN" sz="2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1685D9E-4998-8E13-54EC-698B814CA912}"/>
                  </a:ext>
                </a:extLst>
              </p:cNvPr>
              <p:cNvSpPr txBox="1"/>
              <p:nvPr/>
            </p:nvSpPr>
            <p:spPr>
              <a:xfrm>
                <a:off x="4427910" y="1934561"/>
                <a:ext cx="225789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br>
                  <a:rPr lang="ar-AE" altLang="zh-TW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dirty="0"/>
                          <m:t>Label</m:t>
                        </m:r>
                        <m:r>
                          <a:rPr lang="zh-TW" alt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altLang="zh-TW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/>
                  <a:t>、</a:t>
                </a:r>
                <a:r>
                  <a:rPr lang="en-US" altLang="zh-TW" dirty="0"/>
                  <a:t> Label</a:t>
                </a:r>
                <a:r>
                  <a:rPr lang="ar-AE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1685D9E-4998-8E13-54EC-698B814CA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10" y="1934561"/>
                <a:ext cx="2257896" cy="646331"/>
              </a:xfrm>
              <a:prstGeom prst="rect">
                <a:avLst/>
              </a:prstGeom>
              <a:blipFill>
                <a:blip r:embed="rId9"/>
                <a:stretch>
                  <a:fillRect b="-150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B2C782F-735E-9A30-F877-0FE3E8271F08}"/>
                  </a:ext>
                </a:extLst>
              </p:cNvPr>
              <p:cNvSpPr txBox="1"/>
              <p:nvPr/>
            </p:nvSpPr>
            <p:spPr>
              <a:xfrm>
                <a:off x="4369905" y="2697536"/>
                <a:ext cx="69938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ar-AE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altLang="zh-TW" sz="1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400" b="0" i="0" dirty="0">
                    <a:solidFill>
                      <a:schemeClr val="tx1"/>
                    </a:solidFill>
                    <a:effectLst/>
                    <a:latin typeface="pplxSerif"/>
                  </a:rPr>
                  <a:t>: color </a:t>
                </a:r>
                <a14:m>
                  <m:oMath xmlns:m="http://schemas.openxmlformats.org/officeDocument/2006/math">
                    <m:r>
                      <a:rPr lang="en-US" altLang="zh-TW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ar-AE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14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White</m:t>
                        </m:r>
                        <m:r>
                          <m:rPr>
                            <m:nor/>
                          </m:rPr>
                          <a:rPr lang="en-US" altLang="zh-TW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altLang="zh-TW" sz="14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Red</m:t>
                        </m:r>
                      </m:e>
                    </m:d>
                  </m:oMath>
                </a14:m>
                <a:endParaRPr lang="ar-AE" altLang="zh-TW" sz="1400" b="0" i="0" dirty="0">
                  <a:solidFill>
                    <a:schemeClr val="tx1"/>
                  </a:solidFill>
                  <a:effectLst/>
                  <a:latin typeface="pplxSerif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ar-AE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1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400" b="0" i="0" dirty="0">
                    <a:solidFill>
                      <a:schemeClr val="tx1"/>
                    </a:solidFill>
                    <a:effectLst/>
                    <a:latin typeface="pplxSerif"/>
                  </a:rPr>
                  <a:t>: digit </a:t>
                </a:r>
                <a14:m>
                  <m:oMath xmlns:m="http://schemas.openxmlformats.org/officeDocument/2006/math">
                    <m:r>
                      <a:rPr lang="en-US" altLang="zh-TW" sz="1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TW" sz="1400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TW" sz="1400" b="0" i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1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1400" b="0" i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TW" sz="1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1400" b="0" i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zh-TW" sz="1400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altLang="zh-TW" sz="1400" b="0" i="0" dirty="0">
                  <a:solidFill>
                    <a:srgbClr val="D6D5D4"/>
                  </a:solidFill>
                  <a:effectLst/>
                  <a:latin typeface="pplxSerif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B2C782F-735E-9A30-F877-0FE3E8271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905" y="2697536"/>
                <a:ext cx="6993834" cy="523220"/>
              </a:xfrm>
              <a:prstGeom prst="rect">
                <a:avLst/>
              </a:prstGeom>
              <a:blipFill>
                <a:blip r:embed="rId10"/>
                <a:stretch>
                  <a:fillRect t="-1176" b="-129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88D8ED28-C74B-D638-211E-632441F016C3}"/>
              </a:ext>
            </a:extLst>
          </p:cNvPr>
          <p:cNvCxnSpPr>
            <a:cxnSpLocks/>
            <a:stCxn id="46" idx="3"/>
            <a:endCxn id="59" idx="1"/>
          </p:cNvCxnSpPr>
          <p:nvPr/>
        </p:nvCxnSpPr>
        <p:spPr>
          <a:xfrm flipV="1">
            <a:off x="4742939" y="5258457"/>
            <a:ext cx="690728" cy="19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5FAE6D74-B7FD-D2B6-3EDA-8342A31BA0BD}"/>
              </a:ext>
            </a:extLst>
          </p:cNvPr>
          <p:cNvSpPr txBox="1"/>
          <p:nvPr/>
        </p:nvSpPr>
        <p:spPr>
          <a:xfrm>
            <a:off x="458236" y="4760929"/>
            <a:ext cx="7070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Input condition: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7513AE1-2CFB-76D6-E7A3-77AAB7316661}"/>
                  </a:ext>
                </a:extLst>
              </p:cNvPr>
              <p:cNvSpPr txBox="1"/>
              <p:nvPr/>
            </p:nvSpPr>
            <p:spPr>
              <a:xfrm>
                <a:off x="408712" y="5070633"/>
                <a:ext cx="36982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ar-AE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altLang="zh-TW" sz="1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400" dirty="0"/>
                  <a:t> </a:t>
                </a:r>
                <a14:m>
                  <m:oMath xmlns:m="http://schemas.openxmlformats.org/officeDocument/2006/math">
                    <m:r>
                      <a:rPr lang="en-US" altLang="zh-TW" sz="14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ar-AE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1400"/>
                          <m:t>White</m:t>
                        </m:r>
                        <m:r>
                          <m:rPr>
                            <m:nor/>
                          </m:rPr>
                          <a:rPr lang="en-US" altLang="zh-TW" sz="1400" i="1"/>
                          <m:t>, </m:t>
                        </m:r>
                        <m:r>
                          <m:rPr>
                            <m:nor/>
                          </m:rPr>
                          <a:rPr lang="en-US" altLang="zh-TW" sz="1400"/>
                          <m:t>Red</m:t>
                        </m:r>
                      </m:e>
                    </m:d>
                  </m:oMath>
                </a14:m>
                <a:endParaRPr lang="ar-AE" altLang="zh-TW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ar-AE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1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400" dirty="0"/>
                  <a:t> </a:t>
                </a:r>
                <a14:m>
                  <m:oMath xmlns:m="http://schemas.openxmlformats.org/officeDocument/2006/math">
                    <m:r>
                      <a:rPr lang="en-US" altLang="zh-TW" sz="1400"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altLang="zh-TW" sz="140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1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14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TW" sz="1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140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zh-TW" sz="14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altLang="zh-TW" sz="14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7513AE1-2CFB-76D6-E7A3-77AAB7316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12" y="5070633"/>
                <a:ext cx="3698240" cy="523220"/>
              </a:xfrm>
              <a:prstGeom prst="rect">
                <a:avLst/>
              </a:prstGeom>
              <a:blipFill>
                <a:blip r:embed="rId1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524975FB-E961-1CA0-B01D-18560D5DC13B}"/>
              </a:ext>
            </a:extLst>
          </p:cNvPr>
          <p:cNvCxnSpPr>
            <a:cxnSpLocks/>
          </p:cNvCxnSpPr>
          <p:nvPr/>
        </p:nvCxnSpPr>
        <p:spPr>
          <a:xfrm>
            <a:off x="2571529" y="5233553"/>
            <a:ext cx="445906" cy="19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06E9722E-A73B-67D4-A79A-DD4B14DB05E5}"/>
              </a:ext>
            </a:extLst>
          </p:cNvPr>
          <p:cNvSpPr/>
          <p:nvPr/>
        </p:nvSpPr>
        <p:spPr>
          <a:xfrm>
            <a:off x="3017435" y="4588260"/>
            <a:ext cx="1725504" cy="13443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Compositional Conditional </a:t>
            </a:r>
          </a:p>
          <a:p>
            <a:pPr algn="ctr"/>
            <a:r>
              <a:rPr lang="en-US" altLang="zh-TW" sz="2800" b="1" dirty="0"/>
              <a:t>DiT</a:t>
            </a:r>
            <a:endParaRPr lang="zh-TW" altLang="en-US" sz="5400" b="1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ABC0F59-D6F0-52EF-CD10-1FC0B8F60B95}"/>
              </a:ext>
            </a:extLst>
          </p:cNvPr>
          <p:cNvSpPr/>
          <p:nvPr/>
        </p:nvSpPr>
        <p:spPr>
          <a:xfrm>
            <a:off x="1975601" y="2760067"/>
            <a:ext cx="595928" cy="569377"/>
          </a:xfrm>
          <a:prstGeom prst="rect">
            <a:avLst/>
          </a:prstGeom>
          <a:noFill/>
          <a:ln w="38100">
            <a:solidFill>
              <a:srgbClr val="A5A5A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2E893E6B-578C-7B8F-5C62-078B9F550A9B}"/>
              </a:ext>
            </a:extLst>
          </p:cNvPr>
          <p:cNvSpPr txBox="1"/>
          <p:nvPr/>
        </p:nvSpPr>
        <p:spPr>
          <a:xfrm>
            <a:off x="1889483" y="2860500"/>
            <a:ext cx="817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Missing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621F30B-F62E-FB3A-CBE5-7D089A0A0095}"/>
              </a:ext>
            </a:extLst>
          </p:cNvPr>
          <p:cNvSpPr/>
          <p:nvPr/>
        </p:nvSpPr>
        <p:spPr>
          <a:xfrm>
            <a:off x="6851051" y="1806253"/>
            <a:ext cx="1798410" cy="15898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</a:rPr>
              <a:t>Compositional Conditional </a:t>
            </a:r>
          </a:p>
          <a:p>
            <a:pPr algn="ctr"/>
            <a:r>
              <a:rPr lang="en-US" altLang="zh-TW" sz="2400" b="1" dirty="0">
                <a:solidFill>
                  <a:schemeClr val="bg1"/>
                </a:solidFill>
              </a:rPr>
              <a:t>DiT</a:t>
            </a:r>
          </a:p>
          <a:p>
            <a:pPr algn="ctr"/>
            <a:r>
              <a:rPr lang="en-US" altLang="zh-TW" sz="2400" b="1" dirty="0">
                <a:solidFill>
                  <a:schemeClr val="bg1"/>
                </a:solidFill>
              </a:rPr>
              <a:t>Training  process</a:t>
            </a:r>
            <a:endParaRPr lang="zh-TW" altLang="en-US" sz="2400" b="1" dirty="0"/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9D3AA8A0-1BE4-7896-EAFD-6F7EB550680C}"/>
              </a:ext>
            </a:extLst>
          </p:cNvPr>
          <p:cNvCxnSpPr>
            <a:cxnSpLocks/>
            <a:stCxn id="54" idx="3"/>
            <a:endCxn id="45" idx="1"/>
          </p:cNvCxnSpPr>
          <p:nvPr/>
        </p:nvCxnSpPr>
        <p:spPr>
          <a:xfrm flipV="1">
            <a:off x="8649461" y="2595743"/>
            <a:ext cx="599115" cy="54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3E8DD81C-D6D5-CF89-D0E9-FF7FE3AF2B90}"/>
              </a:ext>
            </a:extLst>
          </p:cNvPr>
          <p:cNvSpPr txBox="1"/>
          <p:nvPr/>
        </p:nvSpPr>
        <p:spPr>
          <a:xfrm>
            <a:off x="609600" y="529363"/>
            <a:ext cx="8314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/>
              <a:t>Our previous solution for the limitation </a:t>
            </a:r>
            <a:endParaRPr lang="zh-TW" altLang="en-US" sz="2400" b="1" dirty="0"/>
          </a:p>
        </p:txBody>
      </p:sp>
      <p:sp>
        <p:nvSpPr>
          <p:cNvPr id="76" name="文本框 3">
            <a:extLst>
              <a:ext uri="{FF2B5EF4-FFF2-40B4-BE49-F238E27FC236}">
                <a16:creationId xmlns:a16="http://schemas.microsoft.com/office/drawing/2014/main" id="{A76970E0-ED24-731D-3F64-8AEA14DE6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0674"/>
            <a:ext cx="463296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 motivation</a:t>
            </a:r>
          </a:p>
        </p:txBody>
      </p:sp>
    </p:spTree>
    <p:extLst>
      <p:ext uri="{BB962C8B-B14F-4D97-AF65-F5344CB8AC3E}">
        <p14:creationId xmlns:p14="http://schemas.microsoft.com/office/powerpoint/2010/main" val="75341996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FE855-DC82-4562-EDBB-0421A9F8A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E308DC-C963-1C54-802C-B279AFF7928A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D0E2C9-B357-A6D8-CBE9-79A60DA878B4}"/>
              </a:ext>
            </a:extLst>
          </p:cNvPr>
          <p:cNvSpPr/>
          <p:nvPr/>
        </p:nvSpPr>
        <p:spPr>
          <a:xfrm>
            <a:off x="4947920" y="254000"/>
            <a:ext cx="724408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5B11E5-17AA-4518-90E3-42178577B8F5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9D7E39-F2BD-D21C-336F-29F584DE0100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" name="文本框 3">
            <a:extLst>
              <a:ext uri="{FF2B5EF4-FFF2-40B4-BE49-F238E27FC236}">
                <a16:creationId xmlns:a16="http://schemas.microsoft.com/office/drawing/2014/main" id="{B437FE99-D452-72BD-91BC-D9AFF95C7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0674"/>
            <a:ext cx="463296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 motivation</a:t>
            </a:r>
          </a:p>
        </p:txBody>
      </p:sp>
      <p:sp>
        <p:nvSpPr>
          <p:cNvPr id="6" name="文本框 25">
            <a:extLst>
              <a:ext uri="{FF2B5EF4-FFF2-40B4-BE49-F238E27FC236}">
                <a16:creationId xmlns:a16="http://schemas.microsoft.com/office/drawing/2014/main" id="{4D652175-84AE-6738-97F4-A18862940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5838" y="4179246"/>
            <a:ext cx="1037537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en-US" altLang="zh-TW" sz="1800" dirty="0">
                <a:latin typeface="+mn-lt"/>
              </a:rPr>
              <a:t>Compositional Conditional DiT may generate images that do not satisfy</a:t>
            </a:r>
            <a:r>
              <a:rPr lang="zh-TW" altLang="en-US" sz="1800" dirty="0">
                <a:latin typeface="+mn-lt"/>
              </a:rPr>
              <a:t> </a:t>
            </a:r>
            <a:r>
              <a:rPr lang="en-US" altLang="zh-TW" sz="1800" dirty="0">
                <a:latin typeface="+mn-lt"/>
              </a:rPr>
              <a:t>our purpose.</a:t>
            </a:r>
          </a:p>
          <a:p>
            <a:r>
              <a:rPr lang="en-US" altLang="zh-TW" sz="1800" dirty="0">
                <a:latin typeface="+mn-lt"/>
              </a:rPr>
              <a:t>The ratio of good image may be low.</a:t>
            </a:r>
            <a:endParaRPr lang="zh-TW" altLang="en-US" sz="1800" dirty="0">
              <a:latin typeface="+mn-lt"/>
            </a:endParaRPr>
          </a:p>
        </p:txBody>
      </p:sp>
      <p:pic>
        <p:nvPicPr>
          <p:cNvPr id="9" name="圖形 8">
            <a:extLst>
              <a:ext uri="{FF2B5EF4-FFF2-40B4-BE49-F238E27FC236}">
                <a16:creationId xmlns:a16="http://schemas.microsoft.com/office/drawing/2014/main" id="{4733F6BC-636C-372A-06E8-E4960908A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5396" y="2583131"/>
            <a:ext cx="576000" cy="57600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EDCD1788-EDA0-4A4F-26E0-223D2A3BA939}"/>
              </a:ext>
            </a:extLst>
          </p:cNvPr>
          <p:cNvSpPr/>
          <p:nvPr/>
        </p:nvSpPr>
        <p:spPr>
          <a:xfrm>
            <a:off x="3895123" y="1969820"/>
            <a:ext cx="2975280" cy="2073139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6C153CAF-C079-BD88-8B24-185924B2C567}"/>
                  </a:ext>
                </a:extLst>
              </p:cNvPr>
              <p:cNvSpPr txBox="1"/>
              <p:nvPr/>
            </p:nvSpPr>
            <p:spPr>
              <a:xfrm>
                <a:off x="3822403" y="2060678"/>
                <a:ext cx="609600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/>
                  <a:t>Condition :</a:t>
                </a:r>
                <a:r>
                  <a:rPr lang="ar-AE" altLang="zh-TW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altLang="zh-TW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zh-TW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Red</m:t>
                    </m:r>
                    <m:sSub>
                      <m:sSubPr>
                        <m:ctrlPr>
                          <a:rPr lang="ar-AE" altLang="zh-TW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，</m:t>
                        </m:r>
                        <m:r>
                          <a:rPr lang="zh-TW" alt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b="0" i="0" dirty="0" smtClean="0"/>
                      <m:t>=</m:t>
                    </m:r>
                    <m:r>
                      <m:rPr>
                        <m:nor/>
                      </m:rPr>
                      <a:rPr lang="en-US" altLang="zh-TW" b="0" i="0" dirty="0" smtClean="0"/>
                      <m:t>6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6C153CAF-C079-BD88-8B24-185924B2C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403" y="2060678"/>
                <a:ext cx="6096000" cy="403124"/>
              </a:xfrm>
              <a:prstGeom prst="rect">
                <a:avLst/>
              </a:prstGeom>
              <a:blipFill>
                <a:blip r:embed="rId4"/>
                <a:stretch>
                  <a:fillRect l="-800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圖形 26">
            <a:extLst>
              <a:ext uri="{FF2B5EF4-FFF2-40B4-BE49-F238E27FC236}">
                <a16:creationId xmlns:a16="http://schemas.microsoft.com/office/drawing/2014/main" id="{BFF76564-DACB-323B-328C-6A97A66133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5396" y="3310756"/>
            <a:ext cx="576000" cy="576000"/>
          </a:xfrm>
          <a:prstGeom prst="rect">
            <a:avLst/>
          </a:prstGeom>
        </p:spPr>
      </p:pic>
      <p:pic>
        <p:nvPicPr>
          <p:cNvPr id="28" name="圖形 27">
            <a:extLst>
              <a:ext uri="{FF2B5EF4-FFF2-40B4-BE49-F238E27FC236}">
                <a16:creationId xmlns:a16="http://schemas.microsoft.com/office/drawing/2014/main" id="{E345EF6B-505E-31DC-E219-D463C3A4BF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5239" y="2584172"/>
            <a:ext cx="576000" cy="576000"/>
          </a:xfrm>
          <a:prstGeom prst="rect">
            <a:avLst/>
          </a:prstGeom>
        </p:spPr>
      </p:pic>
      <p:pic>
        <p:nvPicPr>
          <p:cNvPr id="4" name="圖形 8">
            <a:extLst>
              <a:ext uri="{FF2B5EF4-FFF2-40B4-BE49-F238E27FC236}">
                <a16:creationId xmlns:a16="http://schemas.microsoft.com/office/drawing/2014/main" id="{BA3DCF9D-5474-1124-63AB-56F894F1F1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1982" y="2570068"/>
            <a:ext cx="576000" cy="576000"/>
          </a:xfrm>
          <a:prstGeom prst="rect">
            <a:avLst/>
          </a:prstGeom>
        </p:spPr>
      </p:pic>
      <p:pic>
        <p:nvPicPr>
          <p:cNvPr id="10" name="圖形 26">
            <a:extLst>
              <a:ext uri="{FF2B5EF4-FFF2-40B4-BE49-F238E27FC236}">
                <a16:creationId xmlns:a16="http://schemas.microsoft.com/office/drawing/2014/main" id="{B8650616-008A-F093-52A4-FCC254DD51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1982" y="3293240"/>
            <a:ext cx="576000" cy="576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3DF0D75-7BCD-94C5-95DE-8B0CC6E9BA01}"/>
              </a:ext>
            </a:extLst>
          </p:cNvPr>
          <p:cNvSpPr txBox="1"/>
          <p:nvPr/>
        </p:nvSpPr>
        <p:spPr>
          <a:xfrm>
            <a:off x="609600" y="529363"/>
            <a:ext cx="8314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/>
              <a:t>The problem of our previous solution </a:t>
            </a:r>
            <a:endParaRPr lang="zh-TW" altLang="en-US" sz="2400" b="1" dirty="0"/>
          </a:p>
        </p:txBody>
      </p:sp>
      <p:sp>
        <p:nvSpPr>
          <p:cNvPr id="7" name="文本框 25">
            <a:extLst>
              <a:ext uri="{FF2B5EF4-FFF2-40B4-BE49-F238E27FC236}">
                <a16:creationId xmlns:a16="http://schemas.microsoft.com/office/drawing/2014/main" id="{D036A634-033B-3360-4030-05C79CA12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910" y="1555059"/>
            <a:ext cx="103753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en-US" altLang="zh-TW" sz="1800" dirty="0">
                <a:latin typeface="+mn-lt"/>
              </a:rPr>
              <a:t>We randomly generate unseen images:</a:t>
            </a:r>
            <a:endParaRPr lang="zh-TW" altLang="en-US" sz="1800" dirty="0">
              <a:latin typeface="+mn-lt"/>
            </a:endParaRPr>
          </a:p>
        </p:txBody>
      </p:sp>
      <p:pic>
        <p:nvPicPr>
          <p:cNvPr id="12" name="圖片 11" descr="3&#10;&#10;AI 產生的內容可能不正確。">
            <a:extLst>
              <a:ext uri="{FF2B5EF4-FFF2-40B4-BE49-F238E27FC236}">
                <a16:creationId xmlns:a16="http://schemas.microsoft.com/office/drawing/2014/main" id="{E9D92363-91B7-5725-83C5-46BE16B338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239" y="3275407"/>
            <a:ext cx="621595" cy="621595"/>
          </a:xfrm>
          <a:prstGeom prst="rect">
            <a:avLst/>
          </a:prstGeom>
        </p:spPr>
      </p:pic>
      <p:sp>
        <p:nvSpPr>
          <p:cNvPr id="11" name="文本框 126">
            <a:extLst>
              <a:ext uri="{FF2B5EF4-FFF2-40B4-BE49-F238E27FC236}">
                <a16:creationId xmlns:a16="http://schemas.microsoft.com/office/drawing/2014/main" id="{F1D7EF4E-FD04-CA28-A948-9AFB779AB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2779" y="6478121"/>
            <a:ext cx="42036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600" dirty="0">
                <a:latin typeface="+mj-lt"/>
              </a:rPr>
              <a:t>8</a:t>
            </a:r>
            <a:endParaRPr lang="zh-CN" altLang="en-US" sz="2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4016788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335EA-429C-821E-D155-60D9AA5B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6F40CA3-109D-D253-DA95-E98B62CE29AC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F74C97-40D1-A243-9B55-0C39E55ADC10}"/>
              </a:ext>
            </a:extLst>
          </p:cNvPr>
          <p:cNvSpPr/>
          <p:nvPr/>
        </p:nvSpPr>
        <p:spPr>
          <a:xfrm>
            <a:off x="4947920" y="254000"/>
            <a:ext cx="724408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48BB6D5-1B06-1F6B-C0F2-B6F449658172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C6227F-7589-E7CE-6F38-1AAED4EFE661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" name="文本框 3">
            <a:extLst>
              <a:ext uri="{FF2B5EF4-FFF2-40B4-BE49-F238E27FC236}">
                <a16:creationId xmlns:a16="http://schemas.microsoft.com/office/drawing/2014/main" id="{C838A543-3E49-3657-25E9-AF241E68A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0674"/>
            <a:ext cx="463296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 motivation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87267FD-0A1B-1159-9534-DE8A322241F3}"/>
              </a:ext>
            </a:extLst>
          </p:cNvPr>
          <p:cNvSpPr txBox="1"/>
          <p:nvPr/>
        </p:nvSpPr>
        <p:spPr>
          <a:xfrm>
            <a:off x="1333615" y="786455"/>
            <a:ext cx="8866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lt"/>
              </a:rPr>
              <a:t>Learning from data </a:t>
            </a:r>
            <a:r>
              <a:rPr lang="en-US" altLang="zh-TW" b="1" dirty="0">
                <a:latin typeface="+mn-lt"/>
              </a:rPr>
              <a:t>+</a:t>
            </a:r>
            <a:r>
              <a:rPr lang="zh-TW" altLang="en-US" b="1" dirty="0">
                <a:latin typeface="+mn-lt"/>
              </a:rPr>
              <a:t> </a:t>
            </a:r>
            <a:r>
              <a:rPr lang="en-US" altLang="zh-TW" b="1" dirty="0"/>
              <a:t>Human-in-the-Loop (HITL)</a:t>
            </a:r>
            <a:endParaRPr lang="zh-CN" altLang="en-US" dirty="0">
              <a:latin typeface="+mn-lt"/>
            </a:endParaRPr>
          </a:p>
        </p:txBody>
      </p:sp>
      <p:sp>
        <p:nvSpPr>
          <p:cNvPr id="7" name="文本框 25">
            <a:extLst>
              <a:ext uri="{FF2B5EF4-FFF2-40B4-BE49-F238E27FC236}">
                <a16:creationId xmlns:a16="http://schemas.microsoft.com/office/drawing/2014/main" id="{7EC6840E-34C6-F3EE-60DF-2BF94B490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053989" y="756933"/>
            <a:ext cx="36982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TW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proposal 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12" name="圖片 11" descr="一張含有 圖形, 圓形, 螢幕擷取畫面, 鮮豔 的圖片&#10;&#10;AI 產生的內容可能不正確。">
            <a:extLst>
              <a:ext uri="{FF2B5EF4-FFF2-40B4-BE49-F238E27FC236}">
                <a16:creationId xmlns:a16="http://schemas.microsoft.com/office/drawing/2014/main" id="{92D616FA-AB32-72FE-742B-D74C4686F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768" y="1590655"/>
            <a:ext cx="1590270" cy="159027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1D801B30-2B34-F3E0-88B5-E876528AFC91}"/>
              </a:ext>
            </a:extLst>
          </p:cNvPr>
          <p:cNvSpPr txBox="1"/>
          <p:nvPr/>
        </p:nvSpPr>
        <p:spPr>
          <a:xfrm>
            <a:off x="5059839" y="2737345"/>
            <a:ext cx="1403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/>
              <a:t>Generative Model</a:t>
            </a:r>
            <a:endParaRPr lang="zh-TW" altLang="en-US" b="1" dirty="0"/>
          </a:p>
        </p:txBody>
      </p:sp>
      <p:cxnSp>
        <p:nvCxnSpPr>
          <p:cNvPr id="17" name="接點: 弧形 16">
            <a:extLst>
              <a:ext uri="{FF2B5EF4-FFF2-40B4-BE49-F238E27FC236}">
                <a16:creationId xmlns:a16="http://schemas.microsoft.com/office/drawing/2014/main" id="{8FAAC3C9-57EC-1555-078C-501D836D5FC2}"/>
              </a:ext>
            </a:extLst>
          </p:cNvPr>
          <p:cNvCxnSpPr>
            <a:cxnSpLocks/>
            <a:stCxn id="14" idx="3"/>
            <a:endCxn id="8" idx="1"/>
          </p:cNvCxnSpPr>
          <p:nvPr/>
        </p:nvCxnSpPr>
        <p:spPr>
          <a:xfrm flipV="1">
            <a:off x="2038242" y="2375489"/>
            <a:ext cx="948722" cy="1462503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4B5F533-690A-B239-96FB-5055E936B642}"/>
              </a:ext>
            </a:extLst>
          </p:cNvPr>
          <p:cNvSpPr txBox="1"/>
          <p:nvPr/>
        </p:nvSpPr>
        <p:spPr>
          <a:xfrm>
            <a:off x="2276729" y="2191288"/>
            <a:ext cx="10610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input</a:t>
            </a:r>
            <a:endParaRPr lang="zh-TW" altLang="en-US" sz="1400" dirty="0"/>
          </a:p>
        </p:txBody>
      </p:sp>
      <p:pic>
        <p:nvPicPr>
          <p:cNvPr id="21" name="圖片 20" descr="一張含有 符號, 標誌, 卡通, 美工圖案 的圖片&#10;&#10;AI 產生的內容可能不正確。">
            <a:extLst>
              <a:ext uri="{FF2B5EF4-FFF2-40B4-BE49-F238E27FC236}">
                <a16:creationId xmlns:a16="http://schemas.microsoft.com/office/drawing/2014/main" id="{75A5EDD1-4C4C-BBC0-1FD0-5A45343EC3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249" y="4815578"/>
            <a:ext cx="1186274" cy="1186274"/>
          </a:xfrm>
          <a:prstGeom prst="rect">
            <a:avLst/>
          </a:prstGeom>
        </p:spPr>
      </p:pic>
      <p:pic>
        <p:nvPicPr>
          <p:cNvPr id="22" name="圖片 21" descr="一張含有 螢幕擷取畫面, 圖形, 美工圖案, 設計 的圖片&#10;&#10;AI 產生的內容可能不正確。">
            <a:extLst>
              <a:ext uri="{FF2B5EF4-FFF2-40B4-BE49-F238E27FC236}">
                <a16:creationId xmlns:a16="http://schemas.microsoft.com/office/drawing/2014/main" id="{9B5EE5E6-B2E6-8083-9D0A-EAEBBEB127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788" y="2807655"/>
            <a:ext cx="1640248" cy="1640248"/>
          </a:xfrm>
          <a:prstGeom prst="rect">
            <a:avLst/>
          </a:prstGeom>
        </p:spPr>
      </p:pic>
      <p:cxnSp>
        <p:nvCxnSpPr>
          <p:cNvPr id="23" name="接點: 弧形 22">
            <a:extLst>
              <a:ext uri="{FF2B5EF4-FFF2-40B4-BE49-F238E27FC236}">
                <a16:creationId xmlns:a16="http://schemas.microsoft.com/office/drawing/2014/main" id="{65718E73-12DE-D353-9DB0-F6F196A4812F}"/>
              </a:ext>
            </a:extLst>
          </p:cNvPr>
          <p:cNvCxnSpPr>
            <a:cxnSpLocks/>
            <a:stCxn id="12" idx="3"/>
            <a:endCxn id="22" idx="0"/>
          </p:cNvCxnSpPr>
          <p:nvPr/>
        </p:nvCxnSpPr>
        <p:spPr>
          <a:xfrm>
            <a:off x="6543038" y="2385790"/>
            <a:ext cx="1841874" cy="421865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217BCC2-76D9-32C2-5C25-35039CCAE303}"/>
              </a:ext>
            </a:extLst>
          </p:cNvPr>
          <p:cNvSpPr txBox="1"/>
          <p:nvPr/>
        </p:nvSpPr>
        <p:spPr>
          <a:xfrm>
            <a:off x="7203471" y="2135057"/>
            <a:ext cx="10610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output</a:t>
            </a:r>
            <a:endParaRPr lang="zh-TW" altLang="en-US" sz="1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17D56D6-0A02-16D6-5131-9287D9ED3067}"/>
              </a:ext>
            </a:extLst>
          </p:cNvPr>
          <p:cNvSpPr txBox="1"/>
          <p:nvPr/>
        </p:nvSpPr>
        <p:spPr>
          <a:xfrm>
            <a:off x="7664181" y="4266292"/>
            <a:ext cx="1903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lt"/>
              </a:rPr>
              <a:t>Generated data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E15540A-677B-A07A-FD36-2EDAD51AD003}"/>
              </a:ext>
            </a:extLst>
          </p:cNvPr>
          <p:cNvSpPr txBox="1"/>
          <p:nvPr/>
        </p:nvSpPr>
        <p:spPr>
          <a:xfrm>
            <a:off x="5468963" y="5926993"/>
            <a:ext cx="662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+mn-lt"/>
              </a:rPr>
              <a:t>HITL</a:t>
            </a:r>
            <a:endParaRPr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33438DF0-C787-2989-E013-1D21135D4143}"/>
              </a:ext>
            </a:extLst>
          </p:cNvPr>
          <p:cNvSpPr txBox="1"/>
          <p:nvPr/>
        </p:nvSpPr>
        <p:spPr>
          <a:xfrm>
            <a:off x="1882414" y="4715702"/>
            <a:ext cx="16503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/>
              <a:t>Human selection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EBD4A1-0C9A-9222-7C43-00ECBA8AB330}"/>
              </a:ext>
            </a:extLst>
          </p:cNvPr>
          <p:cNvSpPr txBox="1"/>
          <p:nvPr/>
        </p:nvSpPr>
        <p:spPr>
          <a:xfrm>
            <a:off x="3421121" y="1111811"/>
            <a:ext cx="6831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/>
              <a:t>*</a:t>
            </a:r>
            <a:r>
              <a:rPr lang="en-US" altLang="zh-TW" sz="1400" dirty="0"/>
              <a:t>Because generative AI models may produce hallucinated or factually incorrect content, human-in-the-loop validation is required to guarantee the accuracy of generated images.</a:t>
            </a:r>
            <a:endParaRPr lang="zh-TW" altLang="en-US" sz="1400" dirty="0"/>
          </a:p>
        </p:txBody>
      </p:sp>
      <p:pic>
        <p:nvPicPr>
          <p:cNvPr id="14" name="圖片 13" descr="一張含有 螢幕擷取畫面, 圖形, 美工圖案, 設計 的圖片&#10;&#10;AI 產生的內容可能不正確。">
            <a:extLst>
              <a:ext uri="{FF2B5EF4-FFF2-40B4-BE49-F238E27FC236}">
                <a16:creationId xmlns:a16="http://schemas.microsoft.com/office/drawing/2014/main" id="{8336E9E7-3343-DE24-BE22-D84BDEE890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19" y="3224030"/>
            <a:ext cx="1227923" cy="1227923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CCA2181E-AC6D-BF8E-2F17-A7348E91BCE9}"/>
              </a:ext>
            </a:extLst>
          </p:cNvPr>
          <p:cNvSpPr/>
          <p:nvPr/>
        </p:nvSpPr>
        <p:spPr>
          <a:xfrm>
            <a:off x="9739325" y="2272572"/>
            <a:ext cx="1371600" cy="743584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325EF3B-F582-ED3C-54B2-8FE5A9B7AE8A}"/>
              </a:ext>
            </a:extLst>
          </p:cNvPr>
          <p:cNvSpPr/>
          <p:nvPr/>
        </p:nvSpPr>
        <p:spPr>
          <a:xfrm>
            <a:off x="1992774" y="5218229"/>
            <a:ext cx="1252891" cy="659601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F6EC245-815F-84EB-CB63-5DDEC48E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4721" y="6523523"/>
            <a:ext cx="2743200" cy="365125"/>
          </a:xfrm>
        </p:spPr>
        <p:txBody>
          <a:bodyPr/>
          <a:lstStyle/>
          <a:p>
            <a:fld id="{9D55DC8D-C4F0-4F0D-B826-92573808DA56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11B9AF9-D849-5C3D-5570-1F4ADE4D08C1}"/>
              </a:ext>
            </a:extLst>
          </p:cNvPr>
          <p:cNvSpPr/>
          <p:nvPr/>
        </p:nvSpPr>
        <p:spPr>
          <a:xfrm>
            <a:off x="9734184" y="3316286"/>
            <a:ext cx="1371600" cy="743584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E5A3EA-14BF-9321-B5CE-0C5DC390834D}"/>
              </a:ext>
            </a:extLst>
          </p:cNvPr>
          <p:cNvSpPr/>
          <p:nvPr/>
        </p:nvSpPr>
        <p:spPr>
          <a:xfrm>
            <a:off x="9734184" y="4436892"/>
            <a:ext cx="1371600" cy="743584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0A85506-6220-FF22-EFA3-02A8F2369316}"/>
              </a:ext>
            </a:extLst>
          </p:cNvPr>
          <p:cNvSpPr txBox="1"/>
          <p:nvPr/>
        </p:nvSpPr>
        <p:spPr>
          <a:xfrm>
            <a:off x="9654706" y="1995213"/>
            <a:ext cx="1147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Iteration 1</a:t>
            </a:r>
            <a:endParaRPr lang="zh-TW" altLang="en-US" sz="14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E5A2EB9-390B-D212-8990-D0AC6B506BFC}"/>
              </a:ext>
            </a:extLst>
          </p:cNvPr>
          <p:cNvSpPr txBox="1"/>
          <p:nvPr/>
        </p:nvSpPr>
        <p:spPr>
          <a:xfrm>
            <a:off x="9652948" y="3062163"/>
            <a:ext cx="1147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Iteration 2</a:t>
            </a:r>
            <a:endParaRPr lang="zh-TW" altLang="en-US" sz="14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08BCF2D-2B54-ABD1-7B1B-987610652EE5}"/>
              </a:ext>
            </a:extLst>
          </p:cNvPr>
          <p:cNvSpPr txBox="1"/>
          <p:nvPr/>
        </p:nvSpPr>
        <p:spPr>
          <a:xfrm>
            <a:off x="9652948" y="4189018"/>
            <a:ext cx="1147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Iteration 3</a:t>
            </a:r>
            <a:endParaRPr lang="zh-TW" altLang="en-US" sz="14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256CE9CB-3BD8-CFB3-1A51-D19411811296}"/>
              </a:ext>
            </a:extLst>
          </p:cNvPr>
          <p:cNvSpPr txBox="1"/>
          <p:nvPr/>
        </p:nvSpPr>
        <p:spPr>
          <a:xfrm>
            <a:off x="1890021" y="4953541"/>
            <a:ext cx="1147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Iteration 1</a:t>
            </a:r>
            <a:endParaRPr lang="zh-TW" altLang="en-US" sz="1400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88AFDE8-8932-57C3-0827-F54780A6068B}"/>
              </a:ext>
            </a:extLst>
          </p:cNvPr>
          <p:cNvSpPr/>
          <p:nvPr/>
        </p:nvSpPr>
        <p:spPr>
          <a:xfrm>
            <a:off x="3392240" y="5471146"/>
            <a:ext cx="1252891" cy="659601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501DA15B-5D84-5D84-42A2-B874FB38F5FA}"/>
              </a:ext>
            </a:extLst>
          </p:cNvPr>
          <p:cNvSpPr txBox="1"/>
          <p:nvPr/>
        </p:nvSpPr>
        <p:spPr>
          <a:xfrm>
            <a:off x="3323781" y="5177005"/>
            <a:ext cx="1147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Iteration 2</a:t>
            </a:r>
            <a:endParaRPr lang="zh-TW" altLang="en-US" sz="1400" dirty="0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E91E6259-A6F8-8601-D309-3C1697C09192}"/>
              </a:ext>
            </a:extLst>
          </p:cNvPr>
          <p:cNvSpPr txBox="1"/>
          <p:nvPr/>
        </p:nvSpPr>
        <p:spPr>
          <a:xfrm>
            <a:off x="6306172" y="5954957"/>
            <a:ext cx="596854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Note: Why use human selection?</a:t>
            </a:r>
          </a:p>
          <a:p>
            <a:r>
              <a:rPr lang="en-US" altLang="zh-TW" sz="1200" dirty="0"/>
              <a:t>Large models are constrained by training data, especially in medicine where critical knowledge gaps exist. Expert review ensures accuracy and safety beyond model capabilities.</a:t>
            </a:r>
          </a:p>
        </p:txBody>
      </p:sp>
      <p:cxnSp>
        <p:nvCxnSpPr>
          <p:cNvPr id="4" name="接點: 弧形 3">
            <a:extLst>
              <a:ext uri="{FF2B5EF4-FFF2-40B4-BE49-F238E27FC236}">
                <a16:creationId xmlns:a16="http://schemas.microsoft.com/office/drawing/2014/main" id="{E3E38F00-E4A4-5BB6-0844-B364CC0261F5}"/>
              </a:ext>
            </a:extLst>
          </p:cNvPr>
          <p:cNvCxnSpPr>
            <a:cxnSpLocks/>
            <a:stCxn id="21" idx="1"/>
            <a:endCxn id="8" idx="1"/>
          </p:cNvCxnSpPr>
          <p:nvPr/>
        </p:nvCxnSpPr>
        <p:spPr>
          <a:xfrm rot="10800000">
            <a:off x="2986965" y="2375489"/>
            <a:ext cx="2379285" cy="3033226"/>
          </a:xfrm>
          <a:prstGeom prst="curvedConnector3">
            <a:avLst>
              <a:gd name="adj1" fmla="val 109608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接點: 弧形 29">
            <a:extLst>
              <a:ext uri="{FF2B5EF4-FFF2-40B4-BE49-F238E27FC236}">
                <a16:creationId xmlns:a16="http://schemas.microsoft.com/office/drawing/2014/main" id="{BAE3D134-4E1F-9D0C-5272-BC7DA6B0A055}"/>
              </a:ext>
            </a:extLst>
          </p:cNvPr>
          <p:cNvCxnSpPr>
            <a:cxnSpLocks/>
            <a:stCxn id="27" idx="2"/>
            <a:endCxn id="21" idx="3"/>
          </p:cNvCxnSpPr>
          <p:nvPr/>
        </p:nvCxnSpPr>
        <p:spPr>
          <a:xfrm rot="5400000">
            <a:off x="7197643" y="3990504"/>
            <a:ext cx="773091" cy="2063330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圖片 33">
            <a:extLst>
              <a:ext uri="{FF2B5EF4-FFF2-40B4-BE49-F238E27FC236}">
                <a16:creationId xmlns:a16="http://schemas.microsoft.com/office/drawing/2014/main" id="{153BBB43-AE10-6E3E-9AEC-9C3F599A63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4678" y="2353425"/>
            <a:ext cx="1070612" cy="620136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066D1470-61A4-DDCC-C8D2-6A5F0A7D83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1036" y="5438280"/>
            <a:ext cx="1023561" cy="265678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896A54AB-47B0-4C46-0933-304E6DBA7B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882" y="2578147"/>
            <a:ext cx="1340218" cy="746839"/>
          </a:xfrm>
          <a:prstGeom prst="rect">
            <a:avLst/>
          </a:prstGeom>
        </p:spPr>
      </p:pic>
      <p:sp>
        <p:nvSpPr>
          <p:cNvPr id="45" name="文本框 25">
            <a:extLst>
              <a:ext uri="{FF2B5EF4-FFF2-40B4-BE49-F238E27FC236}">
                <a16:creationId xmlns:a16="http://schemas.microsoft.com/office/drawing/2014/main" id="{E3CB24E2-DC94-CFF7-6FA4-E446AC7E3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87725" y="4347734"/>
            <a:ext cx="36982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+mn-lt"/>
              </a:rPr>
              <a:t>Train dataset</a:t>
            </a:r>
            <a:endParaRPr lang="zh-CN" altLang="en-US" sz="1600" dirty="0">
              <a:latin typeface="+mn-lt"/>
            </a:endParaRPr>
          </a:p>
        </p:txBody>
      </p:sp>
      <p:pic>
        <p:nvPicPr>
          <p:cNvPr id="46" name="圖片 45">
            <a:extLst>
              <a:ext uri="{FF2B5EF4-FFF2-40B4-BE49-F238E27FC236}">
                <a16:creationId xmlns:a16="http://schemas.microsoft.com/office/drawing/2014/main" id="{728D7FE5-1EE8-FEBB-5CB5-D9593D3CF8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8823" y="3419154"/>
            <a:ext cx="972694" cy="563419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5E59D0FB-4B98-894C-2DE6-9926F2AA34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3660" y="5547810"/>
            <a:ext cx="922907" cy="534580"/>
          </a:xfrm>
          <a:prstGeom prst="rect">
            <a:avLst/>
          </a:prstGeom>
        </p:spPr>
      </p:pic>
      <p:pic>
        <p:nvPicPr>
          <p:cNvPr id="54" name="圖片 53">
            <a:extLst>
              <a:ext uri="{FF2B5EF4-FFF2-40B4-BE49-F238E27FC236}">
                <a16:creationId xmlns:a16="http://schemas.microsoft.com/office/drawing/2014/main" id="{D444C388-450C-83F7-E65A-9D05A53CE1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99379" y="4496795"/>
            <a:ext cx="1045808" cy="60576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E4BE571-095C-292A-59FE-4A671C3E3380}"/>
              </a:ext>
            </a:extLst>
          </p:cNvPr>
          <p:cNvSpPr/>
          <p:nvPr/>
        </p:nvSpPr>
        <p:spPr>
          <a:xfrm>
            <a:off x="2986964" y="1922777"/>
            <a:ext cx="1184325" cy="905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</a:rPr>
              <a:t>Training  process</a:t>
            </a:r>
            <a:endParaRPr lang="zh-TW" altLang="en-US" b="1" dirty="0"/>
          </a:p>
        </p:txBody>
      </p:sp>
      <p:cxnSp>
        <p:nvCxnSpPr>
          <p:cNvPr id="28" name="接點: 弧形 27">
            <a:extLst>
              <a:ext uri="{FF2B5EF4-FFF2-40B4-BE49-F238E27FC236}">
                <a16:creationId xmlns:a16="http://schemas.microsoft.com/office/drawing/2014/main" id="{FE2C08D0-44AD-DD8F-1B84-87595F2E1EB3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4171289" y="2375489"/>
            <a:ext cx="781479" cy="10301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接點: 弧形 47">
            <a:extLst>
              <a:ext uri="{FF2B5EF4-FFF2-40B4-BE49-F238E27FC236}">
                <a16:creationId xmlns:a16="http://schemas.microsoft.com/office/drawing/2014/main" id="{FC47BC65-F5CC-63C7-E72A-51E948566AA0}"/>
              </a:ext>
            </a:extLst>
          </p:cNvPr>
          <p:cNvCxnSpPr>
            <a:cxnSpLocks/>
            <a:stCxn id="21" idx="1"/>
          </p:cNvCxnSpPr>
          <p:nvPr/>
        </p:nvCxnSpPr>
        <p:spPr>
          <a:xfrm rot="10800000" flipV="1">
            <a:off x="3007375" y="5408714"/>
            <a:ext cx="2358874" cy="974909"/>
          </a:xfrm>
          <a:prstGeom prst="curvedConnector3">
            <a:avLst>
              <a:gd name="adj1" fmla="val 3128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5F4AF01-1C20-FAB5-B943-E6C4963D2D20}"/>
              </a:ext>
            </a:extLst>
          </p:cNvPr>
          <p:cNvSpPr txBox="1"/>
          <p:nvPr/>
        </p:nvSpPr>
        <p:spPr>
          <a:xfrm>
            <a:off x="500882" y="6198958"/>
            <a:ext cx="6663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dirty="0"/>
              <a:t>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27911021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B5A55-EB5F-F531-F8BE-272A71ED0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B0C9AEC-22DF-01F1-C5F0-32916D71B95C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1417A4-4DB3-F3C5-B657-695EDF9BA46D}"/>
              </a:ext>
            </a:extLst>
          </p:cNvPr>
          <p:cNvSpPr/>
          <p:nvPr/>
        </p:nvSpPr>
        <p:spPr>
          <a:xfrm>
            <a:off x="4947920" y="254000"/>
            <a:ext cx="724408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E23ABE-17CA-5170-36C3-C6EB8D830C28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1897FD7-4C44-4694-CC65-1A63796D12F3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" name="文本框 3">
            <a:extLst>
              <a:ext uri="{FF2B5EF4-FFF2-40B4-BE49-F238E27FC236}">
                <a16:creationId xmlns:a16="http://schemas.microsoft.com/office/drawing/2014/main" id="{03536AD7-67F0-7394-D5CE-4D8374B75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0674"/>
            <a:ext cx="463296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Research motivation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7F27AB6-23E6-222F-30EF-C48FCCE71DEF}"/>
              </a:ext>
            </a:extLst>
          </p:cNvPr>
          <p:cNvSpPr/>
          <p:nvPr/>
        </p:nvSpPr>
        <p:spPr>
          <a:xfrm>
            <a:off x="3643526" y="1356124"/>
            <a:ext cx="5723994" cy="18258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Human-in-the-Loop verification requires manual inspection of each generated sample, which is labor-intensive and time-consuming.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dirty="0">
                <a:solidFill>
                  <a:schemeClr val="tx1"/>
                </a:solidFill>
              </a:rPr>
              <a:t>Limited manpower screening leads to </a:t>
            </a:r>
            <a:r>
              <a:rPr lang="en-US" altLang="zh-TW" b="1" dirty="0">
                <a:solidFill>
                  <a:schemeClr val="tx1"/>
                </a:solidFill>
              </a:rPr>
              <a:t>class imbalance </a:t>
            </a:r>
            <a:r>
              <a:rPr lang="en-US" altLang="zh-TW" dirty="0">
                <a:solidFill>
                  <a:schemeClr val="tx1"/>
                </a:solidFill>
              </a:rPr>
              <a:t>in the training data.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10D0AABF-9ECC-AE86-BCC9-6D7EDDBC20EF}"/>
              </a:ext>
            </a:extLst>
          </p:cNvPr>
          <p:cNvSpPr/>
          <p:nvPr/>
        </p:nvSpPr>
        <p:spPr>
          <a:xfrm>
            <a:off x="3643526" y="3693761"/>
            <a:ext cx="5723993" cy="8713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Traditional balanced resampling method for balanced training data</a:t>
            </a:r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B1AE18A5-78CE-4593-E7B1-AD39B309BF72}"/>
              </a:ext>
            </a:extLst>
          </p:cNvPr>
          <p:cNvCxnSpPr>
            <a:cxnSpLocks/>
            <a:stCxn id="7" idx="2"/>
            <a:endCxn id="27" idx="0"/>
          </p:cNvCxnSpPr>
          <p:nvPr/>
        </p:nvCxnSpPr>
        <p:spPr>
          <a:xfrm>
            <a:off x="6505523" y="3181988"/>
            <a:ext cx="0" cy="5117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DBB831CD-15CE-45C7-6491-1A311F222606}"/>
              </a:ext>
            </a:extLst>
          </p:cNvPr>
          <p:cNvSpPr txBox="1"/>
          <p:nvPr/>
        </p:nvSpPr>
        <p:spPr>
          <a:xfrm>
            <a:off x="3643527" y="3324429"/>
            <a:ext cx="2042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sym typeface="Wingdings" panose="05000000000000000000" pitchFamily="2" charset="2"/>
              </a:rPr>
              <a:t>Possible </a:t>
            </a:r>
            <a:r>
              <a:rPr lang="en-US" altLang="zh-TW" sz="18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Solutions</a:t>
            </a:r>
            <a:endParaRPr lang="zh-TW" altLang="en-US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43055DF-84CC-620B-76EE-D41448DDF02F}"/>
              </a:ext>
            </a:extLst>
          </p:cNvPr>
          <p:cNvSpPr/>
          <p:nvPr/>
        </p:nvSpPr>
        <p:spPr>
          <a:xfrm>
            <a:off x="3643526" y="5166861"/>
            <a:ext cx="5723993" cy="81779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Modified</a:t>
            </a:r>
            <a:r>
              <a:rPr lang="en-US" altLang="zh-TW" dirty="0">
                <a:solidFill>
                  <a:schemeClr val="tx1"/>
                </a:solidFill>
              </a:rPr>
              <a:t> balanced resampling achieves better generation performance in aforementioned iteration algorithm.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9AEE7D9-C2BB-B916-023E-EBCAB81CA5F0}"/>
              </a:ext>
            </a:extLst>
          </p:cNvPr>
          <p:cNvCxnSpPr>
            <a:cxnSpLocks/>
            <a:stCxn id="27" idx="2"/>
            <a:endCxn id="6" idx="0"/>
          </p:cNvCxnSpPr>
          <p:nvPr/>
        </p:nvCxnSpPr>
        <p:spPr>
          <a:xfrm>
            <a:off x="6505523" y="4565091"/>
            <a:ext cx="0" cy="6017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FF9628A-0992-3A4A-D66B-CDC389516CCA}"/>
              </a:ext>
            </a:extLst>
          </p:cNvPr>
          <p:cNvSpPr txBox="1"/>
          <p:nvPr/>
        </p:nvSpPr>
        <p:spPr>
          <a:xfrm>
            <a:off x="3643527" y="4828308"/>
            <a:ext cx="24524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Our method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654EE33-8D77-12B7-521C-E86FB9971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10" name="文本框 25">
            <a:extLst>
              <a:ext uri="{FF2B5EF4-FFF2-40B4-BE49-F238E27FC236}">
                <a16:creationId xmlns:a16="http://schemas.microsoft.com/office/drawing/2014/main" id="{9D380F94-B417-22CD-12AE-ED3B7E09B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643" y="1004527"/>
            <a:ext cx="36982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TW" sz="2000" b="1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Proposal challenge 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212872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426EB-C91C-725E-3AC4-09314E16F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32A7EC-D7EC-B04F-7790-F45958E37D5D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8E041A-1376-D999-AEE1-FB269001FD69}"/>
              </a:ext>
            </a:extLst>
          </p:cNvPr>
          <p:cNvSpPr/>
          <p:nvPr/>
        </p:nvSpPr>
        <p:spPr>
          <a:xfrm>
            <a:off x="3393440" y="254000"/>
            <a:ext cx="879856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9B5B59-D7FB-35DF-76D8-415F5693DD1F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84562D9-45AE-0903-868A-DA63102D2076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" name="文本框 3">
            <a:extLst>
              <a:ext uri="{FF2B5EF4-FFF2-40B4-BE49-F238E27FC236}">
                <a16:creationId xmlns:a16="http://schemas.microsoft.com/office/drawing/2014/main" id="{3184ECBB-1CB7-785E-8550-086DDA42E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0674"/>
            <a:ext cx="316427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Contribution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061880D-D60B-69EF-89B9-57B330275B1F}"/>
              </a:ext>
            </a:extLst>
          </p:cNvPr>
          <p:cNvSpPr txBox="1"/>
          <p:nvPr/>
        </p:nvSpPr>
        <p:spPr>
          <a:xfrm>
            <a:off x="761998" y="1544380"/>
            <a:ext cx="1014984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sz="2000" dirty="0"/>
              <a:t>Proposed a </a:t>
            </a:r>
            <a:r>
              <a:rPr lang="en-US" altLang="zh-TW" sz="2000" b="1" dirty="0"/>
              <a:t>compositional condition</a:t>
            </a:r>
            <a:r>
              <a:rPr lang="en-US" altLang="zh-TW" sz="2000" dirty="0"/>
              <a:t> training method within the Diffusion Transformer (DiT) architecture, enables flexible attribute composition and </a:t>
            </a:r>
            <a:r>
              <a:rPr lang="en-US" altLang="zh-TW" sz="2000" b="1" dirty="0">
                <a:solidFill>
                  <a:srgbClr val="FF0000"/>
                </a:solidFill>
              </a:rPr>
              <a:t>generation of unseen images.</a:t>
            </a:r>
          </a:p>
          <a:p>
            <a:pPr marL="342900" indent="-342900">
              <a:buFont typeface="+mj-lt"/>
              <a:buAutoNum type="arabicPeriod"/>
            </a:pPr>
            <a:endParaRPr lang="en-US" altLang="zh-TW" sz="2000" dirty="0"/>
          </a:p>
          <a:p>
            <a:pPr marL="342900" indent="-342900">
              <a:buFont typeface="+mj-lt"/>
              <a:buAutoNum type="arabicPeriod"/>
            </a:pPr>
            <a:r>
              <a:rPr lang="en-US" altLang="zh-TW" sz="2000" dirty="0"/>
              <a:t>Designed an iterative </a:t>
            </a:r>
            <a:r>
              <a:rPr lang="en-US" altLang="zh-TW" sz="2000" b="1" dirty="0"/>
              <a:t>data generation </a:t>
            </a:r>
            <a:r>
              <a:rPr lang="en-US" altLang="zh-TW" sz="2000" dirty="0"/>
              <a:t>framework with filtering, which progressively improves the accuracy of unseen image generation while maintaining high sample diversity.</a:t>
            </a:r>
          </a:p>
          <a:p>
            <a:pPr marL="342900" indent="-342900">
              <a:buFont typeface="+mj-lt"/>
              <a:buAutoNum type="arabicPeriod"/>
            </a:pPr>
            <a:endParaRPr lang="en-US" altLang="zh-TW" sz="2000" dirty="0"/>
          </a:p>
          <a:p>
            <a:pPr marL="342900" indent="-342900">
              <a:buFont typeface="+mj-lt"/>
              <a:buAutoNum type="arabicPeriod"/>
            </a:pPr>
            <a:r>
              <a:rPr lang="en-US" altLang="zh-TW" sz="2000" dirty="0"/>
              <a:t>Proposed a gamma-based modified balanced sampling strategy, where sampling weights are recalculated according to the updated class distribution in each iteration.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F8E0F63-73A8-8857-783B-F4ECB728E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525710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A8CC2-21F5-64B8-BD95-8E35CF13C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0E116D-C97A-261C-F749-1E7E450273C5}"/>
              </a:ext>
            </a:extLst>
          </p:cNvPr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82371D-7FB1-9C64-6D0B-706799CB169D}"/>
              </a:ext>
            </a:extLst>
          </p:cNvPr>
          <p:cNvSpPr/>
          <p:nvPr/>
        </p:nvSpPr>
        <p:spPr>
          <a:xfrm>
            <a:off x="0" y="2663825"/>
            <a:ext cx="951389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06D3B0-3DD7-6E49-0B7A-4FE30C994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389" y="2272774"/>
            <a:ext cx="251215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dist" eaLnBrk="1" hangingPunct="1"/>
            <a:r>
              <a:rPr lang="en-US" altLang="zh-CN" sz="8000" dirty="0">
                <a:solidFill>
                  <a:schemeClr val="bg1"/>
                </a:solidFill>
                <a:latin typeface="Impact" pitchFamily="34" charset="0"/>
              </a:rPr>
              <a:t>Part2</a:t>
            </a:r>
            <a:endParaRPr lang="zh-CN" altLang="en-US" sz="8000" dirty="0">
              <a:solidFill>
                <a:schemeClr val="bg1"/>
              </a:solidFill>
              <a:latin typeface="Impact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533DA7-A442-98E0-D8A7-A2DD20784F96}"/>
              </a:ext>
            </a:extLst>
          </p:cNvPr>
          <p:cNvSpPr/>
          <p:nvPr/>
        </p:nvSpPr>
        <p:spPr>
          <a:xfrm>
            <a:off x="3463540" y="2663825"/>
            <a:ext cx="8728460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F86F8B-9F56-FCF1-B3A2-26EA12E37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325" y="3632200"/>
            <a:ext cx="57277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Related works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A1B915-07A7-6806-4864-46AD39A5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7" name="文本框 7">
            <a:extLst>
              <a:ext uri="{FF2B5EF4-FFF2-40B4-BE49-F238E27FC236}">
                <a16:creationId xmlns:a16="http://schemas.microsoft.com/office/drawing/2014/main" id="{15C1D230-8CE1-3580-7944-6B556B713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2082" y="4897879"/>
            <a:ext cx="863848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223F59"/>
                </a:solidFill>
                <a:latin typeface="微软雅黑" pitchFamily="34" charset="-122"/>
                <a:ea typeface="微软雅黑" pitchFamily="34" charset="-122"/>
              </a:rPr>
              <a:t>2-1 Iterative Retraining</a:t>
            </a:r>
          </a:p>
          <a:p>
            <a:r>
              <a:rPr lang="en-US" altLang="zh-CN" sz="2400" b="1" dirty="0">
                <a:solidFill>
                  <a:srgbClr val="223F59"/>
                </a:solidFill>
                <a:latin typeface="微软雅黑" pitchFamily="34" charset="-122"/>
                <a:ea typeface="微软雅黑" pitchFamily="34" charset="-122"/>
              </a:rPr>
              <a:t>2-2 imbalance data technology</a:t>
            </a:r>
            <a:endParaRPr lang="zh-CN" altLang="en-US" sz="2400" dirty="0">
              <a:solidFill>
                <a:srgbClr val="223F59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400" b="1" dirty="0">
                <a:solidFill>
                  <a:srgbClr val="223F59"/>
                </a:solidFill>
                <a:latin typeface="微软雅黑" pitchFamily="34" charset="-122"/>
                <a:ea typeface="微软雅黑" pitchFamily="34" charset="-122"/>
              </a:rPr>
              <a:t>2-3 Compositional Zero-Shot Learning &amp; generation</a:t>
            </a:r>
          </a:p>
        </p:txBody>
      </p:sp>
    </p:spTree>
    <p:extLst>
      <p:ext uri="{BB962C8B-B14F-4D97-AF65-F5344CB8AC3E}">
        <p14:creationId xmlns:p14="http://schemas.microsoft.com/office/powerpoint/2010/main" val="428015554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466E4-5DBC-43A4-993D-FDB71EB7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9E1C29-E3C2-53A0-49C2-73DFD647C7B4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05A2F0-9AA8-2F23-1B07-DB21A3B26545}"/>
              </a:ext>
            </a:extLst>
          </p:cNvPr>
          <p:cNvSpPr/>
          <p:nvPr/>
        </p:nvSpPr>
        <p:spPr>
          <a:xfrm>
            <a:off x="4903304" y="254000"/>
            <a:ext cx="7288696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0F399B-385F-F6D0-8338-9A698537B1C4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8A2CA08-0EE4-B926-5CBA-70CA03410360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3">
            <a:extLst>
              <a:ext uri="{FF2B5EF4-FFF2-40B4-BE49-F238E27FC236}">
                <a16:creationId xmlns:a16="http://schemas.microsoft.com/office/drawing/2014/main" id="{DD0D84DA-5DF7-F938-8656-2F701A1B8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8" y="136303"/>
            <a:ext cx="44924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2-1</a:t>
            </a:r>
            <a:r>
              <a:rPr lang="zh-TW" altLang="en-US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Iterative Retraining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06299AC-4CEB-67C2-9EB8-A2C02A35E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1" y="1477424"/>
            <a:ext cx="8392586" cy="251193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1C05A5F-4C72-9257-FF95-13968374ABEA}"/>
              </a:ext>
            </a:extLst>
          </p:cNvPr>
          <p:cNvSpPr txBox="1"/>
          <p:nvPr/>
        </p:nvSpPr>
        <p:spPr>
          <a:xfrm>
            <a:off x="609598" y="938613"/>
            <a:ext cx="8326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Self-Consuming Generative Models with Curated Data</a:t>
            </a:r>
            <a:r>
              <a:rPr lang="zh-TW" altLang="en-US" dirty="0"/>
              <a:t>（</a:t>
            </a:r>
            <a:r>
              <a:rPr lang="en-US" altLang="zh-TW" dirty="0" err="1"/>
              <a:t>Ferbach</a:t>
            </a:r>
            <a:r>
              <a:rPr lang="en-US" altLang="zh-TW" dirty="0"/>
              <a:t> et al., 2024</a:t>
            </a:r>
            <a:r>
              <a:rPr lang="zh-TW" altLang="en-US" dirty="0"/>
              <a:t>）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44B28ED-9D1C-CA4A-0CA7-307912F038C4}"/>
              </a:ext>
            </a:extLst>
          </p:cNvPr>
          <p:cNvSpPr txBox="1"/>
          <p:nvPr/>
        </p:nvSpPr>
        <p:spPr>
          <a:xfrm>
            <a:off x="912529" y="4180247"/>
            <a:ext cx="93400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TW" altLang="en-US" dirty="0"/>
              <a:t>            </a:t>
            </a:r>
            <a:r>
              <a:rPr lang="en-US" altLang="zh-TW" dirty="0"/>
              <a:t>The paper analyzes the impact of </a:t>
            </a:r>
            <a:r>
              <a:rPr lang="en-US" altLang="zh-TW" b="1" dirty="0">
                <a:solidFill>
                  <a:srgbClr val="FF0000"/>
                </a:solidFill>
              </a:rPr>
              <a:t>data curation </a:t>
            </a:r>
            <a:r>
              <a:rPr lang="en-US" altLang="zh-TW" dirty="0"/>
              <a:t>on iterative retraining of generative models. It proves that when each training round uses samples curated by a reward model (such as human feedback or preference scores), the retraining process maximizes expected reward. At the same time, maintaining a portion of real data in each round ensures the stability of training.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ACBF26-464F-A12B-9041-9BE75110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319124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8D673-B7C9-B4A9-7D4B-A9D014DB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B6F83E6-1CC3-2664-3556-ACDB9934B49A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41CDE2-26DC-36D1-3EF1-68CC9636F681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5CBB07B-FDCF-772C-C910-E0079CD9A99D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CD66AD0-C767-D4C4-1047-5641E528AF44}"/>
              </a:ext>
            </a:extLst>
          </p:cNvPr>
          <p:cNvSpPr txBox="1"/>
          <p:nvPr/>
        </p:nvSpPr>
        <p:spPr>
          <a:xfrm>
            <a:off x="609598" y="938613"/>
            <a:ext cx="8326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Self-Consuming Generative Models with Curated Data</a:t>
            </a:r>
            <a:r>
              <a:rPr lang="zh-TW" altLang="en-US" dirty="0"/>
              <a:t>（</a:t>
            </a:r>
            <a:r>
              <a:rPr lang="en-US" altLang="zh-TW" dirty="0" err="1"/>
              <a:t>Ferbach</a:t>
            </a:r>
            <a:r>
              <a:rPr lang="en-US" altLang="zh-TW" dirty="0"/>
              <a:t> et al., 2024</a:t>
            </a:r>
            <a:r>
              <a:rPr lang="zh-TW" altLang="en-US" dirty="0"/>
              <a:t>）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27BFE32-DFBA-DC53-2749-CF93B214D4D9}"/>
              </a:ext>
            </a:extLst>
          </p:cNvPr>
          <p:cNvSpPr txBox="1"/>
          <p:nvPr/>
        </p:nvSpPr>
        <p:spPr>
          <a:xfrm>
            <a:off x="0" y="1397300"/>
            <a:ext cx="7413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b="1" dirty="0"/>
              <a:t>Theorem 2.1 </a:t>
            </a:r>
            <a:r>
              <a:rPr lang="en-US" altLang="zh-TW" dirty="0"/>
              <a:t>— Collapse Without Real Data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6329293-7A01-81EE-CAE1-AA3E0507D19B}"/>
              </a:ext>
            </a:extLst>
          </p:cNvPr>
          <p:cNvSpPr txBox="1"/>
          <p:nvPr/>
        </p:nvSpPr>
        <p:spPr>
          <a:xfrm>
            <a:off x="310903" y="1752852"/>
            <a:ext cx="44988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Pure Self-Consuming </a:t>
            </a:r>
          </a:p>
          <a:p>
            <a:r>
              <a:rPr lang="en-US" altLang="zh-TW" sz="1600" dirty="0"/>
              <a:t>→ Mode Collapse to Highest Reward.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302317B-A044-201B-17F5-370BE15773A8}"/>
              </a:ext>
            </a:extLst>
          </p:cNvPr>
          <p:cNvSpPr txBox="1"/>
          <p:nvPr/>
        </p:nvSpPr>
        <p:spPr>
          <a:xfrm>
            <a:off x="6096000" y="1450234"/>
            <a:ext cx="7413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b="1" dirty="0"/>
              <a:t>Theorem 2.2 </a:t>
            </a:r>
            <a:r>
              <a:rPr lang="en-US" altLang="zh-TW" dirty="0"/>
              <a:t>— Real Data Stabilizes Training</a:t>
            </a:r>
            <a:endParaRPr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8F17959-6E84-04BE-D4CB-201BF709267B}"/>
              </a:ext>
            </a:extLst>
          </p:cNvPr>
          <p:cNvSpPr/>
          <p:nvPr/>
        </p:nvSpPr>
        <p:spPr>
          <a:xfrm>
            <a:off x="1779847" y="2386964"/>
            <a:ext cx="1225032" cy="58381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Generated pictures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6140BAE6-ACED-430B-CC3C-EE34D617A9E4}"/>
              </a:ext>
            </a:extLst>
          </p:cNvPr>
          <p:cNvSpPr/>
          <p:nvPr/>
        </p:nvSpPr>
        <p:spPr>
          <a:xfrm>
            <a:off x="1578220" y="3268549"/>
            <a:ext cx="1496552" cy="58381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Diffusion model</a:t>
            </a:r>
          </a:p>
        </p:txBody>
      </p:sp>
      <p:cxnSp>
        <p:nvCxnSpPr>
          <p:cNvPr id="26" name="接點: 弧形 25">
            <a:extLst>
              <a:ext uri="{FF2B5EF4-FFF2-40B4-BE49-F238E27FC236}">
                <a16:creationId xmlns:a16="http://schemas.microsoft.com/office/drawing/2014/main" id="{CE881FCD-4D69-5D89-F62A-8E021C15B90D}"/>
              </a:ext>
            </a:extLst>
          </p:cNvPr>
          <p:cNvCxnSpPr>
            <a:cxnSpLocks/>
            <a:stCxn id="24" idx="3"/>
            <a:endCxn id="23" idx="3"/>
          </p:cNvCxnSpPr>
          <p:nvPr/>
        </p:nvCxnSpPr>
        <p:spPr>
          <a:xfrm flipH="1" flipV="1">
            <a:off x="3004879" y="2678871"/>
            <a:ext cx="69893" cy="881585"/>
          </a:xfrm>
          <a:prstGeom prst="curvedConnector3">
            <a:avLst>
              <a:gd name="adj1" fmla="val -32707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接點: 弧形 27">
            <a:extLst>
              <a:ext uri="{FF2B5EF4-FFF2-40B4-BE49-F238E27FC236}">
                <a16:creationId xmlns:a16="http://schemas.microsoft.com/office/drawing/2014/main" id="{F1F44D88-C7A1-7F92-C4A5-DEBDF8E1FE5C}"/>
              </a:ext>
            </a:extLst>
          </p:cNvPr>
          <p:cNvCxnSpPr>
            <a:cxnSpLocks/>
            <a:stCxn id="23" idx="1"/>
            <a:endCxn id="24" idx="1"/>
          </p:cNvCxnSpPr>
          <p:nvPr/>
        </p:nvCxnSpPr>
        <p:spPr>
          <a:xfrm rot="10800000" flipV="1">
            <a:off x="1578221" y="2678870"/>
            <a:ext cx="201627" cy="881585"/>
          </a:xfrm>
          <a:prstGeom prst="curvedConnector3">
            <a:avLst>
              <a:gd name="adj1" fmla="val 21337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CFB1D0FE-50D5-AA14-125F-48BCC0353EED}"/>
              </a:ext>
            </a:extLst>
          </p:cNvPr>
          <p:cNvSpPr/>
          <p:nvPr/>
        </p:nvSpPr>
        <p:spPr>
          <a:xfrm>
            <a:off x="7702312" y="3457522"/>
            <a:ext cx="1496552" cy="58381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Diffusion model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7D98309-BD94-1E36-D653-1142668D11FB}"/>
              </a:ext>
            </a:extLst>
          </p:cNvPr>
          <p:cNvSpPr/>
          <p:nvPr/>
        </p:nvSpPr>
        <p:spPr>
          <a:xfrm>
            <a:off x="7009695" y="2360763"/>
            <a:ext cx="2830044" cy="95865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接點: 弧形 32">
            <a:extLst>
              <a:ext uri="{FF2B5EF4-FFF2-40B4-BE49-F238E27FC236}">
                <a16:creationId xmlns:a16="http://schemas.microsoft.com/office/drawing/2014/main" id="{21B7F4D5-751B-9D81-7631-5AA057B629D7}"/>
              </a:ext>
            </a:extLst>
          </p:cNvPr>
          <p:cNvCxnSpPr>
            <a:cxnSpLocks/>
            <a:stCxn id="32" idx="3"/>
            <a:endCxn id="38" idx="3"/>
          </p:cNvCxnSpPr>
          <p:nvPr/>
        </p:nvCxnSpPr>
        <p:spPr>
          <a:xfrm flipV="1">
            <a:off x="9198864" y="2840088"/>
            <a:ext cx="640875" cy="909341"/>
          </a:xfrm>
          <a:prstGeom prst="curvedConnector3">
            <a:avLst>
              <a:gd name="adj1" fmla="val 13567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接點: 弧形 33">
            <a:extLst>
              <a:ext uri="{FF2B5EF4-FFF2-40B4-BE49-F238E27FC236}">
                <a16:creationId xmlns:a16="http://schemas.microsoft.com/office/drawing/2014/main" id="{127E44C8-C847-31D9-41D5-76005F5DFCA9}"/>
              </a:ext>
            </a:extLst>
          </p:cNvPr>
          <p:cNvCxnSpPr>
            <a:cxnSpLocks/>
            <a:stCxn id="38" idx="1"/>
            <a:endCxn id="32" idx="1"/>
          </p:cNvCxnSpPr>
          <p:nvPr/>
        </p:nvCxnSpPr>
        <p:spPr>
          <a:xfrm rot="10800000" flipH="1" flipV="1">
            <a:off x="7009694" y="2840087"/>
            <a:ext cx="692617" cy="909341"/>
          </a:xfrm>
          <a:prstGeom prst="curvedConnector3">
            <a:avLst>
              <a:gd name="adj1" fmla="val -330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1CA5BD0C-04C1-4770-6232-2B84FA66F230}"/>
              </a:ext>
            </a:extLst>
          </p:cNvPr>
          <p:cNvSpPr/>
          <p:nvPr/>
        </p:nvSpPr>
        <p:spPr>
          <a:xfrm>
            <a:off x="8627940" y="2575937"/>
            <a:ext cx="1179662" cy="58381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Generated pictures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BEBB483-1249-BAE6-7FEC-4AA1D3C1F935}"/>
              </a:ext>
            </a:extLst>
          </p:cNvPr>
          <p:cNvSpPr/>
          <p:nvPr/>
        </p:nvSpPr>
        <p:spPr>
          <a:xfrm>
            <a:off x="7333015" y="2563547"/>
            <a:ext cx="1093297" cy="58381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Real</a:t>
            </a:r>
          </a:p>
          <a:p>
            <a:pPr algn="ctr"/>
            <a:r>
              <a:rPr lang="en-US" altLang="zh-TW" dirty="0"/>
              <a:t>pictures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8D104EC4-16B4-D34A-41BF-D7044142E5C2}"/>
              </a:ext>
            </a:extLst>
          </p:cNvPr>
          <p:cNvSpPr txBox="1"/>
          <p:nvPr/>
        </p:nvSpPr>
        <p:spPr>
          <a:xfrm>
            <a:off x="6379227" y="1756111"/>
            <a:ext cx="66840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Real Data Mixture </a:t>
            </a:r>
          </a:p>
          <a:p>
            <a:r>
              <a:rPr lang="en-US" altLang="zh-TW" sz="1600" dirty="0"/>
              <a:t>→ Local Stability (prevents collapse)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027709A-13C2-BE96-14E2-EAD65A160241}"/>
              </a:ext>
            </a:extLst>
          </p:cNvPr>
          <p:cNvSpPr txBox="1"/>
          <p:nvPr/>
        </p:nvSpPr>
        <p:spPr>
          <a:xfrm>
            <a:off x="-9804" y="4079414"/>
            <a:ext cx="7413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b="1" dirty="0"/>
              <a:t>Theorem 2.3 </a:t>
            </a:r>
            <a:r>
              <a:rPr lang="en-US" altLang="zh-TW" dirty="0"/>
              <a:t>— Curation Increases Reward</a:t>
            </a:r>
            <a:endParaRPr lang="zh-TW" altLang="en-US" dirty="0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D3C8A92A-2E84-413A-2D46-9EA0EFAD6E94}"/>
              </a:ext>
            </a:extLst>
          </p:cNvPr>
          <p:cNvSpPr/>
          <p:nvPr/>
        </p:nvSpPr>
        <p:spPr>
          <a:xfrm>
            <a:off x="2200334" y="5842375"/>
            <a:ext cx="1496552" cy="58381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Diffusion model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2A54477-4F13-8922-DE04-A02610B6E1B6}"/>
              </a:ext>
            </a:extLst>
          </p:cNvPr>
          <p:cNvSpPr/>
          <p:nvPr/>
        </p:nvSpPr>
        <p:spPr>
          <a:xfrm>
            <a:off x="781658" y="4970113"/>
            <a:ext cx="2723405" cy="69144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接點: 弧形 19">
            <a:extLst>
              <a:ext uri="{FF2B5EF4-FFF2-40B4-BE49-F238E27FC236}">
                <a16:creationId xmlns:a16="http://schemas.microsoft.com/office/drawing/2014/main" id="{91CB256E-77F8-CEDD-90C4-C7B253AB64A7}"/>
              </a:ext>
            </a:extLst>
          </p:cNvPr>
          <p:cNvCxnSpPr>
            <a:cxnSpLocks/>
            <a:stCxn id="18" idx="3"/>
            <a:endCxn id="22" idx="3"/>
          </p:cNvCxnSpPr>
          <p:nvPr/>
        </p:nvCxnSpPr>
        <p:spPr>
          <a:xfrm flipV="1">
            <a:off x="3696886" y="5323266"/>
            <a:ext cx="1199792" cy="811016"/>
          </a:xfrm>
          <a:prstGeom prst="curvedConnector3">
            <a:avLst>
              <a:gd name="adj1" fmla="val 11905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接點: 弧形 20">
            <a:extLst>
              <a:ext uri="{FF2B5EF4-FFF2-40B4-BE49-F238E27FC236}">
                <a16:creationId xmlns:a16="http://schemas.microsoft.com/office/drawing/2014/main" id="{33DE4127-0B9C-0B8A-CD7E-B78785F4F824}"/>
              </a:ext>
            </a:extLst>
          </p:cNvPr>
          <p:cNvCxnSpPr>
            <a:cxnSpLocks/>
            <a:stCxn id="19" idx="1"/>
            <a:endCxn id="18" idx="1"/>
          </p:cNvCxnSpPr>
          <p:nvPr/>
        </p:nvCxnSpPr>
        <p:spPr>
          <a:xfrm rot="10800000" flipH="1" flipV="1">
            <a:off x="781658" y="5315836"/>
            <a:ext cx="1418676" cy="818445"/>
          </a:xfrm>
          <a:prstGeom prst="curvedConnector3">
            <a:avLst>
              <a:gd name="adj1" fmla="val -1611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95F44EAE-7464-6BB7-BEF7-8A64A0A9BF8D}"/>
              </a:ext>
            </a:extLst>
          </p:cNvPr>
          <p:cNvSpPr/>
          <p:nvPr/>
        </p:nvSpPr>
        <p:spPr>
          <a:xfrm>
            <a:off x="3706690" y="5017335"/>
            <a:ext cx="1189988" cy="61186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Generated pictures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A08727-4EF3-7607-796B-94B358D17979}"/>
              </a:ext>
            </a:extLst>
          </p:cNvPr>
          <p:cNvSpPr/>
          <p:nvPr/>
        </p:nvSpPr>
        <p:spPr>
          <a:xfrm>
            <a:off x="983856" y="5031359"/>
            <a:ext cx="1093297" cy="58381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Real</a:t>
            </a:r>
          </a:p>
          <a:p>
            <a:pPr algn="ctr"/>
            <a:r>
              <a:rPr lang="en-US" altLang="zh-TW" dirty="0"/>
              <a:t>pictures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0656DB-31D9-2CF2-800B-DDE048EBD49C}"/>
              </a:ext>
            </a:extLst>
          </p:cNvPr>
          <p:cNvSpPr/>
          <p:nvPr/>
        </p:nvSpPr>
        <p:spPr>
          <a:xfrm>
            <a:off x="2310668" y="5031359"/>
            <a:ext cx="1093297" cy="56167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Curated pictures</a:t>
            </a: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AF7E989E-8C13-CF11-3DF0-E360F9856944}"/>
              </a:ext>
            </a:extLst>
          </p:cNvPr>
          <p:cNvCxnSpPr>
            <a:cxnSpLocks/>
            <a:stCxn id="22" idx="1"/>
            <a:endCxn id="13" idx="3"/>
          </p:cNvCxnSpPr>
          <p:nvPr/>
        </p:nvCxnSpPr>
        <p:spPr>
          <a:xfrm flipH="1" flipV="1">
            <a:off x="3403965" y="5312195"/>
            <a:ext cx="302725" cy="11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7822626-9D38-0B15-E481-426B8D9EB9EB}"/>
              </a:ext>
            </a:extLst>
          </p:cNvPr>
          <p:cNvSpPr txBox="1"/>
          <p:nvPr/>
        </p:nvSpPr>
        <p:spPr>
          <a:xfrm>
            <a:off x="317522" y="4402867"/>
            <a:ext cx="67783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Real + Curated Data </a:t>
            </a:r>
          </a:p>
          <a:p>
            <a:r>
              <a:rPr lang="en-US" altLang="zh-TW" sz="1600" dirty="0"/>
              <a:t>→ Stable Training + Reward Optimization</a:t>
            </a:r>
            <a:endParaRPr lang="zh-TW" altLang="en-US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264ADE-133D-3637-7EEA-EDABA4685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35CFA15-8302-994F-9C15-B84DD9917C06}"/>
              </a:ext>
            </a:extLst>
          </p:cNvPr>
          <p:cNvSpPr/>
          <p:nvPr/>
        </p:nvSpPr>
        <p:spPr>
          <a:xfrm>
            <a:off x="4903304" y="254000"/>
            <a:ext cx="7288696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文本框 3">
            <a:extLst>
              <a:ext uri="{FF2B5EF4-FFF2-40B4-BE49-F238E27FC236}">
                <a16:creationId xmlns:a16="http://schemas.microsoft.com/office/drawing/2014/main" id="{363FC1AC-0F12-081E-3A26-3FEF4A301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8" y="136303"/>
            <a:ext cx="44924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2-1</a:t>
            </a:r>
            <a:r>
              <a:rPr lang="zh-TW" altLang="en-US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Iterative Retraining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523973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6CB6C-CBAD-3414-BD8B-7870C4560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AAE8F47-898B-E949-4CF7-72427C8652B3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C6BEB5-7177-4F16-02F5-B82A5AD44D5F}"/>
              </a:ext>
            </a:extLst>
          </p:cNvPr>
          <p:cNvSpPr/>
          <p:nvPr/>
        </p:nvSpPr>
        <p:spPr>
          <a:xfrm>
            <a:off x="6341166" y="254000"/>
            <a:ext cx="5850834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F031DA-105C-1658-C20B-F0887D1C40F8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231C7C-29D4-74FA-51E1-E0FC2E92F4F2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3">
            <a:extLst>
              <a:ext uri="{FF2B5EF4-FFF2-40B4-BE49-F238E27FC236}">
                <a16:creationId xmlns:a16="http://schemas.microsoft.com/office/drawing/2014/main" id="{874D13ED-4359-16B1-9EED-B7D5E1E89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8" y="136303"/>
            <a:ext cx="6546576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2-2</a:t>
            </a:r>
            <a:r>
              <a:rPr lang="zh-TW" altLang="en-US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TW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mbalance data technology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C81B9F-6F95-E049-D1AF-F2B726141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graphicFrame>
        <p:nvGraphicFramePr>
          <p:cNvPr id="23" name="圖表 22">
            <a:extLst>
              <a:ext uri="{FF2B5EF4-FFF2-40B4-BE49-F238E27FC236}">
                <a16:creationId xmlns:a16="http://schemas.microsoft.com/office/drawing/2014/main" id="{6C005E5F-3DEE-B734-7FB4-427EE425D2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6438132"/>
              </p:ext>
            </p:extLst>
          </p:nvPr>
        </p:nvGraphicFramePr>
        <p:xfrm>
          <a:off x="203199" y="1876159"/>
          <a:ext cx="4071257" cy="2768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文字方塊 28">
            <a:extLst>
              <a:ext uri="{FF2B5EF4-FFF2-40B4-BE49-F238E27FC236}">
                <a16:creationId xmlns:a16="http://schemas.microsoft.com/office/drawing/2014/main" id="{897AC6CA-45DA-3507-C924-33E8E0EE1317}"/>
              </a:ext>
            </a:extLst>
          </p:cNvPr>
          <p:cNvSpPr txBox="1"/>
          <p:nvPr/>
        </p:nvSpPr>
        <p:spPr>
          <a:xfrm>
            <a:off x="4637824" y="1790331"/>
            <a:ext cx="7430804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accent1">
                    <a:lumMod val="50000"/>
                  </a:schemeClr>
                </a:solidFill>
              </a:rPr>
              <a:t>Resampling</a:t>
            </a:r>
          </a:p>
          <a:p>
            <a:r>
              <a:rPr lang="en-US" altLang="zh-TW" dirty="0"/>
              <a:t>Over-sampling: Repeatedly sampling minority data </a:t>
            </a:r>
          </a:p>
          <a:p>
            <a:r>
              <a:rPr lang="en-US" altLang="zh-TW" dirty="0"/>
              <a:t>                          →Leads to Over-fitting on synthetic artifacts.</a:t>
            </a:r>
          </a:p>
          <a:p>
            <a:r>
              <a:rPr lang="en-US" altLang="zh-TW" dirty="0"/>
              <a:t>Under-sampling: Under-sampling: Removing majority data </a:t>
            </a:r>
          </a:p>
          <a:p>
            <a:r>
              <a:rPr lang="en-US" altLang="zh-TW" dirty="0"/>
              <a:t>	          →Results in Loss of General Features and diversity.</a:t>
            </a:r>
            <a:endParaRPr lang="en-US" altLang="zh-TW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accent1">
                    <a:lumMod val="50000"/>
                  </a:schemeClr>
                </a:solidFill>
              </a:rPr>
              <a:t>Reweighting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Adjusting the loss function based on class frequency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	         →Difficult to stabilize in iterative generative loops.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endParaRPr lang="en-US" altLang="zh-TW" sz="1400" dirty="0">
              <a:solidFill>
                <a:srgbClr val="FF0000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94010187-C787-B032-D643-0AB5BA9D8716}"/>
              </a:ext>
            </a:extLst>
          </p:cNvPr>
          <p:cNvSpPr txBox="1"/>
          <p:nvPr/>
        </p:nvSpPr>
        <p:spPr>
          <a:xfrm>
            <a:off x="0" y="4493960"/>
            <a:ext cx="48768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In real-world datasets, a few "Majority" classes dominate, while "Minority" or unseen compositional categories are extremely scarce.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7541642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A0F4A-5289-BE28-02F4-E1E188F4C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17D91A1-4499-402C-4848-1D3912E6B166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3C8478-A6BD-B970-756F-C3B492B86A0C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4D5849-2F14-134B-3911-596AF5BC2100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3">
            <a:extLst>
              <a:ext uri="{FF2B5EF4-FFF2-40B4-BE49-F238E27FC236}">
                <a16:creationId xmlns:a16="http://schemas.microsoft.com/office/drawing/2014/main" id="{4749D65C-E8A4-206F-D051-25B901D93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" y="170590"/>
            <a:ext cx="1020417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2-3 Compositional Zero-Shot Learning &amp; generation: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Compositional Zero-Shot Learning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DAC6CF-4359-F598-4538-97DCBF84522E}"/>
              </a:ext>
            </a:extLst>
          </p:cNvPr>
          <p:cNvSpPr/>
          <p:nvPr/>
        </p:nvSpPr>
        <p:spPr>
          <a:xfrm>
            <a:off x="1999332" y="2364790"/>
            <a:ext cx="2078182" cy="1255222"/>
          </a:xfrm>
          <a:prstGeom prst="rect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5D3370-8D8F-086E-D8AF-56933D093001}"/>
              </a:ext>
            </a:extLst>
          </p:cNvPr>
          <p:cNvSpPr/>
          <p:nvPr/>
        </p:nvSpPr>
        <p:spPr>
          <a:xfrm>
            <a:off x="4077514" y="3609792"/>
            <a:ext cx="2078182" cy="1255222"/>
          </a:xfrm>
          <a:prstGeom prst="rect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234C01-B9C9-5A6D-7D41-D9AFBFE1EED6}"/>
              </a:ext>
            </a:extLst>
          </p:cNvPr>
          <p:cNvSpPr/>
          <p:nvPr/>
        </p:nvSpPr>
        <p:spPr>
          <a:xfrm>
            <a:off x="4077514" y="2363872"/>
            <a:ext cx="2078182" cy="12552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D3A4CF-02EE-E3E2-C420-425B5C3D52A8}"/>
              </a:ext>
            </a:extLst>
          </p:cNvPr>
          <p:cNvSpPr/>
          <p:nvPr/>
        </p:nvSpPr>
        <p:spPr>
          <a:xfrm>
            <a:off x="1999332" y="3609022"/>
            <a:ext cx="2078182" cy="12552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64DAD56-4247-9FBF-08D0-DF68ABF52FAB}"/>
              </a:ext>
            </a:extLst>
          </p:cNvPr>
          <p:cNvCxnSpPr/>
          <p:nvPr/>
        </p:nvCxnSpPr>
        <p:spPr>
          <a:xfrm flipV="1">
            <a:off x="1999332" y="2260565"/>
            <a:ext cx="0" cy="26339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873CB060-CFE4-B0F1-602D-E37C248EF31D}"/>
              </a:ext>
            </a:extLst>
          </p:cNvPr>
          <p:cNvCxnSpPr>
            <a:cxnSpLocks/>
          </p:cNvCxnSpPr>
          <p:nvPr/>
        </p:nvCxnSpPr>
        <p:spPr>
          <a:xfrm>
            <a:off x="1999332" y="4875234"/>
            <a:ext cx="425521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6B3F9677-6795-1978-8D83-81963F78038D}"/>
              </a:ext>
            </a:extLst>
          </p:cNvPr>
          <p:cNvSpPr/>
          <p:nvPr/>
        </p:nvSpPr>
        <p:spPr>
          <a:xfrm rot="16200000">
            <a:off x="6953494" y="2649953"/>
            <a:ext cx="2529713" cy="19593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本框 25">
            <a:extLst>
              <a:ext uri="{FF2B5EF4-FFF2-40B4-BE49-F238E27FC236}">
                <a16:creationId xmlns:a16="http://schemas.microsoft.com/office/drawing/2014/main" id="{EAC04743-7235-78FB-BFA7-3CFCA5681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666" y="2903725"/>
            <a:ext cx="10498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dirty="0">
                <a:solidFill>
                  <a:schemeClr val="accent5"/>
                </a:solidFill>
                <a:latin typeface="+mn-lt"/>
              </a:rPr>
              <a:t>dog</a:t>
            </a:r>
            <a:endParaRPr lang="zh-CN" altLang="en-US" sz="16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20" name="文本框 25">
            <a:extLst>
              <a:ext uri="{FF2B5EF4-FFF2-40B4-BE49-F238E27FC236}">
                <a16:creationId xmlns:a16="http://schemas.microsoft.com/office/drawing/2014/main" id="{AE3C2D08-30D3-1CB3-9B6D-E4C4AAD0B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7089" y="4975184"/>
            <a:ext cx="10498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dirty="0">
                <a:solidFill>
                  <a:schemeClr val="accent5"/>
                </a:solidFill>
                <a:latin typeface="+mn-lt"/>
              </a:rPr>
              <a:t>dry</a:t>
            </a:r>
            <a:endParaRPr lang="zh-CN" altLang="en-US" sz="16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F57AD3D6-C34B-7E90-5C05-6830EC489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665" y="3989054"/>
            <a:ext cx="10498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dirty="0">
                <a:solidFill>
                  <a:srgbClr val="FF0000"/>
                </a:solidFill>
                <a:latin typeface="+mn-lt"/>
              </a:rPr>
              <a:t>cat</a:t>
            </a:r>
            <a:endParaRPr lang="zh-CN" altLang="en-US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2" name="文本框 25">
            <a:extLst>
              <a:ext uri="{FF2B5EF4-FFF2-40B4-BE49-F238E27FC236}">
                <a16:creationId xmlns:a16="http://schemas.microsoft.com/office/drawing/2014/main" id="{82CA8BCB-DA86-D1F8-81AC-FDEDA253F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671" y="4986175"/>
            <a:ext cx="10498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dirty="0">
                <a:solidFill>
                  <a:srgbClr val="FF0000"/>
                </a:solidFill>
                <a:latin typeface="+mn-lt"/>
              </a:rPr>
              <a:t>wet</a:t>
            </a:r>
            <a:endParaRPr lang="zh-CN" altLang="en-US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3" name="文本框 25">
            <a:extLst>
              <a:ext uri="{FF2B5EF4-FFF2-40B4-BE49-F238E27FC236}">
                <a16:creationId xmlns:a16="http://schemas.microsoft.com/office/drawing/2014/main" id="{1A3720A8-0C55-D85D-5532-3E840F7EC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398" y="1842865"/>
            <a:ext cx="10498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b="1" dirty="0">
                <a:latin typeface="+mn-lt"/>
              </a:rPr>
              <a:t>Object</a:t>
            </a:r>
            <a:endParaRPr lang="zh-CN" altLang="en-US" sz="1600" b="1" dirty="0">
              <a:latin typeface="+mn-lt"/>
            </a:endParaRPr>
          </a:p>
        </p:txBody>
      </p:sp>
      <p:sp>
        <p:nvSpPr>
          <p:cNvPr id="24" name="文本框 25">
            <a:extLst>
              <a:ext uri="{FF2B5EF4-FFF2-40B4-BE49-F238E27FC236}">
                <a16:creationId xmlns:a16="http://schemas.microsoft.com/office/drawing/2014/main" id="{34FBAB8A-EF0D-09CF-CE80-4600165ED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762" y="4894502"/>
            <a:ext cx="10498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b="1" dirty="0">
                <a:latin typeface="+mn-lt"/>
              </a:rPr>
              <a:t>Attribute</a:t>
            </a:r>
            <a:endParaRPr lang="zh-CN" altLang="en-US" sz="1600" b="1" dirty="0">
              <a:latin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CE9432-5801-FAB4-2E10-A02E708B91A1}"/>
              </a:ext>
            </a:extLst>
          </p:cNvPr>
          <p:cNvSpPr/>
          <p:nvPr/>
        </p:nvSpPr>
        <p:spPr>
          <a:xfrm>
            <a:off x="2733246" y="1413946"/>
            <a:ext cx="288000" cy="28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44C6476-21A1-F603-B5B0-3F5D0724B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429" y="1387486"/>
            <a:ext cx="22378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+mn-lt"/>
              </a:rPr>
              <a:t>Seen Concepts</a:t>
            </a:r>
            <a:endParaRPr lang="zh-CN" altLang="en-US" sz="1600" dirty="0">
              <a:latin typeface="+mn-lt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6BF8B15-2F27-AD2E-ACB3-47111B182A36}"/>
              </a:ext>
            </a:extLst>
          </p:cNvPr>
          <p:cNvSpPr/>
          <p:nvPr/>
        </p:nvSpPr>
        <p:spPr>
          <a:xfrm>
            <a:off x="2733246" y="1813109"/>
            <a:ext cx="288000" cy="288000"/>
          </a:xfrm>
          <a:prstGeom prst="rect">
            <a:avLst/>
          </a:prstGeom>
          <a:solidFill>
            <a:srgbClr val="C5E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本框 25">
            <a:extLst>
              <a:ext uri="{FF2B5EF4-FFF2-40B4-BE49-F238E27FC236}">
                <a16:creationId xmlns:a16="http://schemas.microsoft.com/office/drawing/2014/main" id="{38AC51C4-66AF-9CE0-588F-FD0DD2FD9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2813" y="1778937"/>
            <a:ext cx="16430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+mn-lt"/>
              </a:rPr>
              <a:t>Unseen Concepts</a:t>
            </a:r>
            <a:endParaRPr lang="zh-CN" altLang="en-US" sz="1600" dirty="0">
              <a:latin typeface="+mn-lt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F5B1CB0-CF44-DE22-E516-38DCE5204A82}"/>
              </a:ext>
            </a:extLst>
          </p:cNvPr>
          <p:cNvSpPr/>
          <p:nvPr/>
        </p:nvSpPr>
        <p:spPr>
          <a:xfrm>
            <a:off x="7436381" y="1666382"/>
            <a:ext cx="288000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本框 25">
            <a:extLst>
              <a:ext uri="{FF2B5EF4-FFF2-40B4-BE49-F238E27FC236}">
                <a16:creationId xmlns:a16="http://schemas.microsoft.com/office/drawing/2014/main" id="{FA2089FE-614A-B71A-FCF8-692980905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8783" y="1648944"/>
            <a:ext cx="26765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+mn-lt"/>
              </a:rPr>
              <a:t>Image with Unseen Concepts</a:t>
            </a:r>
            <a:endParaRPr lang="zh-CN" altLang="en-US" sz="1600" dirty="0">
              <a:latin typeface="+mn-lt"/>
            </a:endParaRPr>
          </a:p>
        </p:txBody>
      </p:sp>
      <p:pic>
        <p:nvPicPr>
          <p:cNvPr id="32" name="圖片 31" descr="一張含有 哺乳動物, 貓, 家貓, 小型到中型大小的貓 的圖片&#10;&#10;AI 產生的內容可能不正確。">
            <a:extLst>
              <a:ext uri="{FF2B5EF4-FFF2-40B4-BE49-F238E27FC236}">
                <a16:creationId xmlns:a16="http://schemas.microsoft.com/office/drawing/2014/main" id="{6A0FEB3C-1588-C854-4F36-3D178CC8C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468" y="3736135"/>
            <a:ext cx="720000" cy="1080000"/>
          </a:xfrm>
          <a:prstGeom prst="rect">
            <a:avLst/>
          </a:prstGeom>
        </p:spPr>
      </p:pic>
      <p:pic>
        <p:nvPicPr>
          <p:cNvPr id="34" name="圖片 33" descr="一張含有 哺乳動物, 狗飼養, 狗, 寵物 的圖片&#10;&#10;AI 產生的內容可能不正確。">
            <a:extLst>
              <a:ext uri="{FF2B5EF4-FFF2-40B4-BE49-F238E27FC236}">
                <a16:creationId xmlns:a16="http://schemas.microsoft.com/office/drawing/2014/main" id="{0D7FD788-8DE6-A190-C358-55438B292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423" y="2461685"/>
            <a:ext cx="720000" cy="1080000"/>
          </a:xfrm>
          <a:prstGeom prst="rect">
            <a:avLst/>
          </a:prstGeom>
        </p:spPr>
      </p:pic>
      <p:pic>
        <p:nvPicPr>
          <p:cNvPr id="36" name="圖片 35" descr="一張含有 哺乳動物, 鬍鬚, 小型到中型大小的貓, 貓 的圖片&#10;&#10;AI 產生的內容可能不正確。">
            <a:extLst>
              <a:ext uri="{FF2B5EF4-FFF2-40B4-BE49-F238E27FC236}">
                <a16:creationId xmlns:a16="http://schemas.microsoft.com/office/drawing/2014/main" id="{A004FA73-F12D-5A45-268C-74AC80AE8B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604" y="3736135"/>
            <a:ext cx="720000" cy="1080000"/>
          </a:xfrm>
          <a:prstGeom prst="rect">
            <a:avLst/>
          </a:prstGeom>
        </p:spPr>
      </p:pic>
      <p:pic>
        <p:nvPicPr>
          <p:cNvPr id="38" name="圖片 37" descr="一張含有 狗飼養, 哺乳動物, 寵物, 狗 的圖片&#10;&#10;AI 產生的內容可能不正確。">
            <a:extLst>
              <a:ext uri="{FF2B5EF4-FFF2-40B4-BE49-F238E27FC236}">
                <a16:creationId xmlns:a16="http://schemas.microsoft.com/office/drawing/2014/main" id="{57F445CA-47EE-66FF-ECDA-F586A6F884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468" y="2461685"/>
            <a:ext cx="719999" cy="1080000"/>
          </a:xfrm>
          <a:prstGeom prst="rect">
            <a:avLst/>
          </a:prstGeom>
        </p:spPr>
      </p:pic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0F60E737-1BFD-2C0A-0923-B97A49DADD3B}"/>
              </a:ext>
            </a:extLst>
          </p:cNvPr>
          <p:cNvCxnSpPr>
            <a:cxnSpLocks/>
          </p:cNvCxnSpPr>
          <p:nvPr/>
        </p:nvCxnSpPr>
        <p:spPr>
          <a:xfrm>
            <a:off x="3398423" y="3001685"/>
            <a:ext cx="882291" cy="0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979D142B-29CC-826D-6F61-C5FA0103927C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3038423" y="3541685"/>
            <a:ext cx="0" cy="261698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8C3C2199-D562-D575-9C15-5B2CEA2C350B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3915770" y="4276135"/>
            <a:ext cx="840834" cy="0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631773C1-5494-ADBB-5249-3FDE3DAC4575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5116604" y="3456301"/>
            <a:ext cx="0" cy="279834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25">
            <a:extLst>
              <a:ext uri="{FF2B5EF4-FFF2-40B4-BE49-F238E27FC236}">
                <a16:creationId xmlns:a16="http://schemas.microsoft.com/office/drawing/2014/main" id="{87F9848A-F377-37E8-B59C-88A5B64CF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713" y="3566744"/>
            <a:ext cx="104986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050" dirty="0">
                <a:latin typeface="+mn-lt"/>
              </a:rPr>
              <a:t>“dry”</a:t>
            </a:r>
            <a:endParaRPr lang="zh-CN" altLang="en-US" sz="1050" dirty="0">
              <a:latin typeface="+mn-lt"/>
            </a:endParaRPr>
          </a:p>
        </p:txBody>
      </p:sp>
      <p:sp>
        <p:nvSpPr>
          <p:cNvPr id="52" name="文本框 25">
            <a:extLst>
              <a:ext uri="{FF2B5EF4-FFF2-40B4-BE49-F238E27FC236}">
                <a16:creationId xmlns:a16="http://schemas.microsoft.com/office/drawing/2014/main" id="{D1BAFC25-999D-8EB5-96A1-77571DA7B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6737" y="2768297"/>
            <a:ext cx="104986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050" dirty="0">
                <a:latin typeface="+mn-lt"/>
              </a:rPr>
              <a:t>“dog”</a:t>
            </a:r>
            <a:endParaRPr lang="zh-CN" altLang="en-US" sz="1050" dirty="0">
              <a:latin typeface="+mn-lt"/>
            </a:endParaRPr>
          </a:p>
        </p:txBody>
      </p:sp>
      <p:sp>
        <p:nvSpPr>
          <p:cNvPr id="53" name="文本框 25">
            <a:extLst>
              <a:ext uri="{FF2B5EF4-FFF2-40B4-BE49-F238E27FC236}">
                <a16:creationId xmlns:a16="http://schemas.microsoft.com/office/drawing/2014/main" id="{4ACA9567-E651-91AE-C202-62C62017F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361" y="3367704"/>
            <a:ext cx="104986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050" dirty="0">
                <a:latin typeface="+mn-lt"/>
              </a:rPr>
              <a:t>“wet”</a:t>
            </a:r>
            <a:endParaRPr lang="zh-CN" altLang="en-US" sz="1050" dirty="0">
              <a:latin typeface="+mn-lt"/>
            </a:endParaRPr>
          </a:p>
        </p:txBody>
      </p:sp>
      <p:sp>
        <p:nvSpPr>
          <p:cNvPr id="54" name="文本框 25">
            <a:extLst>
              <a:ext uri="{FF2B5EF4-FFF2-40B4-BE49-F238E27FC236}">
                <a16:creationId xmlns:a16="http://schemas.microsoft.com/office/drawing/2014/main" id="{92926134-F63C-6932-8F4A-7D88C38F4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2581" y="4286047"/>
            <a:ext cx="104986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050" dirty="0">
                <a:latin typeface="+mn-lt"/>
              </a:rPr>
              <a:t>“cat”</a:t>
            </a:r>
            <a:endParaRPr lang="zh-CN" altLang="en-US" sz="1050" dirty="0">
              <a:latin typeface="+mn-lt"/>
            </a:endParaRPr>
          </a:p>
        </p:txBody>
      </p:sp>
      <p:sp>
        <p:nvSpPr>
          <p:cNvPr id="72" name="箭號: 弧形右彎 71">
            <a:extLst>
              <a:ext uri="{FF2B5EF4-FFF2-40B4-BE49-F238E27FC236}">
                <a16:creationId xmlns:a16="http://schemas.microsoft.com/office/drawing/2014/main" id="{BDA75077-7D9F-E54A-13BA-516A12D7704A}"/>
              </a:ext>
            </a:extLst>
          </p:cNvPr>
          <p:cNvSpPr/>
          <p:nvPr/>
        </p:nvSpPr>
        <p:spPr>
          <a:xfrm rot="5400000">
            <a:off x="6116955" y="842413"/>
            <a:ext cx="597671" cy="3212624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3" name="箭號: 弧形右彎 72">
            <a:extLst>
              <a:ext uri="{FF2B5EF4-FFF2-40B4-BE49-F238E27FC236}">
                <a16:creationId xmlns:a16="http://schemas.microsoft.com/office/drawing/2014/main" id="{54ADBD3D-B2D5-7496-B0C7-0A12145F833E}"/>
              </a:ext>
            </a:extLst>
          </p:cNvPr>
          <p:cNvSpPr/>
          <p:nvPr/>
        </p:nvSpPr>
        <p:spPr>
          <a:xfrm rot="5689059" flipH="1">
            <a:off x="4992532" y="2435222"/>
            <a:ext cx="918240" cy="5224787"/>
          </a:xfrm>
          <a:prstGeom prst="curvedRightArrow">
            <a:avLst>
              <a:gd name="adj1" fmla="val 25000"/>
              <a:gd name="adj2" fmla="val 45716"/>
              <a:gd name="adj3" fmla="val 2500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7A8425C-97AA-E24B-C4DA-7DD7092AA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7A62AC-E0EA-4105-E418-5E1732DC42B4}"/>
              </a:ext>
            </a:extLst>
          </p:cNvPr>
          <p:cNvSpPr/>
          <p:nvPr/>
        </p:nvSpPr>
        <p:spPr>
          <a:xfrm>
            <a:off x="8945226" y="253999"/>
            <a:ext cx="3246774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60627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B2AD2-73F8-985B-359E-D32B1676D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B1CF34-18C1-4524-E2ED-DA6585AF2490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50E057-BC8B-2E05-2D82-64030D2D7925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6C2234-C503-3C47-D198-6128D7A5EAEF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3ECA775-A44A-F73C-EC06-859B63546C5B}"/>
              </a:ext>
            </a:extLst>
          </p:cNvPr>
          <p:cNvSpPr/>
          <p:nvPr/>
        </p:nvSpPr>
        <p:spPr>
          <a:xfrm rot="5400000">
            <a:off x="8482263" y="3641945"/>
            <a:ext cx="1461045" cy="87026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57FD46B7-863F-601E-CFBC-042AAA1F1D29}"/>
              </a:ext>
            </a:extLst>
          </p:cNvPr>
          <p:cNvGrpSpPr/>
          <p:nvPr/>
        </p:nvGrpSpPr>
        <p:grpSpPr>
          <a:xfrm>
            <a:off x="2499314" y="1620353"/>
            <a:ext cx="7193371" cy="3617293"/>
            <a:chOff x="430810" y="1039683"/>
            <a:chExt cx="7193371" cy="3617293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DE76A8F-212C-2AA9-F419-928414F38D71}"/>
                </a:ext>
              </a:extLst>
            </p:cNvPr>
            <p:cNvGrpSpPr/>
            <p:nvPr/>
          </p:nvGrpSpPr>
          <p:grpSpPr>
            <a:xfrm>
              <a:off x="430810" y="1039683"/>
              <a:ext cx="7193371" cy="3617293"/>
              <a:chOff x="430810" y="1039683"/>
              <a:chExt cx="7193371" cy="3617293"/>
            </a:xfrm>
          </p:grpSpPr>
          <p:grpSp>
            <p:nvGrpSpPr>
              <p:cNvPr id="12" name="群組 11">
                <a:extLst>
                  <a:ext uri="{FF2B5EF4-FFF2-40B4-BE49-F238E27FC236}">
                    <a16:creationId xmlns:a16="http://schemas.microsoft.com/office/drawing/2014/main" id="{C565456E-D72E-9BCA-B4BB-38AA01737D77}"/>
                  </a:ext>
                </a:extLst>
              </p:cNvPr>
              <p:cNvGrpSpPr/>
              <p:nvPr/>
            </p:nvGrpSpPr>
            <p:grpSpPr>
              <a:xfrm>
                <a:off x="430810" y="1039683"/>
                <a:ext cx="7193371" cy="3617293"/>
                <a:chOff x="1106431" y="874629"/>
                <a:chExt cx="10530363" cy="5295347"/>
              </a:xfrm>
            </p:grpSpPr>
            <p:sp>
              <p:nvSpPr>
                <p:cNvPr id="18" name="矩形: 圓角 17">
                  <a:extLst>
                    <a:ext uri="{FF2B5EF4-FFF2-40B4-BE49-F238E27FC236}">
                      <a16:creationId xmlns:a16="http://schemas.microsoft.com/office/drawing/2014/main" id="{465E76E2-2FA6-6398-E588-5B8EB7D878AA}"/>
                    </a:ext>
                  </a:extLst>
                </p:cNvPr>
                <p:cNvSpPr/>
                <p:nvPr/>
              </p:nvSpPr>
              <p:spPr>
                <a:xfrm>
                  <a:off x="1106431" y="874629"/>
                  <a:ext cx="6616722" cy="4193416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28575">
                  <a:solidFill>
                    <a:srgbClr val="4472C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矩形: 圓角 18">
                      <a:extLst>
                        <a:ext uri="{FF2B5EF4-FFF2-40B4-BE49-F238E27FC236}">
                          <a16:creationId xmlns:a16="http://schemas.microsoft.com/office/drawing/2014/main" id="{39301166-CF54-3DBB-FB6E-FF692B73E9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72935" y="1479801"/>
                      <a:ext cx="516193" cy="528482"/>
                    </a:xfrm>
                    <a:prstGeom prst="round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5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91440" tIns="45720" rIns="91440" bIns="45720"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TW" sz="1200" b="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1" name="矩形: 圓角 100">
                      <a:extLst>
                        <a:ext uri="{FF2B5EF4-FFF2-40B4-BE49-F238E27FC236}">
                          <a16:creationId xmlns:a16="http://schemas.microsoft.com/office/drawing/2014/main" id="{4B64305D-285B-4B40-BE9C-A198157EB75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72935" y="1479801"/>
                      <a:ext cx="516193" cy="528482"/>
                    </a:xfrm>
                    <a:prstGeom prst="round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  <a:ln>
                      <a:solidFill>
                        <a:schemeClr val="accent5">
                          <a:lumMod val="7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矩形: 圓角 19">
                  <a:extLst>
                    <a:ext uri="{FF2B5EF4-FFF2-40B4-BE49-F238E27FC236}">
                      <a16:creationId xmlns:a16="http://schemas.microsoft.com/office/drawing/2014/main" id="{5D383812-38CB-859F-9EE5-3B09CB10483B}"/>
                    </a:ext>
                  </a:extLst>
                </p:cNvPr>
                <p:cNvSpPr/>
                <p:nvPr/>
              </p:nvSpPr>
              <p:spPr>
                <a:xfrm>
                  <a:off x="3190789" y="1480989"/>
                  <a:ext cx="2520215" cy="554702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TW" altLang="en-US" sz="12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新細明體"/>
                    </a:rPr>
                    <a:t>Forward diffusion process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矩形: 圓角 20">
                      <a:extLst>
                        <a:ext uri="{FF2B5EF4-FFF2-40B4-BE49-F238E27FC236}">
                          <a16:creationId xmlns:a16="http://schemas.microsoft.com/office/drawing/2014/main" id="{5558842D-5F28-C692-976F-B69B2D2A8A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4745" y="1476046"/>
                      <a:ext cx="516193" cy="528482"/>
                    </a:xfrm>
                    <a:prstGeom prst="round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5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91440" tIns="45720" rIns="91440" bIns="45720"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TW" sz="1200" b="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3" name="矩形: 圓角 102">
                      <a:extLst>
                        <a:ext uri="{FF2B5EF4-FFF2-40B4-BE49-F238E27FC236}">
                          <a16:creationId xmlns:a16="http://schemas.microsoft.com/office/drawing/2014/main" id="{CC4FC512-A7C7-4239-9DCD-3ECAD377FB9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34745" y="1476046"/>
                      <a:ext cx="516193" cy="528482"/>
                    </a:xfrm>
                    <a:prstGeom prst="round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solidFill>
                        <a:schemeClr val="accent5">
                          <a:lumMod val="7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矩形: 圓角 21">
                      <a:extLst>
                        <a:ext uri="{FF2B5EF4-FFF2-40B4-BE49-F238E27FC236}">
                          <a16:creationId xmlns:a16="http://schemas.microsoft.com/office/drawing/2014/main" id="{B3F7AEED-EF1D-9A58-71EC-753C134BE6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4745" y="3541399"/>
                      <a:ext cx="516193" cy="528482"/>
                    </a:xfrm>
                    <a:prstGeom prst="round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5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91440" tIns="45720" rIns="91440" bIns="45720"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TW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TW" sz="1200" b="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4" name="矩形: 圓角 103">
                      <a:extLst>
                        <a:ext uri="{FF2B5EF4-FFF2-40B4-BE49-F238E27FC236}">
                          <a16:creationId xmlns:a16="http://schemas.microsoft.com/office/drawing/2014/main" id="{3324DE36-CDB3-4AA7-989B-E9E88161F9E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34745" y="3541399"/>
                      <a:ext cx="516193" cy="528482"/>
                    </a:xfrm>
                    <a:prstGeom prst="round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solidFill>
                        <a:schemeClr val="accent5">
                          <a:lumMod val="7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矩形: 圓角 22">
                  <a:extLst>
                    <a:ext uri="{FF2B5EF4-FFF2-40B4-BE49-F238E27FC236}">
                      <a16:creationId xmlns:a16="http://schemas.microsoft.com/office/drawing/2014/main" id="{0B2E8B9B-32F1-0BEC-2925-035C5A19A54D}"/>
                    </a:ext>
                  </a:extLst>
                </p:cNvPr>
                <p:cNvSpPr/>
                <p:nvPr/>
              </p:nvSpPr>
              <p:spPr>
                <a:xfrm>
                  <a:off x="8113428" y="875031"/>
                  <a:ext cx="3523366" cy="5294945"/>
                </a:xfrm>
                <a:prstGeom prst="roundRect">
                  <a:avLst/>
                </a:prstGeom>
                <a:solidFill>
                  <a:schemeClr val="bg1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32ABE6B3-B3A2-B8B9-B6BF-1AF341FD242B}"/>
                    </a:ext>
                  </a:extLst>
                </p:cNvPr>
                <p:cNvSpPr txBox="1"/>
                <p:nvPr/>
              </p:nvSpPr>
              <p:spPr>
                <a:xfrm>
                  <a:off x="8825568" y="901325"/>
                  <a:ext cx="2294567" cy="450554"/>
                </a:xfrm>
                <a:prstGeom prst="rect">
                  <a:avLst/>
                </a:prstGeom>
                <a:noFill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zh-TW" altLang="en-US" sz="1400" dirty="0">
                      <a:latin typeface="Cambria" panose="02040503050406030204" pitchFamily="18" charset="0"/>
                      <a:ea typeface="新細明體"/>
                    </a:rPr>
                    <a:t> </a:t>
                  </a:r>
                  <a:r>
                    <a:rPr lang="zh-TW" altLang="en-US" sz="1400" b="1" dirty="0">
                      <a:latin typeface="Cambria" panose="02040503050406030204" pitchFamily="18" charset="0"/>
                      <a:ea typeface="新細明體"/>
                    </a:rPr>
                    <a:t>Condition Space</a:t>
                  </a:r>
                </a:p>
              </p:txBody>
            </p:sp>
            <p:sp>
              <p:nvSpPr>
                <p:cNvPr id="25" name="矩形: 圓角 24">
                  <a:extLst>
                    <a:ext uri="{FF2B5EF4-FFF2-40B4-BE49-F238E27FC236}">
                      <a16:creationId xmlns:a16="http://schemas.microsoft.com/office/drawing/2014/main" id="{B993A9A7-AEA2-F40E-53FB-D3D08658821B}"/>
                    </a:ext>
                  </a:extLst>
                </p:cNvPr>
                <p:cNvSpPr/>
                <p:nvPr/>
              </p:nvSpPr>
              <p:spPr>
                <a:xfrm>
                  <a:off x="10297286" y="2393662"/>
                  <a:ext cx="1273972" cy="621808"/>
                </a:xfrm>
                <a:prstGeom prst="round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TW" altLang="en-US" sz="8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新細明體"/>
                    </a:rPr>
                    <a:t>Compositional</a:t>
                  </a:r>
                  <a:endParaRPr lang="zh-TW" sz="800" dirty="0">
                    <a:solidFill>
                      <a:schemeClr val="tx1"/>
                    </a:solidFill>
                    <a:latin typeface="Cambria" panose="02040503050406030204" pitchFamily="18" charset="0"/>
                    <a:ea typeface="新細明體"/>
                  </a:endParaRPr>
                </a:p>
                <a:p>
                  <a:pPr algn="ctr"/>
                  <a:r>
                    <a:rPr lang="en-US" altLang="zh-TW" sz="8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新細明體"/>
                    </a:rPr>
                    <a:t>c</a:t>
                  </a:r>
                  <a:r>
                    <a:rPr lang="zh-TW" altLang="en-US" sz="8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新細明體"/>
                    </a:rPr>
                    <a:t>lass label </a:t>
                  </a:r>
                  <a:r>
                    <a:rPr lang="en-US" altLang="zh-TW" sz="8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新細明體"/>
                    </a:rPr>
                    <a:t>c</a:t>
                  </a:r>
                  <a:endParaRPr lang="zh-TW" sz="800" dirty="0">
                    <a:solidFill>
                      <a:schemeClr val="tx1"/>
                    </a:solidFill>
                    <a:latin typeface="Cambria" panose="02040503050406030204" pitchFamily="18" charset="0"/>
                    <a:ea typeface="新細明體"/>
                    <a:cs typeface="Calibri"/>
                  </a:endParaRPr>
                </a:p>
              </p:txBody>
            </p:sp>
            <p:cxnSp>
              <p:nvCxnSpPr>
                <p:cNvPr id="26" name="直線單箭頭接點 25">
                  <a:extLst>
                    <a:ext uri="{FF2B5EF4-FFF2-40B4-BE49-F238E27FC236}">
                      <a16:creationId xmlns:a16="http://schemas.microsoft.com/office/drawing/2014/main" id="{79289928-C7C5-2381-48CD-DA9CF03F88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11003" y="1745303"/>
                  <a:ext cx="92374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線單箭頭接點 26">
                  <a:extLst>
                    <a:ext uri="{FF2B5EF4-FFF2-40B4-BE49-F238E27FC236}">
                      <a16:creationId xmlns:a16="http://schemas.microsoft.com/office/drawing/2014/main" id="{7BED0D7D-17AA-2484-B652-40E0961B2B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84738" y="1740287"/>
                  <a:ext cx="928132" cy="0"/>
                </a:xfrm>
                <a:prstGeom prst="straightConnector1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矩形: 圓角 27">
                      <a:extLst>
                        <a:ext uri="{FF2B5EF4-FFF2-40B4-BE49-F238E27FC236}">
                          <a16:creationId xmlns:a16="http://schemas.microsoft.com/office/drawing/2014/main" id="{70F65DB5-F12E-C6FE-47ED-3294875B35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72935" y="3541399"/>
                      <a:ext cx="516193" cy="528482"/>
                    </a:xfrm>
                    <a:prstGeom prst="roundRect">
                      <a:avLst/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5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91440" tIns="45720" rIns="91440" bIns="45720"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zh-TW" altLang="en-US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TW" altLang="en-US" sz="1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1200" i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acc>
                          </m:oMath>
                        </m:oMathPara>
                      </a14:m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0" name="矩形: 圓角 109">
                      <a:extLst>
                        <a:ext uri="{FF2B5EF4-FFF2-40B4-BE49-F238E27FC236}">
                          <a16:creationId xmlns:a16="http://schemas.microsoft.com/office/drawing/2014/main" id="{D56D5C48-6DAB-4EE4-AEEB-5B0DCEC1255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72935" y="3541399"/>
                      <a:ext cx="516193" cy="528482"/>
                    </a:xfrm>
                    <a:prstGeom prst="round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solidFill>
                        <a:schemeClr val="accent5">
                          <a:lumMod val="7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9" name="文字方塊 25">
                  <a:extLst>
                    <a:ext uri="{FF2B5EF4-FFF2-40B4-BE49-F238E27FC236}">
                      <a16:creationId xmlns:a16="http://schemas.microsoft.com/office/drawing/2014/main" id="{F1132674-37E5-2353-D0EC-75F92A1B5ED8}"/>
                    </a:ext>
                  </a:extLst>
                </p:cNvPr>
                <p:cNvSpPr txBox="1"/>
                <p:nvPr/>
              </p:nvSpPr>
              <p:spPr>
                <a:xfrm>
                  <a:off x="3684574" y="948800"/>
                  <a:ext cx="1793215" cy="450554"/>
                </a:xfrm>
                <a:prstGeom prst="rect">
                  <a:avLst/>
                </a:prstGeom>
                <a:noFill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TW" altLang="en-US" sz="1400" b="1" dirty="0">
                      <a:latin typeface="Cambria" panose="02040503050406030204" pitchFamily="18" charset="0"/>
                    </a:rPr>
                    <a:t>Pixel Space</a:t>
                  </a:r>
                </a:p>
              </p:txBody>
            </p:sp>
            <p:sp>
              <p:nvSpPr>
                <p:cNvPr id="30" name="矩形: 圓角 29">
                  <a:extLst>
                    <a:ext uri="{FF2B5EF4-FFF2-40B4-BE49-F238E27FC236}">
                      <a16:creationId xmlns:a16="http://schemas.microsoft.com/office/drawing/2014/main" id="{AA93A922-7E60-C0A9-47D7-028F4A238491}"/>
                    </a:ext>
                  </a:extLst>
                </p:cNvPr>
                <p:cNvSpPr/>
                <p:nvPr/>
              </p:nvSpPr>
              <p:spPr>
                <a:xfrm>
                  <a:off x="9351798" y="1431567"/>
                  <a:ext cx="775731" cy="433570"/>
                </a:xfrm>
                <a:prstGeom prst="round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TW" altLang="en-US" sz="8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新細明體"/>
                    </a:rPr>
                    <a:t>Class</a:t>
                  </a:r>
                </a:p>
                <a:p>
                  <a:pPr algn="ctr"/>
                  <a:r>
                    <a:rPr lang="zh-TW" altLang="en-US" sz="8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新細明體"/>
                      <a:cs typeface="Calibri"/>
                    </a:rPr>
                    <a:t>lable 1</a:t>
                  </a:r>
                </a:p>
              </p:txBody>
            </p:sp>
            <p:sp>
              <p:nvSpPr>
                <p:cNvPr id="31" name="矩形: 圓角 30">
                  <a:extLst>
                    <a:ext uri="{FF2B5EF4-FFF2-40B4-BE49-F238E27FC236}">
                      <a16:creationId xmlns:a16="http://schemas.microsoft.com/office/drawing/2014/main" id="{4056C127-9300-7D18-D414-8BD75DD08EA0}"/>
                    </a:ext>
                  </a:extLst>
                </p:cNvPr>
                <p:cNvSpPr/>
                <p:nvPr/>
              </p:nvSpPr>
              <p:spPr>
                <a:xfrm>
                  <a:off x="10543995" y="1431932"/>
                  <a:ext cx="775731" cy="435518"/>
                </a:xfrm>
                <a:prstGeom prst="round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TW" altLang="en-US" sz="8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新細明體"/>
                    </a:rPr>
                    <a:t>Class</a:t>
                  </a:r>
                </a:p>
                <a:p>
                  <a:pPr algn="ctr"/>
                  <a:r>
                    <a:rPr lang="zh-TW" altLang="en-US" sz="8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新細明體"/>
                      <a:cs typeface="Calibri"/>
                    </a:rPr>
                    <a:t>lable n</a:t>
                  </a:r>
                </a:p>
              </p:txBody>
            </p:sp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A61FD219-6528-4AE2-F280-F72A12A97173}"/>
                    </a:ext>
                  </a:extLst>
                </p:cNvPr>
                <p:cNvSpPr txBox="1"/>
                <p:nvPr/>
              </p:nvSpPr>
              <p:spPr>
                <a:xfrm>
                  <a:off x="10118409" y="1431567"/>
                  <a:ext cx="423655" cy="315388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zh-TW" altLang="en-US" sz="800" dirty="0">
                      <a:ea typeface="新細明體"/>
                      <a:cs typeface="Calibri"/>
                    </a:rPr>
                    <a:t>. . .</a:t>
                  </a:r>
                </a:p>
              </p:txBody>
            </p:sp>
            <p:sp>
              <p:nvSpPr>
                <p:cNvPr id="33" name="立方體 32">
                  <a:extLst>
                    <a:ext uri="{FF2B5EF4-FFF2-40B4-BE49-F238E27FC236}">
                      <a16:creationId xmlns:a16="http://schemas.microsoft.com/office/drawing/2014/main" id="{B1B483DE-D10C-3E7F-CEBA-3A689507D064}"/>
                    </a:ext>
                  </a:extLst>
                </p:cNvPr>
                <p:cNvSpPr/>
                <p:nvPr/>
              </p:nvSpPr>
              <p:spPr>
                <a:xfrm rot="16200000">
                  <a:off x="9975544" y="3993182"/>
                  <a:ext cx="1923259" cy="1019690"/>
                </a:xfrm>
                <a:prstGeom prst="cube">
                  <a:avLst/>
                </a:prstGeom>
                <a:solidFill>
                  <a:schemeClr val="accent5"/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TW" sz="12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Compositional class encoder</a:t>
                  </a:r>
                  <a:endParaRPr lang="zh-TW" altLang="en-US" sz="1200" dirty="0">
                    <a:solidFill>
                      <a:schemeClr val="tx1"/>
                    </a:solidFill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34" name="矩形: 圓角 33">
                  <a:extLst>
                    <a:ext uri="{FF2B5EF4-FFF2-40B4-BE49-F238E27FC236}">
                      <a16:creationId xmlns:a16="http://schemas.microsoft.com/office/drawing/2014/main" id="{5AA5771F-A07A-FB9A-5F24-90C8D733A66E}"/>
                    </a:ext>
                  </a:extLst>
                </p:cNvPr>
                <p:cNvSpPr/>
                <p:nvPr/>
              </p:nvSpPr>
              <p:spPr>
                <a:xfrm>
                  <a:off x="2679402" y="2676463"/>
                  <a:ext cx="3565069" cy="1982863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35" name="直線單箭頭接點 34">
                  <a:extLst>
                    <a:ext uri="{FF2B5EF4-FFF2-40B4-BE49-F238E27FC236}">
                      <a16:creationId xmlns:a16="http://schemas.microsoft.com/office/drawing/2014/main" id="{5DB74459-C600-FBB1-4750-2DA762F04C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9775212" y="1871818"/>
                  <a:ext cx="2842" cy="213690"/>
                </a:xfrm>
                <a:prstGeom prst="straightConnector1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線單箭頭接點 35">
                  <a:extLst>
                    <a:ext uri="{FF2B5EF4-FFF2-40B4-BE49-F238E27FC236}">
                      <a16:creationId xmlns:a16="http://schemas.microsoft.com/office/drawing/2014/main" id="{4D909783-888C-9CD5-E486-92C406B8EC29}"/>
                    </a:ext>
                  </a:extLst>
                </p:cNvPr>
                <p:cNvCxnSpPr>
                  <a:cxnSpLocks/>
                  <a:stCxn id="25" idx="0"/>
                  <a:endCxn id="31" idx="2"/>
                </p:cNvCxnSpPr>
                <p:nvPr/>
              </p:nvCxnSpPr>
              <p:spPr>
                <a:xfrm flipH="1" flipV="1">
                  <a:off x="10931861" y="1867450"/>
                  <a:ext cx="2411" cy="526211"/>
                </a:xfrm>
                <a:prstGeom prst="straightConnector1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線單箭頭接點 36">
                  <a:extLst>
                    <a:ext uri="{FF2B5EF4-FFF2-40B4-BE49-F238E27FC236}">
                      <a16:creationId xmlns:a16="http://schemas.microsoft.com/office/drawing/2014/main" id="{3EAF79A3-3A1D-8AFE-C8B1-AEF5A3FAAF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75212" y="2085508"/>
                  <a:ext cx="1156649" cy="0"/>
                </a:xfrm>
                <a:prstGeom prst="straightConnector1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文字方塊 37">
                      <a:extLst>
                        <a:ext uri="{FF2B5EF4-FFF2-40B4-BE49-F238E27FC236}">
                          <a16:creationId xmlns:a16="http://schemas.microsoft.com/office/drawing/2014/main" id="{9753CA9E-307D-49C7-7C27-E08111D34D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56216" y="2661747"/>
                      <a:ext cx="2165359" cy="405498"/>
                    </a:xfrm>
                    <a:prstGeom prst="rect">
                      <a:avLst/>
                    </a:prstGeom>
                    <a:noFill/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/>
                      <a:r>
                        <a:rPr lang="en-US" altLang="zh-TW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Denoising model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𝜖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θ</m:t>
                              </m:r>
                            </m:sub>
                          </m:sSub>
                        </m:oMath>
                      </a14:m>
                      <a:endParaRPr lang="en-US" altLang="zh-TW" sz="1200" b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120" name="文字方塊 119">
                      <a:extLst>
                        <a:ext uri="{FF2B5EF4-FFF2-40B4-BE49-F238E27FC236}">
                          <a16:creationId xmlns:a16="http://schemas.microsoft.com/office/drawing/2014/main" id="{ADB3F12C-9DA5-4313-8BEB-DA6CE539395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56216" y="2661747"/>
                      <a:ext cx="2165359" cy="405498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箭號: 弧形上彎 38">
                  <a:extLst>
                    <a:ext uri="{FF2B5EF4-FFF2-40B4-BE49-F238E27FC236}">
                      <a16:creationId xmlns:a16="http://schemas.microsoft.com/office/drawing/2014/main" id="{D7B23D9F-F6A7-BE6B-D522-25F7A061002A}"/>
                    </a:ext>
                  </a:extLst>
                </p:cNvPr>
                <p:cNvSpPr/>
                <p:nvPr/>
              </p:nvSpPr>
              <p:spPr>
                <a:xfrm rot="10800000">
                  <a:off x="4033271" y="2371450"/>
                  <a:ext cx="859692" cy="267025"/>
                </a:xfrm>
                <a:prstGeom prst="curvedUpArrow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文字方塊 27">
                  <a:extLst>
                    <a:ext uri="{FF2B5EF4-FFF2-40B4-BE49-F238E27FC236}">
                      <a16:creationId xmlns:a16="http://schemas.microsoft.com/office/drawing/2014/main" id="{ADEF0395-0834-1045-4D49-618392D421BA}"/>
                    </a:ext>
                  </a:extLst>
                </p:cNvPr>
                <p:cNvSpPr txBox="1"/>
                <p:nvPr/>
              </p:nvSpPr>
              <p:spPr>
                <a:xfrm>
                  <a:off x="4892963" y="2332103"/>
                  <a:ext cx="859692" cy="360442"/>
                </a:xfrm>
                <a:prstGeom prst="rect">
                  <a:avLst/>
                </a:prstGeom>
                <a:noFill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zh-TW" altLang="en-US" sz="1000" dirty="0">
                      <a:latin typeface="Cambria" panose="02040503050406030204" pitchFamily="18" charset="0"/>
                    </a:rPr>
                    <a:t>X (T-1)</a:t>
                  </a:r>
                </a:p>
              </p:txBody>
            </p:sp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3AAB63B3-26ED-9C54-B935-3CFCEE9DA376}"/>
                    </a:ext>
                  </a:extLst>
                </p:cNvPr>
                <p:cNvSpPr txBox="1"/>
                <p:nvPr/>
              </p:nvSpPr>
              <p:spPr>
                <a:xfrm>
                  <a:off x="4391492" y="3508635"/>
                  <a:ext cx="301841" cy="3693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dirty="0"/>
                    <a:t>…</a:t>
                  </a:r>
                  <a:endParaRPr lang="zh-TW" altLang="en-US" dirty="0"/>
                </a:p>
              </p:txBody>
            </p:sp>
            <p:cxnSp>
              <p:nvCxnSpPr>
                <p:cNvPr id="42" name="直線單箭頭接點 41">
                  <a:extLst>
                    <a:ext uri="{FF2B5EF4-FFF2-40B4-BE49-F238E27FC236}">
                      <a16:creationId xmlns:a16="http://schemas.microsoft.com/office/drawing/2014/main" id="{FBA78B05-6CF5-5E07-0E42-F35AAB94F871}"/>
                    </a:ext>
                  </a:extLst>
                </p:cNvPr>
                <p:cNvCxnSpPr>
                  <a:cxnSpLocks/>
                  <a:endCxn id="28" idx="3"/>
                </p:cNvCxnSpPr>
                <p:nvPr/>
              </p:nvCxnSpPr>
              <p:spPr>
                <a:xfrm flipH="1">
                  <a:off x="2289128" y="3805640"/>
                  <a:ext cx="74703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線單箭頭接點 42">
                  <a:extLst>
                    <a:ext uri="{FF2B5EF4-FFF2-40B4-BE49-F238E27FC236}">
                      <a16:creationId xmlns:a16="http://schemas.microsoft.com/office/drawing/2014/main" id="{6D68C0BA-BD40-F65E-DFB9-8851F72A53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44471" y="3807384"/>
                  <a:ext cx="390274" cy="8917"/>
                </a:xfrm>
                <a:prstGeom prst="straightConnector1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矩形: 圓角 43">
                      <a:extLst>
                        <a:ext uri="{FF2B5EF4-FFF2-40B4-BE49-F238E27FC236}">
                          <a16:creationId xmlns:a16="http://schemas.microsoft.com/office/drawing/2014/main" id="{D4410011-7908-AF8C-736C-C95B1ED1F0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97956" y="1438249"/>
                      <a:ext cx="775731" cy="433570"/>
                    </a:xfrm>
                    <a:prstGeom prst="roundRect">
                      <a:avLst/>
                    </a:prstGeom>
                    <a:solidFill>
                      <a:schemeClr val="bg2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91440" tIns="45720" rIns="91440" bIns="45720"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Time</a:t>
                      </a:r>
                    </a:p>
                    <a:p>
                      <a:pPr algn="ctr"/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step </a:t>
                      </a:r>
                      <a14:m>
                        <m:oMath xmlns:m="http://schemas.openxmlformats.org/officeDocument/2006/math">
                          <m:r>
                            <a:rPr lang="en-US" altLang="zh-TW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新細明體"/>
                            </a:rPr>
                            <m:t>𝑡</m:t>
                          </m:r>
                        </m:oMath>
                      </a14:m>
                      <a:r>
                        <a:rPr lang="en-US" altLang="zh-TW" sz="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endParaRPr lang="zh-TW" altLang="en-US" sz="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新細明體"/>
                      </a:endParaRPr>
                    </a:p>
                  </p:txBody>
                </p:sp>
              </mc:Choice>
              <mc:Fallback xmlns="">
                <p:sp>
                  <p:nvSpPr>
                    <p:cNvPr id="129" name="矩形: 圓角 128">
                      <a:extLst>
                        <a:ext uri="{FF2B5EF4-FFF2-40B4-BE49-F238E27FC236}">
                          <a16:creationId xmlns:a16="http://schemas.microsoft.com/office/drawing/2014/main" id="{592955CF-7038-4A97-8695-81BDC5100B0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97956" y="1438249"/>
                      <a:ext cx="775731" cy="433570"/>
                    </a:xfrm>
                    <a:prstGeom prst="roundRect">
                      <a:avLst/>
                    </a:prstGeom>
                    <a:blipFill>
                      <a:blip r:embed="rId9"/>
                      <a:stretch>
                        <a:fillRect b="-12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5" name="立方體 44">
                  <a:extLst>
                    <a:ext uri="{FF2B5EF4-FFF2-40B4-BE49-F238E27FC236}">
                      <a16:creationId xmlns:a16="http://schemas.microsoft.com/office/drawing/2014/main" id="{42789619-10C4-D918-A047-C0B036ADB10D}"/>
                    </a:ext>
                  </a:extLst>
                </p:cNvPr>
                <p:cNvSpPr/>
                <p:nvPr/>
              </p:nvSpPr>
              <p:spPr>
                <a:xfrm rot="16200000">
                  <a:off x="7862512" y="4016169"/>
                  <a:ext cx="1923260" cy="1019690"/>
                </a:xfrm>
                <a:prstGeom prst="cube">
                  <a:avLst/>
                </a:prstGeom>
                <a:solidFill>
                  <a:schemeClr val="accent5"/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TW" sz="12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Timestep</a:t>
                  </a:r>
                </a:p>
                <a:p>
                  <a:pPr algn="ctr"/>
                  <a:r>
                    <a:rPr lang="zh-TW" altLang="en-US" sz="12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新細明體"/>
                    </a:rPr>
                    <a:t>encoder</a:t>
                  </a:r>
                  <a:endParaRPr lang="zh-TW" altLang="en-US" sz="1200" dirty="0">
                    <a:solidFill>
                      <a:schemeClr val="tx1"/>
                    </a:solidFill>
                    <a:latin typeface="Cambria" panose="02040503050406030204" pitchFamily="18" charset="0"/>
                  </a:endParaRPr>
                </a:p>
              </p:txBody>
            </p:sp>
            <p:cxnSp>
              <p:nvCxnSpPr>
                <p:cNvPr id="46" name="直線單箭頭接點 45">
                  <a:extLst>
                    <a:ext uri="{FF2B5EF4-FFF2-40B4-BE49-F238E27FC236}">
                      <a16:creationId xmlns:a16="http://schemas.microsoft.com/office/drawing/2014/main" id="{B87BF32E-CCD8-A9A3-4DAA-63A0D1CE4FB9}"/>
                    </a:ext>
                  </a:extLst>
                </p:cNvPr>
                <p:cNvCxnSpPr>
                  <a:cxnSpLocks/>
                  <a:stCxn id="44" idx="2"/>
                </p:cNvCxnSpPr>
                <p:nvPr/>
              </p:nvCxnSpPr>
              <p:spPr>
                <a:xfrm>
                  <a:off x="8785821" y="1871819"/>
                  <a:ext cx="18745" cy="1765137"/>
                </a:xfrm>
                <a:prstGeom prst="straightConnector1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單箭頭接點 46">
                  <a:extLst>
                    <a:ext uri="{FF2B5EF4-FFF2-40B4-BE49-F238E27FC236}">
                      <a16:creationId xmlns:a16="http://schemas.microsoft.com/office/drawing/2014/main" id="{5C7980B1-67A1-0D24-A0B8-D6457D855E22}"/>
                    </a:ext>
                  </a:extLst>
                </p:cNvPr>
                <p:cNvCxnSpPr>
                  <a:cxnSpLocks/>
                  <a:stCxn id="25" idx="2"/>
                </p:cNvCxnSpPr>
                <p:nvPr/>
              </p:nvCxnSpPr>
              <p:spPr>
                <a:xfrm>
                  <a:off x="10934272" y="3015470"/>
                  <a:ext cx="7857" cy="630690"/>
                </a:xfrm>
                <a:prstGeom prst="straightConnector1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48" name="群組 47">
                  <a:extLst>
                    <a:ext uri="{FF2B5EF4-FFF2-40B4-BE49-F238E27FC236}">
                      <a16:creationId xmlns:a16="http://schemas.microsoft.com/office/drawing/2014/main" id="{78AD64BA-38BF-E788-CD48-04C22D7BDCB3}"/>
                    </a:ext>
                  </a:extLst>
                </p:cNvPr>
                <p:cNvGrpSpPr/>
                <p:nvPr/>
              </p:nvGrpSpPr>
              <p:grpSpPr>
                <a:xfrm>
                  <a:off x="3897172" y="4635656"/>
                  <a:ext cx="4980265" cy="1108021"/>
                  <a:chOff x="3897172" y="4635656"/>
                  <a:chExt cx="4980265" cy="1108021"/>
                </a:xfrm>
              </p:grpSpPr>
              <p:grpSp>
                <p:nvGrpSpPr>
                  <p:cNvPr id="55" name="群組 54">
                    <a:extLst>
                      <a:ext uri="{FF2B5EF4-FFF2-40B4-BE49-F238E27FC236}">
                        <a16:creationId xmlns:a16="http://schemas.microsoft.com/office/drawing/2014/main" id="{7A5FB353-CC2C-8F9E-652A-561C3115981D}"/>
                      </a:ext>
                    </a:extLst>
                  </p:cNvPr>
                  <p:cNvGrpSpPr/>
                  <p:nvPr/>
                </p:nvGrpSpPr>
                <p:grpSpPr>
                  <a:xfrm>
                    <a:off x="3897172" y="5487645"/>
                    <a:ext cx="4980265" cy="251918"/>
                    <a:chOff x="7949306" y="5487645"/>
                    <a:chExt cx="928132" cy="273963"/>
                  </a:xfrm>
                </p:grpSpPr>
                <p:cxnSp>
                  <p:nvCxnSpPr>
                    <p:cNvPr id="58" name="直線單箭頭接點 57">
                      <a:extLst>
                        <a:ext uri="{FF2B5EF4-FFF2-40B4-BE49-F238E27FC236}">
                          <a16:creationId xmlns:a16="http://schemas.microsoft.com/office/drawing/2014/main" id="{37625A9E-0F97-C2D2-C308-733697C9B0A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877438" y="5487645"/>
                      <a:ext cx="0" cy="273963"/>
                    </a:xfrm>
                    <a:prstGeom prst="straightConnector1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" name="直線單箭頭接點 58">
                      <a:extLst>
                        <a:ext uri="{FF2B5EF4-FFF2-40B4-BE49-F238E27FC236}">
                          <a16:creationId xmlns:a16="http://schemas.microsoft.com/office/drawing/2014/main" id="{1AE466F4-7F69-A13F-1B9D-59D0B071A4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49306" y="5761608"/>
                      <a:ext cx="928132" cy="0"/>
                    </a:xfrm>
                    <a:prstGeom prst="straightConnector1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56" name="直線單箭頭接點 55">
                    <a:extLst>
                      <a:ext uri="{FF2B5EF4-FFF2-40B4-BE49-F238E27FC236}">
                        <a16:creationId xmlns:a16="http://schemas.microsoft.com/office/drawing/2014/main" id="{4F87FD49-4408-DA6D-DCA8-4B5BC7AB94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897173" y="4637713"/>
                    <a:ext cx="1" cy="110185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直線單箭頭接點 56">
                    <a:extLst>
                      <a:ext uri="{FF2B5EF4-FFF2-40B4-BE49-F238E27FC236}">
                        <a16:creationId xmlns:a16="http://schemas.microsoft.com/office/drawing/2014/main" id="{DB46F5FC-691A-AD5A-D81D-B6D0A4CC6A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334757" y="4635656"/>
                    <a:ext cx="11982" cy="110802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9" name="群組 48">
                  <a:extLst>
                    <a:ext uri="{FF2B5EF4-FFF2-40B4-BE49-F238E27FC236}">
                      <a16:creationId xmlns:a16="http://schemas.microsoft.com/office/drawing/2014/main" id="{A0E6F833-F0F9-D0AB-F9AE-F6806417AF8A}"/>
                    </a:ext>
                  </a:extLst>
                </p:cNvPr>
                <p:cNvGrpSpPr/>
                <p:nvPr/>
              </p:nvGrpSpPr>
              <p:grpSpPr>
                <a:xfrm>
                  <a:off x="3468169" y="4659326"/>
                  <a:ext cx="7547183" cy="1290370"/>
                  <a:chOff x="3468169" y="4659326"/>
                  <a:chExt cx="7547183" cy="1290370"/>
                </a:xfrm>
              </p:grpSpPr>
              <p:grpSp>
                <p:nvGrpSpPr>
                  <p:cNvPr id="50" name="群組 49">
                    <a:extLst>
                      <a:ext uri="{FF2B5EF4-FFF2-40B4-BE49-F238E27FC236}">
                        <a16:creationId xmlns:a16="http://schemas.microsoft.com/office/drawing/2014/main" id="{2522FFDB-2134-AAEA-3F41-248C61AA09D4}"/>
                      </a:ext>
                    </a:extLst>
                  </p:cNvPr>
                  <p:cNvGrpSpPr/>
                  <p:nvPr/>
                </p:nvGrpSpPr>
                <p:grpSpPr>
                  <a:xfrm>
                    <a:off x="3468169" y="5487646"/>
                    <a:ext cx="7547183" cy="451074"/>
                    <a:chOff x="7949306" y="5487645"/>
                    <a:chExt cx="928132" cy="273963"/>
                  </a:xfrm>
                </p:grpSpPr>
                <p:cxnSp>
                  <p:nvCxnSpPr>
                    <p:cNvPr id="53" name="直線單箭頭接點 52">
                      <a:extLst>
                        <a:ext uri="{FF2B5EF4-FFF2-40B4-BE49-F238E27FC236}">
                          <a16:creationId xmlns:a16="http://schemas.microsoft.com/office/drawing/2014/main" id="{B54FE54B-E4AF-B67C-83D4-A1148F2E391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877438" y="5487645"/>
                      <a:ext cx="0" cy="273963"/>
                    </a:xfrm>
                    <a:prstGeom prst="straightConnector1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" name="直線單箭頭接點 53">
                      <a:extLst>
                        <a:ext uri="{FF2B5EF4-FFF2-40B4-BE49-F238E27FC236}">
                          <a16:creationId xmlns:a16="http://schemas.microsoft.com/office/drawing/2014/main" id="{92B074EF-056D-05C2-B1B7-3A39788D7F5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49306" y="5761608"/>
                      <a:ext cx="928132" cy="0"/>
                    </a:xfrm>
                    <a:prstGeom prst="straightConnector1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51" name="直線單箭頭接點 50">
                    <a:extLst>
                      <a:ext uri="{FF2B5EF4-FFF2-40B4-BE49-F238E27FC236}">
                        <a16:creationId xmlns:a16="http://schemas.microsoft.com/office/drawing/2014/main" id="{501F5647-0B7B-EE2B-956E-69991E824F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75204" y="4659326"/>
                    <a:ext cx="0" cy="129037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直線單箭頭接點 51">
                    <a:extLst>
                      <a:ext uri="{FF2B5EF4-FFF2-40B4-BE49-F238E27FC236}">
                        <a16:creationId xmlns:a16="http://schemas.microsoft.com/office/drawing/2014/main" id="{2E345064-0CBD-7C46-FAE8-F639C44D1C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924768" y="4659326"/>
                    <a:ext cx="1" cy="127939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3" name="群組 12">
                <a:extLst>
                  <a:ext uri="{FF2B5EF4-FFF2-40B4-BE49-F238E27FC236}">
                    <a16:creationId xmlns:a16="http://schemas.microsoft.com/office/drawing/2014/main" id="{6CA1FC29-A0AB-84D5-B8E9-29B6280B68D5}"/>
                  </a:ext>
                </a:extLst>
              </p:cNvPr>
              <p:cNvGrpSpPr/>
              <p:nvPr/>
            </p:nvGrpSpPr>
            <p:grpSpPr>
              <a:xfrm>
                <a:off x="2881051" y="2434279"/>
                <a:ext cx="892686" cy="1145079"/>
                <a:chOff x="1369756" y="3680302"/>
                <a:chExt cx="892686" cy="1145079"/>
              </a:xfrm>
            </p:grpSpPr>
            <p:sp>
              <p:nvSpPr>
                <p:cNvPr id="14" name="流程圖: 人工作業 13">
                  <a:extLst>
                    <a:ext uri="{FF2B5EF4-FFF2-40B4-BE49-F238E27FC236}">
                      <a16:creationId xmlns:a16="http://schemas.microsoft.com/office/drawing/2014/main" id="{95D34466-0000-0B70-61C9-D79AFF6B724B}"/>
                    </a:ext>
                  </a:extLst>
                </p:cNvPr>
                <p:cNvSpPr/>
                <p:nvPr/>
              </p:nvSpPr>
              <p:spPr>
                <a:xfrm rot="5400000">
                  <a:off x="1243559" y="3806499"/>
                  <a:ext cx="1145079" cy="892686"/>
                </a:xfrm>
                <a:prstGeom prst="flowChartManualOperation">
                  <a:avLst/>
                </a:prstGeom>
                <a:solidFill>
                  <a:schemeClr val="accent5"/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17" name="矩形: 圓角 16">
                  <a:extLst>
                    <a:ext uri="{FF2B5EF4-FFF2-40B4-BE49-F238E27FC236}">
                      <a16:creationId xmlns:a16="http://schemas.microsoft.com/office/drawing/2014/main" id="{D2576C80-9F92-8F5E-E07C-048E099A752E}"/>
                    </a:ext>
                  </a:extLst>
                </p:cNvPr>
                <p:cNvSpPr/>
                <p:nvPr/>
              </p:nvSpPr>
              <p:spPr>
                <a:xfrm>
                  <a:off x="1402074" y="3997881"/>
                  <a:ext cx="807807" cy="47385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800" dirty="0">
                      <a:solidFill>
                        <a:schemeClr val="tx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Conditioning module</a:t>
                  </a:r>
                  <a:endParaRPr lang="zh-TW" altLang="en-US" sz="800" dirty="0">
                    <a:solidFill>
                      <a:schemeClr val="tx1"/>
                    </a:solidFill>
                    <a:latin typeface="Cambria" panose="02040503050406030204" pitchFamily="18" charset="0"/>
                  </a:endParaRPr>
                </a:p>
              </p:txBody>
            </p:sp>
          </p:grp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819B6C72-37E1-17E7-B549-B73ACAF236CE}"/>
                </a:ext>
              </a:extLst>
            </p:cNvPr>
            <p:cNvGrpSpPr/>
            <p:nvPr/>
          </p:nvGrpSpPr>
          <p:grpSpPr>
            <a:xfrm>
              <a:off x="1776617" y="2434280"/>
              <a:ext cx="892685" cy="1145078"/>
              <a:chOff x="265322" y="3680303"/>
              <a:chExt cx="892685" cy="1145078"/>
            </a:xfrm>
          </p:grpSpPr>
          <p:sp>
            <p:nvSpPr>
              <p:cNvPr id="10" name="流程圖: 人工作業 9">
                <a:extLst>
                  <a:ext uri="{FF2B5EF4-FFF2-40B4-BE49-F238E27FC236}">
                    <a16:creationId xmlns:a16="http://schemas.microsoft.com/office/drawing/2014/main" id="{D7506E8F-259C-755B-3199-C38D3959CF30}"/>
                  </a:ext>
                </a:extLst>
              </p:cNvPr>
              <p:cNvSpPr/>
              <p:nvPr/>
            </p:nvSpPr>
            <p:spPr>
              <a:xfrm rot="16200000">
                <a:off x="139126" y="3806499"/>
                <a:ext cx="1145078" cy="892685"/>
              </a:xfrm>
              <a:prstGeom prst="flowChartManualOperation">
                <a:avLst/>
              </a:prstGeom>
              <a:solidFill>
                <a:schemeClr val="accent5"/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Cambria" panose="02040503050406030204" pitchFamily="18" charset="0"/>
                </a:endParaRPr>
              </a:p>
            </p:txBody>
          </p:sp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9168F1F6-FF40-815A-1429-7AE30466F759}"/>
                  </a:ext>
                </a:extLst>
              </p:cNvPr>
              <p:cNvSpPr/>
              <p:nvPr/>
            </p:nvSpPr>
            <p:spPr>
              <a:xfrm>
                <a:off x="317846" y="3995575"/>
                <a:ext cx="802946" cy="46490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Conditioning module</a:t>
                </a:r>
                <a:endParaRPr lang="zh-TW" altLang="en-US" sz="800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p:grpSp>
      </p:grp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61C03144-433D-8617-3C26-F73720CE7EB4}"/>
              </a:ext>
            </a:extLst>
          </p:cNvPr>
          <p:cNvSpPr/>
          <p:nvPr/>
        </p:nvSpPr>
        <p:spPr>
          <a:xfrm>
            <a:off x="3839564" y="3267710"/>
            <a:ext cx="903800" cy="5692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2E4C5478-20D1-453B-15C4-4EB4A11A3B51}"/>
              </a:ext>
            </a:extLst>
          </p:cNvPr>
          <p:cNvSpPr/>
          <p:nvPr/>
        </p:nvSpPr>
        <p:spPr>
          <a:xfrm>
            <a:off x="4942332" y="3273321"/>
            <a:ext cx="888759" cy="5692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CB4E7493-7DB2-C21B-7A9D-FA7CD1F3A5FB}"/>
              </a:ext>
            </a:extLst>
          </p:cNvPr>
          <p:cNvSpPr/>
          <p:nvPr/>
        </p:nvSpPr>
        <p:spPr>
          <a:xfrm>
            <a:off x="3700859" y="2888455"/>
            <a:ext cx="2255333" cy="12935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AAD895-D122-775C-E931-A8BFD34F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63" name="文本框 3">
            <a:extLst>
              <a:ext uri="{FF2B5EF4-FFF2-40B4-BE49-F238E27FC236}">
                <a16:creationId xmlns:a16="http://schemas.microsoft.com/office/drawing/2014/main" id="{76192CA3-DE9E-92CA-E329-6B0E1818E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20" y="868050"/>
            <a:ext cx="33090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Zero shot generation</a:t>
            </a: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8C9B8892-E4A8-C9A2-203B-68100F000583}"/>
              </a:ext>
            </a:extLst>
          </p:cNvPr>
          <p:cNvSpPr txBox="1"/>
          <p:nvPr/>
        </p:nvSpPr>
        <p:spPr>
          <a:xfrm>
            <a:off x="5225613" y="5644280"/>
            <a:ext cx="99070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+ iterative retraining +modified balanced resampling </a:t>
            </a: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B2A02322-3E47-3439-9495-64F62440BC21}"/>
              </a:ext>
            </a:extLst>
          </p:cNvPr>
          <p:cNvSpPr txBox="1"/>
          <p:nvPr/>
        </p:nvSpPr>
        <p:spPr>
          <a:xfrm>
            <a:off x="2366339" y="5199319"/>
            <a:ext cx="117538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400" b="1" dirty="0"/>
              <a:t>In our method</a:t>
            </a:r>
            <a:r>
              <a:rPr lang="zh-TW" altLang="en-US" sz="1400" b="1" dirty="0"/>
              <a:t>，</a:t>
            </a:r>
            <a:endParaRPr lang="en-US" altLang="zh-TW" sz="1400" b="1" dirty="0"/>
          </a:p>
          <a:p>
            <a:r>
              <a:rPr lang="en-US" altLang="zh-TW" sz="1400" b="1" dirty="0"/>
              <a:t>we replace the U-Net backbone with a </a:t>
            </a:r>
            <a:r>
              <a:rPr lang="en-US" altLang="zh-TW" sz="1400" b="1" dirty="0">
                <a:solidFill>
                  <a:srgbClr val="FF0000"/>
                </a:solidFill>
              </a:rPr>
              <a:t>Transformer</a:t>
            </a:r>
            <a:r>
              <a:rPr lang="en-US" altLang="zh-TW" sz="1400" b="1" dirty="0"/>
              <a:t> backbone</a:t>
            </a:r>
            <a:r>
              <a:rPr lang="en-US" altLang="zh-TW" sz="1200" b="1" dirty="0"/>
              <a:t>.</a:t>
            </a:r>
            <a:endParaRPr lang="en-US" altLang="zh-TW" sz="1200" dirty="0"/>
          </a:p>
          <a:p>
            <a:endParaRPr lang="en-US" altLang="zh-TW" sz="1400" dirty="0">
              <a:solidFill>
                <a:srgbClr val="FF0000"/>
              </a:solidFill>
            </a:endParaRPr>
          </a:p>
        </p:txBody>
      </p:sp>
      <p:sp>
        <p:nvSpPr>
          <p:cNvPr id="71" name="文本框 3">
            <a:extLst>
              <a:ext uri="{FF2B5EF4-FFF2-40B4-BE49-F238E27FC236}">
                <a16:creationId xmlns:a16="http://schemas.microsoft.com/office/drawing/2014/main" id="{5D736BD0-404D-57FD-2653-FD0CCC67E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" y="170590"/>
            <a:ext cx="1020417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2-3 Compositional Zero-Shot Learning &amp; generation: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Compositional Conditional Diffusion Models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78DC5F2C-E644-4747-6491-52A02365A05C}"/>
              </a:ext>
            </a:extLst>
          </p:cNvPr>
          <p:cNvSpPr/>
          <p:nvPr/>
        </p:nvSpPr>
        <p:spPr>
          <a:xfrm>
            <a:off x="8945226" y="253999"/>
            <a:ext cx="3246774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475029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F4419-7B44-3BB2-B509-4FD7F7AF8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A328F5A-423B-D33E-BD8F-61D441E6CB6B}"/>
              </a:ext>
            </a:extLst>
          </p:cNvPr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6EF20-6A38-5ED1-975C-9CA0BE1804F3}"/>
              </a:ext>
            </a:extLst>
          </p:cNvPr>
          <p:cNvSpPr/>
          <p:nvPr/>
        </p:nvSpPr>
        <p:spPr>
          <a:xfrm>
            <a:off x="0" y="2663825"/>
            <a:ext cx="951389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7F314D-A124-B91A-48B4-D28CF2855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389" y="2272774"/>
            <a:ext cx="251215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dist" eaLnBrk="1" hangingPunct="1"/>
            <a:r>
              <a:rPr lang="en-US" altLang="zh-CN" sz="8000" dirty="0">
                <a:solidFill>
                  <a:schemeClr val="bg1"/>
                </a:solidFill>
                <a:latin typeface="Impact" pitchFamily="34" charset="0"/>
              </a:rPr>
              <a:t>Part3</a:t>
            </a:r>
            <a:endParaRPr lang="zh-CN" altLang="en-US" sz="8000" dirty="0">
              <a:solidFill>
                <a:schemeClr val="bg1"/>
              </a:solidFill>
              <a:latin typeface="Impact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D32D91-E35B-C8FA-D55C-3AFA250BF226}"/>
              </a:ext>
            </a:extLst>
          </p:cNvPr>
          <p:cNvSpPr/>
          <p:nvPr/>
        </p:nvSpPr>
        <p:spPr>
          <a:xfrm>
            <a:off x="3463540" y="2663825"/>
            <a:ext cx="8728460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AC6882-6245-E82A-FB1F-34FDF5C81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325" y="3632200"/>
            <a:ext cx="57277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Method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8A86455-81AE-C1C2-8107-5C19EC12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9" name="文本框 7">
            <a:extLst>
              <a:ext uri="{FF2B5EF4-FFF2-40B4-BE49-F238E27FC236}">
                <a16:creationId xmlns:a16="http://schemas.microsoft.com/office/drawing/2014/main" id="{CBBC8E1A-6CDA-24A9-1D2B-0124B628A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389" y="4897879"/>
            <a:ext cx="626288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3-1 Sampling Strategy </a:t>
            </a:r>
          </a:p>
          <a:p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3-2 Compositional DiT Model</a:t>
            </a:r>
          </a:p>
          <a:p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3-3 Data diversity evaluation</a:t>
            </a:r>
          </a:p>
        </p:txBody>
      </p:sp>
    </p:spTree>
    <p:extLst>
      <p:ext uri="{BB962C8B-B14F-4D97-AF65-F5344CB8AC3E}">
        <p14:creationId xmlns:p14="http://schemas.microsoft.com/office/powerpoint/2010/main" val="145751287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90897-DDAF-D975-B716-4A5AF2586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7ACBC99-6D5F-C096-4C57-1CC42F2E2EA5}"/>
              </a:ext>
            </a:extLst>
          </p:cNvPr>
          <p:cNvSpPr/>
          <p:nvPr/>
        </p:nvSpPr>
        <p:spPr>
          <a:xfrm>
            <a:off x="1172605" y="4587486"/>
            <a:ext cx="2734236" cy="4226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0CC64A-C023-DD5A-2554-2E69EF838282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14DE73-362C-19FF-382D-B67E44EC5C2F}"/>
              </a:ext>
            </a:extLst>
          </p:cNvPr>
          <p:cNvSpPr/>
          <p:nvPr/>
        </p:nvSpPr>
        <p:spPr>
          <a:xfrm>
            <a:off x="4179844" y="254000"/>
            <a:ext cx="801215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0ABDEB-DF76-7C05-0D87-59D424712F9F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AC18CB-B794-91B7-5F56-102AA347A1C4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071D0BCE-DF58-CECE-BEEE-49DED0A8AD42}"/>
              </a:ext>
            </a:extLst>
          </p:cNvPr>
          <p:cNvSpPr/>
          <p:nvPr/>
        </p:nvSpPr>
        <p:spPr>
          <a:xfrm>
            <a:off x="4490128" y="1057364"/>
            <a:ext cx="327804" cy="3191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6548B603-872B-8AB1-4DEB-5BFB560303D9}"/>
              </a:ext>
            </a:extLst>
          </p:cNvPr>
          <p:cNvSpPr/>
          <p:nvPr/>
        </p:nvSpPr>
        <p:spPr>
          <a:xfrm>
            <a:off x="4896848" y="1053948"/>
            <a:ext cx="327804" cy="3191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A9F31795-92E9-7C4F-CADC-0A96325806E0}"/>
              </a:ext>
            </a:extLst>
          </p:cNvPr>
          <p:cNvSpPr/>
          <p:nvPr/>
        </p:nvSpPr>
        <p:spPr>
          <a:xfrm>
            <a:off x="5303568" y="1055656"/>
            <a:ext cx="327804" cy="3191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B8690333-50E4-4F9A-88DE-121EBB74713F}"/>
              </a:ext>
            </a:extLst>
          </p:cNvPr>
          <p:cNvSpPr/>
          <p:nvPr/>
        </p:nvSpPr>
        <p:spPr>
          <a:xfrm>
            <a:off x="5737448" y="1053291"/>
            <a:ext cx="327804" cy="3191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1B67531D-058A-E6B9-1E31-08D7A1776687}"/>
              </a:ext>
            </a:extLst>
          </p:cNvPr>
          <p:cNvSpPr/>
          <p:nvPr/>
        </p:nvSpPr>
        <p:spPr>
          <a:xfrm>
            <a:off x="6144168" y="1054999"/>
            <a:ext cx="327804" cy="3191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2638D326-614F-3AEC-DE3E-DAADC4C59461}"/>
              </a:ext>
            </a:extLst>
          </p:cNvPr>
          <p:cNvSpPr/>
          <p:nvPr/>
        </p:nvSpPr>
        <p:spPr>
          <a:xfrm>
            <a:off x="6550888" y="1058400"/>
            <a:ext cx="327804" cy="3191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B4437A5A-8060-463F-B98C-36E21FA1D5C2}"/>
              </a:ext>
            </a:extLst>
          </p:cNvPr>
          <p:cNvSpPr/>
          <p:nvPr/>
        </p:nvSpPr>
        <p:spPr>
          <a:xfrm>
            <a:off x="6957605" y="1060108"/>
            <a:ext cx="327804" cy="3191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100F14A8-9934-136E-D5EF-F96FA4B479C2}"/>
              </a:ext>
            </a:extLst>
          </p:cNvPr>
          <p:cNvSpPr/>
          <p:nvPr/>
        </p:nvSpPr>
        <p:spPr>
          <a:xfrm>
            <a:off x="4345818" y="940107"/>
            <a:ext cx="3090354" cy="93355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本框 25">
            <a:extLst>
              <a:ext uri="{FF2B5EF4-FFF2-40B4-BE49-F238E27FC236}">
                <a16:creationId xmlns:a16="http://schemas.microsoft.com/office/drawing/2014/main" id="{41055F62-2923-637E-C878-BA18262C6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719" y="1219697"/>
            <a:ext cx="17163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2000" b="1" dirty="0">
                <a:latin typeface="+mj-lt"/>
              </a:rPr>
              <a:t>Initial dataset</a:t>
            </a:r>
            <a:endParaRPr lang="zh-CN" altLang="en-US" sz="2000" b="1" dirty="0">
              <a:latin typeface="+mj-lt"/>
            </a:endParaRPr>
          </a:p>
        </p:txBody>
      </p: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0DB9030A-5102-80C6-F207-87168418FF70}"/>
              </a:ext>
            </a:extLst>
          </p:cNvPr>
          <p:cNvCxnSpPr>
            <a:cxnSpLocks/>
          </p:cNvCxnSpPr>
          <p:nvPr/>
        </p:nvCxnSpPr>
        <p:spPr>
          <a:xfrm>
            <a:off x="5930871" y="1915067"/>
            <a:ext cx="0" cy="42269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25">
                <a:extLst>
                  <a:ext uri="{FF2B5EF4-FFF2-40B4-BE49-F238E27FC236}">
                    <a16:creationId xmlns:a16="http://schemas.microsoft.com/office/drawing/2014/main" id="{1E7E778F-159B-468F-C71B-E335C74DBB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2248" y="2446482"/>
                <a:ext cx="257028" cy="392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1500" dirty="0"/>
              </a:p>
            </p:txBody>
          </p:sp>
        </mc:Choice>
        <mc:Fallback xmlns="">
          <p:sp>
            <p:nvSpPr>
              <p:cNvPr id="56" name="文本框 25">
                <a:extLst>
                  <a:ext uri="{FF2B5EF4-FFF2-40B4-BE49-F238E27FC236}">
                    <a16:creationId xmlns:a16="http://schemas.microsoft.com/office/drawing/2014/main" id="{1E7E778F-159B-468F-C71B-E335C74DB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02248" y="2446482"/>
                <a:ext cx="257028" cy="392415"/>
              </a:xfrm>
              <a:prstGeom prst="rect">
                <a:avLst/>
              </a:prstGeom>
              <a:blipFill>
                <a:blip r:embed="rId3"/>
                <a:stretch>
                  <a:fillRect l="-147619" t="-107692" r="-116667" b="-1707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8597302B-26AF-F130-F61A-FA48538EE846}"/>
              </a:ext>
            </a:extLst>
          </p:cNvPr>
          <p:cNvSpPr/>
          <p:nvPr/>
        </p:nvSpPr>
        <p:spPr>
          <a:xfrm>
            <a:off x="4345816" y="2369110"/>
            <a:ext cx="3090355" cy="91438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25">
                <a:extLst>
                  <a:ext uri="{FF2B5EF4-FFF2-40B4-BE49-F238E27FC236}">
                    <a16:creationId xmlns:a16="http://schemas.microsoft.com/office/drawing/2014/main" id="{0A43059B-C4A6-A686-E61B-624E4AC8F3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08324" y="2446898"/>
                <a:ext cx="279677" cy="391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CN" altLang="en-US" sz="1500" dirty="0"/>
              </a:p>
            </p:txBody>
          </p:sp>
        </mc:Choice>
        <mc:Fallback xmlns="">
          <p:sp>
            <p:nvSpPr>
              <p:cNvPr id="58" name="文本框 25">
                <a:extLst>
                  <a:ext uri="{FF2B5EF4-FFF2-40B4-BE49-F238E27FC236}">
                    <a16:creationId xmlns:a16="http://schemas.microsoft.com/office/drawing/2014/main" id="{0A43059B-C4A6-A686-E61B-624E4AC8F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08324" y="2446898"/>
                <a:ext cx="279677" cy="391582"/>
              </a:xfrm>
              <a:prstGeom prst="rect">
                <a:avLst/>
              </a:prstGeom>
              <a:blipFill>
                <a:blip r:embed="rId4"/>
                <a:stretch>
                  <a:fillRect l="-128261" t="-107692" r="-113043" b="-1707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DAF240A6-02C0-6363-ABA8-AD83A28739D1}"/>
                  </a:ext>
                </a:extLst>
              </p:cNvPr>
              <p:cNvSpPr txBox="1"/>
              <p:nvPr/>
            </p:nvSpPr>
            <p:spPr>
              <a:xfrm>
                <a:off x="5642015" y="2445744"/>
                <a:ext cx="518244" cy="393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DAF240A6-02C0-6363-ABA8-AD83A2873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015" y="2445744"/>
                <a:ext cx="518244" cy="393890"/>
              </a:xfrm>
              <a:prstGeom prst="rect">
                <a:avLst/>
              </a:prstGeom>
              <a:blipFill>
                <a:blip r:embed="rId5"/>
                <a:stretch>
                  <a:fillRect l="-43529" t="-107692" r="-87059" b="-170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本框 25">
            <a:extLst>
              <a:ext uri="{FF2B5EF4-FFF2-40B4-BE49-F238E27FC236}">
                <a16:creationId xmlns:a16="http://schemas.microsoft.com/office/drawing/2014/main" id="{1D818B6A-6085-B24E-BBE9-DCFE175AE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9846" y="2565537"/>
            <a:ext cx="26667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1800" b="1" dirty="0">
                <a:latin typeface="+mn-lt"/>
              </a:rPr>
              <a:t>Class-</a:t>
            </a:r>
            <a:r>
              <a:rPr lang="en-US" altLang="zh-TW" sz="1800" b="1" dirty="0">
                <a:latin typeface="+mn-lt"/>
              </a:rPr>
              <a:t>Probability</a:t>
            </a:r>
            <a:endParaRPr lang="zh-TW" altLang="en-US" sz="1800" dirty="0">
              <a:latin typeface="+mn-lt"/>
            </a:endParaRPr>
          </a:p>
          <a:p>
            <a:pPr algn="ctr" eaLnBrk="1" hangingPunct="1"/>
            <a:r>
              <a:rPr lang="en-US" altLang="zh-CN" sz="1800" b="1" dirty="0">
                <a:latin typeface="+mj-lt"/>
              </a:rPr>
              <a:t> calculation</a:t>
            </a:r>
            <a:endParaRPr lang="zh-CN" altLang="en-US" sz="1800" b="1" dirty="0">
              <a:latin typeface="+mj-lt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7CEB6FC-31DB-FC2E-E048-5498AAEBA97A}"/>
              </a:ext>
            </a:extLst>
          </p:cNvPr>
          <p:cNvSpPr txBox="1"/>
          <p:nvPr/>
        </p:nvSpPr>
        <p:spPr>
          <a:xfrm>
            <a:off x="609600" y="4070528"/>
            <a:ext cx="3570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p= probability /probability.sum()</a:t>
            </a:r>
            <a:endParaRPr lang="zh-TW" altLang="en-US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C2AD9F4-235E-DC72-1F04-CC3CDDC8BCDE}"/>
              </a:ext>
            </a:extLst>
          </p:cNvPr>
          <p:cNvSpPr txBox="1"/>
          <p:nvPr/>
        </p:nvSpPr>
        <p:spPr>
          <a:xfrm>
            <a:off x="1203081" y="4587485"/>
            <a:ext cx="2863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∑</a:t>
            </a:r>
            <a:r>
              <a:rPr lang="zh-TW" altLang="en-US" dirty="0"/>
              <a:t>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i</a:t>
            </a:r>
            <a:r>
              <a:rPr lang="en-US" altLang="zh-TW" dirty="0"/>
              <a:t>​=Number of Classes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ED0E914C-D4D3-6321-9B19-C314ACCA9536}"/>
              </a:ext>
            </a:extLst>
          </p:cNvPr>
          <p:cNvCxnSpPr>
            <a:cxnSpLocks/>
          </p:cNvCxnSpPr>
          <p:nvPr/>
        </p:nvCxnSpPr>
        <p:spPr>
          <a:xfrm>
            <a:off x="5924140" y="3370813"/>
            <a:ext cx="0" cy="42269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B69849B-9CC2-9698-A173-32B9EC854F96}"/>
              </a:ext>
            </a:extLst>
          </p:cNvPr>
          <p:cNvCxnSpPr>
            <a:cxnSpLocks/>
          </p:cNvCxnSpPr>
          <p:nvPr/>
        </p:nvCxnSpPr>
        <p:spPr>
          <a:xfrm>
            <a:off x="5930871" y="4883205"/>
            <a:ext cx="0" cy="42269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25">
            <a:extLst>
              <a:ext uri="{FF2B5EF4-FFF2-40B4-BE49-F238E27FC236}">
                <a16:creationId xmlns:a16="http://schemas.microsoft.com/office/drawing/2014/main" id="{C959FB23-41DF-C287-33CB-71FB69502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0275" y="4887759"/>
            <a:ext cx="26667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latin typeface="+mn-lt"/>
              </a:rPr>
              <a:t>Random sampling with p</a:t>
            </a:r>
            <a:endParaRPr lang="zh-CN" altLang="en-US" sz="1800" dirty="0">
              <a:latin typeface="+mn-lt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7C2689EB-3307-5EB4-D137-AD51E034FC3A}"/>
              </a:ext>
            </a:extLst>
          </p:cNvPr>
          <p:cNvSpPr/>
          <p:nvPr/>
        </p:nvSpPr>
        <p:spPr>
          <a:xfrm>
            <a:off x="4323765" y="5412528"/>
            <a:ext cx="3112405" cy="97412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3E62446C-49D6-EBC1-2C0E-C62CAC01EBBD}"/>
              </a:ext>
            </a:extLst>
          </p:cNvPr>
          <p:cNvSpPr/>
          <p:nvPr/>
        </p:nvSpPr>
        <p:spPr>
          <a:xfrm>
            <a:off x="4490128" y="1434029"/>
            <a:ext cx="327804" cy="3191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71B7251B-6E52-5375-AA01-1652B0AA8C9E}"/>
              </a:ext>
            </a:extLst>
          </p:cNvPr>
          <p:cNvSpPr/>
          <p:nvPr/>
        </p:nvSpPr>
        <p:spPr>
          <a:xfrm>
            <a:off x="4896848" y="1430613"/>
            <a:ext cx="327804" cy="3191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F017AB8B-CA4A-3B25-5C1E-4F35EE46C9FC}"/>
              </a:ext>
            </a:extLst>
          </p:cNvPr>
          <p:cNvSpPr/>
          <p:nvPr/>
        </p:nvSpPr>
        <p:spPr>
          <a:xfrm>
            <a:off x="5303568" y="1432321"/>
            <a:ext cx="327804" cy="3191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34800561-56E5-4EAF-D8AF-D0EE1403BFF1}"/>
              </a:ext>
            </a:extLst>
          </p:cNvPr>
          <p:cNvSpPr/>
          <p:nvPr/>
        </p:nvSpPr>
        <p:spPr>
          <a:xfrm>
            <a:off x="5737448" y="1429956"/>
            <a:ext cx="327804" cy="3191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1486F709-AF31-AC22-5CEE-D8C5D8A6166A}"/>
              </a:ext>
            </a:extLst>
          </p:cNvPr>
          <p:cNvSpPr/>
          <p:nvPr/>
        </p:nvSpPr>
        <p:spPr>
          <a:xfrm>
            <a:off x="6144168" y="1431664"/>
            <a:ext cx="327804" cy="3191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D75F3D44-7E8A-E69B-A178-D99C4182B78B}"/>
              </a:ext>
            </a:extLst>
          </p:cNvPr>
          <p:cNvSpPr/>
          <p:nvPr/>
        </p:nvSpPr>
        <p:spPr>
          <a:xfrm>
            <a:off x="6550888" y="1435065"/>
            <a:ext cx="327804" cy="3191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E8178F6D-7E45-2E3B-74EF-DBF835759730}"/>
              </a:ext>
            </a:extLst>
          </p:cNvPr>
          <p:cNvSpPr/>
          <p:nvPr/>
        </p:nvSpPr>
        <p:spPr>
          <a:xfrm>
            <a:off x="6957605" y="1436773"/>
            <a:ext cx="327804" cy="3191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4" name="文本框 3">
            <a:extLst>
              <a:ext uri="{FF2B5EF4-FFF2-40B4-BE49-F238E27FC236}">
                <a16:creationId xmlns:a16="http://schemas.microsoft.com/office/drawing/2014/main" id="{52203A6D-09AB-ECAB-CF03-B34A3D80B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47" y="183479"/>
            <a:ext cx="44412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3-1Sampling Strategy (1/2)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: Why we need balance?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25">
                <a:extLst>
                  <a:ext uri="{FF2B5EF4-FFF2-40B4-BE49-F238E27FC236}">
                    <a16:creationId xmlns:a16="http://schemas.microsoft.com/office/drawing/2014/main" id="{C916E672-9AD4-9862-F969-126EC6DAB9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7590" y="2446898"/>
                <a:ext cx="279677" cy="391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CN" altLang="en-US" sz="1500" dirty="0"/>
              </a:p>
            </p:txBody>
          </p:sp>
        </mc:Choice>
        <mc:Fallback xmlns="">
          <p:sp>
            <p:nvSpPr>
              <p:cNvPr id="7" name="文本框 25">
                <a:extLst>
                  <a:ext uri="{FF2B5EF4-FFF2-40B4-BE49-F238E27FC236}">
                    <a16:creationId xmlns:a16="http://schemas.microsoft.com/office/drawing/2014/main" id="{C916E672-9AD4-9862-F969-126EC6DAB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7590" y="2446898"/>
                <a:ext cx="279677" cy="391582"/>
              </a:xfrm>
              <a:prstGeom prst="rect">
                <a:avLst/>
              </a:prstGeom>
              <a:blipFill>
                <a:blip r:embed="rId7"/>
                <a:stretch>
                  <a:fillRect l="-133333" t="-107692" r="-115556" b="-1707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FF677F5E-7789-720C-CE17-B0B7D5CDF12F}"/>
                  </a:ext>
                </a:extLst>
              </p:cNvPr>
              <p:cNvSpPr txBox="1"/>
              <p:nvPr/>
            </p:nvSpPr>
            <p:spPr>
              <a:xfrm>
                <a:off x="6045303" y="2445744"/>
                <a:ext cx="518244" cy="393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FF677F5E-7789-720C-CE17-B0B7D5CDF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303" y="2445744"/>
                <a:ext cx="518244" cy="393890"/>
              </a:xfrm>
              <a:prstGeom prst="rect">
                <a:avLst/>
              </a:prstGeom>
              <a:blipFill>
                <a:blip r:embed="rId8"/>
                <a:stretch>
                  <a:fillRect l="-43529" t="-107692" r="-87059" b="-170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8F285A3B-8050-386D-4760-2E5468A49F18}"/>
                  </a:ext>
                </a:extLst>
              </p:cNvPr>
              <p:cNvSpPr txBox="1"/>
              <p:nvPr/>
            </p:nvSpPr>
            <p:spPr>
              <a:xfrm>
                <a:off x="6448100" y="2445744"/>
                <a:ext cx="518244" cy="393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8F285A3B-8050-386D-4760-2E5468A49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100" y="2445744"/>
                <a:ext cx="518244" cy="393890"/>
              </a:xfrm>
              <a:prstGeom prst="rect">
                <a:avLst/>
              </a:prstGeom>
              <a:blipFill>
                <a:blip r:embed="rId9"/>
                <a:stretch>
                  <a:fillRect l="-43529" t="-107692" r="-87059" b="-170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6FF9D4DC-B846-BE76-6BDE-C21A9321C9DA}"/>
                  </a:ext>
                </a:extLst>
              </p:cNvPr>
              <p:cNvSpPr txBox="1"/>
              <p:nvPr/>
            </p:nvSpPr>
            <p:spPr>
              <a:xfrm>
                <a:off x="6895876" y="2445744"/>
                <a:ext cx="518244" cy="393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6FF9D4DC-B846-BE76-6BDE-C21A9321C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876" y="2445744"/>
                <a:ext cx="518244" cy="393890"/>
              </a:xfrm>
              <a:prstGeom prst="rect">
                <a:avLst/>
              </a:prstGeom>
              <a:blipFill>
                <a:blip r:embed="rId10"/>
                <a:stretch>
                  <a:fillRect l="-42353" t="-107692" r="-88235" b="-170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25">
                <a:extLst>
                  <a:ext uri="{FF2B5EF4-FFF2-40B4-BE49-F238E27FC236}">
                    <a16:creationId xmlns:a16="http://schemas.microsoft.com/office/drawing/2014/main" id="{7E66E3AA-7645-369C-322E-216BC1FD80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3823" y="2819870"/>
                <a:ext cx="257028" cy="392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1500" dirty="0"/>
              </a:p>
            </p:txBody>
          </p:sp>
        </mc:Choice>
        <mc:Fallback xmlns="">
          <p:sp>
            <p:nvSpPr>
              <p:cNvPr id="76" name="文本框 25">
                <a:extLst>
                  <a:ext uri="{FF2B5EF4-FFF2-40B4-BE49-F238E27FC236}">
                    <a16:creationId xmlns:a16="http://schemas.microsoft.com/office/drawing/2014/main" id="{7E66E3AA-7645-369C-322E-216BC1FD8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3823" y="2819870"/>
                <a:ext cx="257028" cy="392415"/>
              </a:xfrm>
              <a:prstGeom prst="rect">
                <a:avLst/>
              </a:prstGeom>
              <a:blipFill>
                <a:blip r:embed="rId11"/>
                <a:stretch>
                  <a:fillRect l="-145238" t="-109375" r="-119048" b="-17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25">
                <a:extLst>
                  <a:ext uri="{FF2B5EF4-FFF2-40B4-BE49-F238E27FC236}">
                    <a16:creationId xmlns:a16="http://schemas.microsoft.com/office/drawing/2014/main" id="{D0FD7B07-0260-BB17-2ACD-9CDEECB816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9899" y="2820286"/>
                <a:ext cx="279677" cy="391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CN" altLang="en-US" sz="1500" dirty="0"/>
              </a:p>
            </p:txBody>
          </p:sp>
        </mc:Choice>
        <mc:Fallback xmlns="">
          <p:sp>
            <p:nvSpPr>
              <p:cNvPr id="77" name="文本框 25">
                <a:extLst>
                  <a:ext uri="{FF2B5EF4-FFF2-40B4-BE49-F238E27FC236}">
                    <a16:creationId xmlns:a16="http://schemas.microsoft.com/office/drawing/2014/main" id="{D0FD7B07-0260-BB17-2ACD-9CDEECB81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9899" y="2820286"/>
                <a:ext cx="279677" cy="391582"/>
              </a:xfrm>
              <a:prstGeom prst="rect">
                <a:avLst/>
              </a:prstGeom>
              <a:blipFill>
                <a:blip r:embed="rId12"/>
                <a:stretch>
                  <a:fillRect l="-130435" t="-109375" r="-110870" b="-17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585B1EB7-C123-1706-0D48-6693E780AE4C}"/>
                  </a:ext>
                </a:extLst>
              </p:cNvPr>
              <p:cNvSpPr txBox="1"/>
              <p:nvPr/>
            </p:nvSpPr>
            <p:spPr>
              <a:xfrm>
                <a:off x="5633590" y="2819132"/>
                <a:ext cx="518244" cy="393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585B1EB7-C123-1706-0D48-6693E780A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590" y="2819132"/>
                <a:ext cx="518244" cy="393890"/>
              </a:xfrm>
              <a:prstGeom prst="rect">
                <a:avLst/>
              </a:prstGeom>
              <a:blipFill>
                <a:blip r:embed="rId13"/>
                <a:stretch>
                  <a:fillRect l="-42353" t="-107692" r="-88235" b="-170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25">
                <a:extLst>
                  <a:ext uri="{FF2B5EF4-FFF2-40B4-BE49-F238E27FC236}">
                    <a16:creationId xmlns:a16="http://schemas.microsoft.com/office/drawing/2014/main" id="{4AF4788D-A858-02C4-973A-B2331B7AFA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9165" y="2820286"/>
                <a:ext cx="279677" cy="391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CN" altLang="en-US" sz="1500" dirty="0"/>
              </a:p>
            </p:txBody>
          </p:sp>
        </mc:Choice>
        <mc:Fallback xmlns="">
          <p:sp>
            <p:nvSpPr>
              <p:cNvPr id="79" name="文本框 25">
                <a:extLst>
                  <a:ext uri="{FF2B5EF4-FFF2-40B4-BE49-F238E27FC236}">
                    <a16:creationId xmlns:a16="http://schemas.microsoft.com/office/drawing/2014/main" id="{4AF4788D-A858-02C4-973A-B2331B7AF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29165" y="2820286"/>
                <a:ext cx="279677" cy="391582"/>
              </a:xfrm>
              <a:prstGeom prst="rect">
                <a:avLst/>
              </a:prstGeom>
              <a:blipFill>
                <a:blip r:embed="rId14"/>
                <a:stretch>
                  <a:fillRect l="-128261" t="-109375" r="-113043" b="-17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C1EFE127-9746-ED76-6D86-DD1EE7998E48}"/>
                  </a:ext>
                </a:extLst>
              </p:cNvPr>
              <p:cNvSpPr txBox="1"/>
              <p:nvPr/>
            </p:nvSpPr>
            <p:spPr>
              <a:xfrm>
                <a:off x="6036878" y="2819132"/>
                <a:ext cx="518244" cy="393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C1EFE127-9746-ED76-6D86-DD1EE7998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878" y="2819132"/>
                <a:ext cx="518244" cy="393890"/>
              </a:xfrm>
              <a:prstGeom prst="rect">
                <a:avLst/>
              </a:prstGeom>
              <a:blipFill>
                <a:blip r:embed="rId15"/>
                <a:stretch>
                  <a:fillRect l="-42353" t="-107692" r="-88235" b="-170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649F3D2D-38A2-9A38-F567-D773B81AE16F}"/>
                  </a:ext>
                </a:extLst>
              </p:cNvPr>
              <p:cNvSpPr txBox="1"/>
              <p:nvPr/>
            </p:nvSpPr>
            <p:spPr>
              <a:xfrm>
                <a:off x="6439675" y="2819132"/>
                <a:ext cx="518244" cy="393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649F3D2D-38A2-9A38-F567-D773B81AE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675" y="2819132"/>
                <a:ext cx="518244" cy="393890"/>
              </a:xfrm>
              <a:prstGeom prst="rect">
                <a:avLst/>
              </a:prstGeom>
              <a:blipFill>
                <a:blip r:embed="rId16"/>
                <a:stretch>
                  <a:fillRect l="-42353" t="-107692" r="-88235" b="-170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5270FC33-2BA6-4885-10BA-DC1435D37182}"/>
                  </a:ext>
                </a:extLst>
              </p:cNvPr>
              <p:cNvSpPr txBox="1"/>
              <p:nvPr/>
            </p:nvSpPr>
            <p:spPr>
              <a:xfrm>
                <a:off x="6887451" y="2819132"/>
                <a:ext cx="518244" cy="393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5270FC33-2BA6-4885-10BA-DC1435D37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451" y="2819132"/>
                <a:ext cx="518244" cy="393890"/>
              </a:xfrm>
              <a:prstGeom prst="rect">
                <a:avLst/>
              </a:prstGeom>
              <a:blipFill>
                <a:blip r:embed="rId17"/>
                <a:stretch>
                  <a:fillRect l="-43529" t="-107692" r="-87059" b="-170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25">
                <a:extLst>
                  <a:ext uri="{FF2B5EF4-FFF2-40B4-BE49-F238E27FC236}">
                    <a16:creationId xmlns:a16="http://schemas.microsoft.com/office/drawing/2014/main" id="{E65FD6B8-A2B1-D298-2B93-1BDA3ECBF3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80197" y="3917596"/>
                <a:ext cx="257028" cy="3938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zh-CN" altLang="en-US" sz="1500" dirty="0"/>
              </a:p>
            </p:txBody>
          </p:sp>
        </mc:Choice>
        <mc:Fallback xmlns="">
          <p:sp>
            <p:nvSpPr>
              <p:cNvPr id="83" name="文本框 25">
                <a:extLst>
                  <a:ext uri="{FF2B5EF4-FFF2-40B4-BE49-F238E27FC236}">
                    <a16:creationId xmlns:a16="http://schemas.microsoft.com/office/drawing/2014/main" id="{E65FD6B8-A2B1-D298-2B93-1BDA3ECBF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0197" y="3917596"/>
                <a:ext cx="257028" cy="393890"/>
              </a:xfrm>
              <a:prstGeom prst="rect">
                <a:avLst/>
              </a:prstGeom>
              <a:blipFill>
                <a:blip r:embed="rId18"/>
                <a:stretch>
                  <a:fillRect l="-145238" t="-109375" r="-119048" b="-17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矩形: 圓角 83">
            <a:extLst>
              <a:ext uri="{FF2B5EF4-FFF2-40B4-BE49-F238E27FC236}">
                <a16:creationId xmlns:a16="http://schemas.microsoft.com/office/drawing/2014/main" id="{20C65633-A3A1-BF9E-41AC-E9DDA2F9C4F3}"/>
              </a:ext>
            </a:extLst>
          </p:cNvPr>
          <p:cNvSpPr/>
          <p:nvPr/>
        </p:nvSpPr>
        <p:spPr>
          <a:xfrm>
            <a:off x="4323765" y="3840224"/>
            <a:ext cx="3090355" cy="91438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25">
                <a:extLst>
                  <a:ext uri="{FF2B5EF4-FFF2-40B4-BE49-F238E27FC236}">
                    <a16:creationId xmlns:a16="http://schemas.microsoft.com/office/drawing/2014/main" id="{D1B047E5-B1F2-D894-A3B8-2F8503DC1B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6273" y="3918012"/>
                <a:ext cx="279677" cy="392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zh-CN" altLang="en-US" sz="1500" dirty="0"/>
              </a:p>
            </p:txBody>
          </p:sp>
        </mc:Choice>
        <mc:Fallback xmlns="">
          <p:sp>
            <p:nvSpPr>
              <p:cNvPr id="85" name="文本框 25">
                <a:extLst>
                  <a:ext uri="{FF2B5EF4-FFF2-40B4-BE49-F238E27FC236}">
                    <a16:creationId xmlns:a16="http://schemas.microsoft.com/office/drawing/2014/main" id="{D1B047E5-B1F2-D894-A3B8-2F8503DC1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6273" y="3918012"/>
                <a:ext cx="279677" cy="392415"/>
              </a:xfrm>
              <a:prstGeom prst="rect">
                <a:avLst/>
              </a:prstGeom>
              <a:blipFill>
                <a:blip r:embed="rId19"/>
                <a:stretch>
                  <a:fillRect l="-151111" t="-109375" r="-97778" b="-17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2BA78AF6-D052-FA95-B664-4E7A8A7B79C8}"/>
                  </a:ext>
                </a:extLst>
              </p:cNvPr>
              <p:cNvSpPr txBox="1"/>
              <p:nvPr/>
            </p:nvSpPr>
            <p:spPr>
              <a:xfrm>
                <a:off x="5619964" y="3916858"/>
                <a:ext cx="518244" cy="3924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2BA78AF6-D052-FA95-B664-4E7A8A7B7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964" y="3916858"/>
                <a:ext cx="518244" cy="392415"/>
              </a:xfrm>
              <a:prstGeom prst="rect">
                <a:avLst/>
              </a:prstGeom>
              <a:blipFill>
                <a:blip r:embed="rId20"/>
                <a:stretch>
                  <a:fillRect l="-48235" t="-109375" r="-82353" b="-1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25">
                <a:extLst>
                  <a:ext uri="{FF2B5EF4-FFF2-40B4-BE49-F238E27FC236}">
                    <a16:creationId xmlns:a16="http://schemas.microsoft.com/office/drawing/2014/main" id="{9FFA17E2-2DF6-4B7B-134B-546B475D0C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15539" y="3918012"/>
                <a:ext cx="279677" cy="392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zh-CN" altLang="en-US" sz="1500" dirty="0"/>
              </a:p>
            </p:txBody>
          </p:sp>
        </mc:Choice>
        <mc:Fallback xmlns="">
          <p:sp>
            <p:nvSpPr>
              <p:cNvPr id="87" name="文本框 25">
                <a:extLst>
                  <a:ext uri="{FF2B5EF4-FFF2-40B4-BE49-F238E27FC236}">
                    <a16:creationId xmlns:a16="http://schemas.microsoft.com/office/drawing/2014/main" id="{9FFA17E2-2DF6-4B7B-134B-546B475D0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5539" y="3918012"/>
                <a:ext cx="279677" cy="392415"/>
              </a:xfrm>
              <a:prstGeom prst="rect">
                <a:avLst/>
              </a:prstGeom>
              <a:blipFill>
                <a:blip r:embed="rId21"/>
                <a:stretch>
                  <a:fillRect l="-147826" t="-109375" r="-93478" b="-17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CE00DFDA-5617-11C5-6594-9C49DC92D721}"/>
                  </a:ext>
                </a:extLst>
              </p:cNvPr>
              <p:cNvSpPr txBox="1"/>
              <p:nvPr/>
            </p:nvSpPr>
            <p:spPr>
              <a:xfrm>
                <a:off x="6023252" y="3916858"/>
                <a:ext cx="518244" cy="3924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CE00DFDA-5617-11C5-6594-9C49DC92D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252" y="3916858"/>
                <a:ext cx="518244" cy="392415"/>
              </a:xfrm>
              <a:prstGeom prst="rect">
                <a:avLst/>
              </a:prstGeom>
              <a:blipFill>
                <a:blip r:embed="rId22"/>
                <a:stretch>
                  <a:fillRect l="-47059" t="-109375" r="-83529" b="-1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5DA6513F-A4DE-FA70-82F4-25578D3C19B0}"/>
                  </a:ext>
                </a:extLst>
              </p:cNvPr>
              <p:cNvSpPr txBox="1"/>
              <p:nvPr/>
            </p:nvSpPr>
            <p:spPr>
              <a:xfrm>
                <a:off x="6426049" y="3916858"/>
                <a:ext cx="518244" cy="3924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5DA6513F-A4DE-FA70-82F4-25578D3C1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049" y="3916858"/>
                <a:ext cx="518244" cy="392415"/>
              </a:xfrm>
              <a:prstGeom prst="rect">
                <a:avLst/>
              </a:prstGeom>
              <a:blipFill>
                <a:blip r:embed="rId23"/>
                <a:stretch>
                  <a:fillRect l="-47059" t="-109375" r="-83529" b="-1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28D9A0EB-459F-FC66-EC40-0C193FE17873}"/>
                  </a:ext>
                </a:extLst>
              </p:cNvPr>
              <p:cNvSpPr txBox="1"/>
              <p:nvPr/>
            </p:nvSpPr>
            <p:spPr>
              <a:xfrm>
                <a:off x="6873825" y="3916858"/>
                <a:ext cx="518244" cy="3924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28D9A0EB-459F-FC66-EC40-0C193FE17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25" y="3916858"/>
                <a:ext cx="518244" cy="392415"/>
              </a:xfrm>
              <a:prstGeom prst="rect">
                <a:avLst/>
              </a:prstGeom>
              <a:blipFill>
                <a:blip r:embed="rId24"/>
                <a:stretch>
                  <a:fillRect l="-48235" t="-109375" r="-82353" b="-1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25">
                <a:extLst>
                  <a:ext uri="{FF2B5EF4-FFF2-40B4-BE49-F238E27FC236}">
                    <a16:creationId xmlns:a16="http://schemas.microsoft.com/office/drawing/2014/main" id="{E33086B3-FF4A-C912-0009-914852739E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1772" y="4290984"/>
                <a:ext cx="257028" cy="3938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zh-CN" altLang="en-US" sz="1500" dirty="0"/>
              </a:p>
            </p:txBody>
          </p:sp>
        </mc:Choice>
        <mc:Fallback xmlns="">
          <p:sp>
            <p:nvSpPr>
              <p:cNvPr id="91" name="文本框 25">
                <a:extLst>
                  <a:ext uri="{FF2B5EF4-FFF2-40B4-BE49-F238E27FC236}">
                    <a16:creationId xmlns:a16="http://schemas.microsoft.com/office/drawing/2014/main" id="{E33086B3-FF4A-C912-0009-914852739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1772" y="4290984"/>
                <a:ext cx="257028" cy="393890"/>
              </a:xfrm>
              <a:prstGeom prst="rect">
                <a:avLst/>
              </a:prstGeom>
              <a:blipFill>
                <a:blip r:embed="rId25"/>
                <a:stretch>
                  <a:fillRect l="-147619" t="-107692" r="-116667" b="-1707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25">
                <a:extLst>
                  <a:ext uri="{FF2B5EF4-FFF2-40B4-BE49-F238E27FC236}">
                    <a16:creationId xmlns:a16="http://schemas.microsoft.com/office/drawing/2014/main" id="{79B91B17-6C7E-0447-6D92-F0BE4A239F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7848" y="4291400"/>
                <a:ext cx="279677" cy="392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zh-CN" altLang="en-US" sz="1500" dirty="0"/>
              </a:p>
            </p:txBody>
          </p:sp>
        </mc:Choice>
        <mc:Fallback xmlns="">
          <p:sp>
            <p:nvSpPr>
              <p:cNvPr id="92" name="文本框 25">
                <a:extLst>
                  <a:ext uri="{FF2B5EF4-FFF2-40B4-BE49-F238E27FC236}">
                    <a16:creationId xmlns:a16="http://schemas.microsoft.com/office/drawing/2014/main" id="{79B91B17-6C7E-0447-6D92-F0BE4A239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7848" y="4291400"/>
                <a:ext cx="279677" cy="392415"/>
              </a:xfrm>
              <a:prstGeom prst="rect">
                <a:avLst/>
              </a:prstGeom>
              <a:blipFill>
                <a:blip r:embed="rId26"/>
                <a:stretch>
                  <a:fillRect l="-147826" t="-109375" r="-93478" b="-17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7154A217-CAD3-4290-A00E-0C657330AC95}"/>
                  </a:ext>
                </a:extLst>
              </p:cNvPr>
              <p:cNvSpPr txBox="1"/>
              <p:nvPr/>
            </p:nvSpPr>
            <p:spPr>
              <a:xfrm>
                <a:off x="5611539" y="4290246"/>
                <a:ext cx="518244" cy="3924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7154A217-CAD3-4290-A00E-0C657330A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539" y="4290246"/>
                <a:ext cx="518244" cy="392415"/>
              </a:xfrm>
              <a:prstGeom prst="rect">
                <a:avLst/>
              </a:prstGeom>
              <a:blipFill>
                <a:blip r:embed="rId27"/>
                <a:stretch>
                  <a:fillRect l="-48235" t="-109375" r="-82353" b="-1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25">
                <a:extLst>
                  <a:ext uri="{FF2B5EF4-FFF2-40B4-BE49-F238E27FC236}">
                    <a16:creationId xmlns:a16="http://schemas.microsoft.com/office/drawing/2014/main" id="{11981302-CECE-F6DA-D4A4-BF6CDCA196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07114" y="4291400"/>
                <a:ext cx="279677" cy="392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zh-CN" altLang="en-US" sz="1500" dirty="0"/>
              </a:p>
            </p:txBody>
          </p:sp>
        </mc:Choice>
        <mc:Fallback xmlns="">
          <p:sp>
            <p:nvSpPr>
              <p:cNvPr id="94" name="文本框 25">
                <a:extLst>
                  <a:ext uri="{FF2B5EF4-FFF2-40B4-BE49-F238E27FC236}">
                    <a16:creationId xmlns:a16="http://schemas.microsoft.com/office/drawing/2014/main" id="{11981302-CECE-F6DA-D4A4-BF6CDCA19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7114" y="4291400"/>
                <a:ext cx="279677" cy="392415"/>
              </a:xfrm>
              <a:prstGeom prst="rect">
                <a:avLst/>
              </a:prstGeom>
              <a:blipFill>
                <a:blip r:embed="rId28"/>
                <a:stretch>
                  <a:fillRect l="-151111" t="-109375" r="-97778" b="-17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0CEEAAA2-D0AD-69CD-A4E7-937105E71A4E}"/>
                  </a:ext>
                </a:extLst>
              </p:cNvPr>
              <p:cNvSpPr txBox="1"/>
              <p:nvPr/>
            </p:nvSpPr>
            <p:spPr>
              <a:xfrm>
                <a:off x="6014827" y="4290246"/>
                <a:ext cx="518244" cy="3924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0CEEAAA2-D0AD-69CD-A4E7-937105E71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827" y="4290246"/>
                <a:ext cx="518244" cy="392415"/>
              </a:xfrm>
              <a:prstGeom prst="rect">
                <a:avLst/>
              </a:prstGeom>
              <a:blipFill>
                <a:blip r:embed="rId29"/>
                <a:stretch>
                  <a:fillRect l="-48235" t="-109375" r="-82353" b="-1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D18B7B0E-315B-72E9-9D8C-D3D83922F633}"/>
                  </a:ext>
                </a:extLst>
              </p:cNvPr>
              <p:cNvSpPr txBox="1"/>
              <p:nvPr/>
            </p:nvSpPr>
            <p:spPr>
              <a:xfrm>
                <a:off x="6417624" y="4290246"/>
                <a:ext cx="518244" cy="3924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D18B7B0E-315B-72E9-9D8C-D3D83922F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624" y="4290246"/>
                <a:ext cx="518244" cy="392415"/>
              </a:xfrm>
              <a:prstGeom prst="rect">
                <a:avLst/>
              </a:prstGeom>
              <a:blipFill>
                <a:blip r:embed="rId30"/>
                <a:stretch>
                  <a:fillRect l="-48235" t="-109375" r="-82353" b="-1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0BDE7B7D-94C4-70A2-CB93-914CB05C3C22}"/>
                  </a:ext>
                </a:extLst>
              </p:cNvPr>
              <p:cNvSpPr txBox="1"/>
              <p:nvPr/>
            </p:nvSpPr>
            <p:spPr>
              <a:xfrm>
                <a:off x="6865400" y="4290246"/>
                <a:ext cx="518244" cy="3924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zh-CN" altLang="en-US" sz="1500" i="1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500" dirty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500" b="0" i="0" dirty="0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0BDE7B7D-94C4-70A2-CB93-914CB05C3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5400" y="4290246"/>
                <a:ext cx="518244" cy="392415"/>
              </a:xfrm>
              <a:prstGeom prst="rect">
                <a:avLst/>
              </a:prstGeom>
              <a:blipFill>
                <a:blip r:embed="rId31"/>
                <a:stretch>
                  <a:fillRect l="-47059" t="-109375" r="-83529" b="-1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字方塊 98">
            <a:extLst>
              <a:ext uri="{FF2B5EF4-FFF2-40B4-BE49-F238E27FC236}">
                <a16:creationId xmlns:a16="http://schemas.microsoft.com/office/drawing/2014/main" id="{397A90B8-6276-A98F-C5B5-E649C9FFE17F}"/>
              </a:ext>
            </a:extLst>
          </p:cNvPr>
          <p:cNvSpPr txBox="1"/>
          <p:nvPr/>
        </p:nvSpPr>
        <p:spPr>
          <a:xfrm>
            <a:off x="7460919" y="2615967"/>
            <a:ext cx="1524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Probability</a:t>
            </a:r>
            <a:endParaRPr lang="zh-TW" altLang="en-US" sz="2000" dirty="0"/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02C9AB17-8736-DF08-5843-0FE2A62F4650}"/>
              </a:ext>
            </a:extLst>
          </p:cNvPr>
          <p:cNvSpPr txBox="1"/>
          <p:nvPr/>
        </p:nvSpPr>
        <p:spPr>
          <a:xfrm>
            <a:off x="7445562" y="4055139"/>
            <a:ext cx="12714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p</a:t>
            </a:r>
            <a:endParaRPr lang="zh-TW" altLang="en-US" sz="2000" dirty="0"/>
          </a:p>
        </p:txBody>
      </p:sp>
      <p:sp>
        <p:nvSpPr>
          <p:cNvPr id="116" name="橢圓 115">
            <a:extLst>
              <a:ext uri="{FF2B5EF4-FFF2-40B4-BE49-F238E27FC236}">
                <a16:creationId xmlns:a16="http://schemas.microsoft.com/office/drawing/2014/main" id="{24B9F9C5-E723-BEA6-3097-A19000B2B84E}"/>
              </a:ext>
            </a:extLst>
          </p:cNvPr>
          <p:cNvSpPr/>
          <p:nvPr/>
        </p:nvSpPr>
        <p:spPr>
          <a:xfrm>
            <a:off x="4476836" y="5554191"/>
            <a:ext cx="327804" cy="3191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17C14345-5876-29AC-D637-2127E2B34B66}"/>
              </a:ext>
            </a:extLst>
          </p:cNvPr>
          <p:cNvSpPr/>
          <p:nvPr/>
        </p:nvSpPr>
        <p:spPr>
          <a:xfrm>
            <a:off x="4883556" y="5550775"/>
            <a:ext cx="327804" cy="3191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F496BE7A-1D78-AFE1-28B0-04C8A4738AFB}"/>
              </a:ext>
            </a:extLst>
          </p:cNvPr>
          <p:cNvSpPr/>
          <p:nvPr/>
        </p:nvSpPr>
        <p:spPr>
          <a:xfrm>
            <a:off x="4487817" y="5948595"/>
            <a:ext cx="327804" cy="3191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27A211FF-D71E-09F1-8ED0-F6A411FEC053}"/>
              </a:ext>
            </a:extLst>
          </p:cNvPr>
          <p:cNvSpPr/>
          <p:nvPr/>
        </p:nvSpPr>
        <p:spPr>
          <a:xfrm>
            <a:off x="5724156" y="5550118"/>
            <a:ext cx="327804" cy="3191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514C3398-8212-384C-7EF4-F9702A735514}"/>
              </a:ext>
            </a:extLst>
          </p:cNvPr>
          <p:cNvSpPr/>
          <p:nvPr/>
        </p:nvSpPr>
        <p:spPr>
          <a:xfrm>
            <a:off x="6130876" y="5551826"/>
            <a:ext cx="327804" cy="3191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CEAF3660-3805-B4AC-5AF6-A581E7F0EE82}"/>
              </a:ext>
            </a:extLst>
          </p:cNvPr>
          <p:cNvSpPr/>
          <p:nvPr/>
        </p:nvSpPr>
        <p:spPr>
          <a:xfrm>
            <a:off x="5289463" y="5550118"/>
            <a:ext cx="327804" cy="3191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B1604A75-F6EE-2B45-914A-8277FE4D3B0A}"/>
              </a:ext>
            </a:extLst>
          </p:cNvPr>
          <p:cNvSpPr/>
          <p:nvPr/>
        </p:nvSpPr>
        <p:spPr>
          <a:xfrm>
            <a:off x="4890888" y="5940884"/>
            <a:ext cx="327804" cy="3191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7E3F643-CEA8-F0A2-2B6C-5F8A49278717}"/>
              </a:ext>
            </a:extLst>
          </p:cNvPr>
          <p:cNvSpPr/>
          <p:nvPr/>
        </p:nvSpPr>
        <p:spPr>
          <a:xfrm>
            <a:off x="6960495" y="5926783"/>
            <a:ext cx="327804" cy="3191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B40D1FB-927D-DBB3-905C-5B9D8BE5BDA8}"/>
              </a:ext>
            </a:extLst>
          </p:cNvPr>
          <p:cNvSpPr/>
          <p:nvPr/>
        </p:nvSpPr>
        <p:spPr>
          <a:xfrm>
            <a:off x="5290276" y="5929148"/>
            <a:ext cx="327804" cy="3191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67FF429F-4EBD-416D-B4B6-4F363A89EA3D}"/>
              </a:ext>
            </a:extLst>
          </p:cNvPr>
          <p:cNvSpPr/>
          <p:nvPr/>
        </p:nvSpPr>
        <p:spPr>
          <a:xfrm>
            <a:off x="5724156" y="5926783"/>
            <a:ext cx="327804" cy="3191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8" name="橢圓 127">
            <a:extLst>
              <a:ext uri="{FF2B5EF4-FFF2-40B4-BE49-F238E27FC236}">
                <a16:creationId xmlns:a16="http://schemas.microsoft.com/office/drawing/2014/main" id="{309DB607-E94F-62B3-A006-B84C01A9C0F6}"/>
              </a:ext>
            </a:extLst>
          </p:cNvPr>
          <p:cNvSpPr/>
          <p:nvPr/>
        </p:nvSpPr>
        <p:spPr>
          <a:xfrm>
            <a:off x="6537596" y="5931892"/>
            <a:ext cx="327804" cy="3191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0" name="橢圓 129">
            <a:extLst>
              <a:ext uri="{FF2B5EF4-FFF2-40B4-BE49-F238E27FC236}">
                <a16:creationId xmlns:a16="http://schemas.microsoft.com/office/drawing/2014/main" id="{F968493F-3017-3082-5651-6CB7D41A4AAF}"/>
              </a:ext>
            </a:extLst>
          </p:cNvPr>
          <p:cNvSpPr/>
          <p:nvPr/>
        </p:nvSpPr>
        <p:spPr>
          <a:xfrm>
            <a:off x="6543320" y="5550118"/>
            <a:ext cx="327804" cy="3191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1" name="橢圓 130">
            <a:extLst>
              <a:ext uri="{FF2B5EF4-FFF2-40B4-BE49-F238E27FC236}">
                <a16:creationId xmlns:a16="http://schemas.microsoft.com/office/drawing/2014/main" id="{678DBA98-63EC-7DB6-4EA2-5BCE5C781E72}"/>
              </a:ext>
            </a:extLst>
          </p:cNvPr>
          <p:cNvSpPr/>
          <p:nvPr/>
        </p:nvSpPr>
        <p:spPr>
          <a:xfrm>
            <a:off x="6138208" y="5940884"/>
            <a:ext cx="327804" cy="3191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2" name="橢圓 131">
            <a:extLst>
              <a:ext uri="{FF2B5EF4-FFF2-40B4-BE49-F238E27FC236}">
                <a16:creationId xmlns:a16="http://schemas.microsoft.com/office/drawing/2014/main" id="{A4EC5576-E99A-BBAF-7BD9-328BFAB70CB2}"/>
              </a:ext>
            </a:extLst>
          </p:cNvPr>
          <p:cNvSpPr/>
          <p:nvPr/>
        </p:nvSpPr>
        <p:spPr>
          <a:xfrm>
            <a:off x="6957605" y="5534555"/>
            <a:ext cx="327804" cy="3191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E0FA7D7A-42B0-0DAD-EE8F-51D28606ECCE}"/>
              </a:ext>
            </a:extLst>
          </p:cNvPr>
          <p:cNvSpPr txBox="1"/>
          <p:nvPr/>
        </p:nvSpPr>
        <p:spPr>
          <a:xfrm>
            <a:off x="7378196" y="5742117"/>
            <a:ext cx="2474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zh-CN" sz="1800" b="1" dirty="0"/>
              <a:t>Dataset after sampling</a:t>
            </a:r>
            <a:endParaRPr lang="zh-CN" altLang="en-US" sz="1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E755608-D76D-5C38-45F2-908EAD2E7E86}"/>
              </a:ext>
            </a:extLst>
          </p:cNvPr>
          <p:cNvSpPr txBox="1"/>
          <p:nvPr/>
        </p:nvSpPr>
        <p:spPr>
          <a:xfrm>
            <a:off x="7456882" y="1506057"/>
            <a:ext cx="45145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Assume the dataset contains three categories (classes).</a:t>
            </a:r>
            <a:endParaRPr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D84E6066-E133-6D16-6C04-4D3CFB690B50}"/>
                  </a:ext>
                </a:extLst>
              </p:cNvPr>
              <p:cNvSpPr txBox="1"/>
              <p:nvPr/>
            </p:nvSpPr>
            <p:spPr>
              <a:xfrm>
                <a:off x="9092520" y="4808381"/>
                <a:ext cx="609600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400" b="0" i="0" dirty="0">
                    <a:effectLst/>
                  </a:rPr>
                  <a:t>Note: </a:t>
                </a:r>
              </a:p>
              <a:p>
                <a:r>
                  <a:rPr lang="en-US" altLang="zh-TW" sz="1600" dirty="0"/>
                  <a:t>Repeated samples </a:t>
                </a:r>
                <a14:m>
                  <m:oMath xmlns:m="http://schemas.openxmlformats.org/officeDocument/2006/math">
                    <m:r>
                      <a:rPr lang="en-US" altLang="zh-TW" sz="16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TW" altLang="en-US" sz="1600" dirty="0"/>
                  <a:t> </a:t>
                </a:r>
                <a:r>
                  <a:rPr lang="en-US" altLang="zh-TW" sz="1600" dirty="0"/>
                  <a:t>Overfitting risk</a:t>
                </a:r>
                <a:endParaRPr lang="zh-TW" altLang="en-US" sz="12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D84E6066-E133-6D16-6C04-4D3CFB690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520" y="4808381"/>
                <a:ext cx="6096000" cy="553998"/>
              </a:xfrm>
              <a:prstGeom prst="rect">
                <a:avLst/>
              </a:prstGeom>
              <a:blipFill>
                <a:blip r:embed="rId32"/>
                <a:stretch>
                  <a:fillRect l="-600" t="-2198" b="-131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接點: 弧形 17">
            <a:extLst>
              <a:ext uri="{FF2B5EF4-FFF2-40B4-BE49-F238E27FC236}">
                <a16:creationId xmlns:a16="http://schemas.microsoft.com/office/drawing/2014/main" id="{5754B5CC-2B6D-3A3D-0EEF-D30488938603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 flipV="1">
            <a:off x="7285418" y="5085379"/>
            <a:ext cx="1807103" cy="62310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58D44D-E4B0-A856-D679-6A2FB72B9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65DEB042-DAF0-3AAB-BC56-38404C146351}"/>
              </a:ext>
            </a:extLst>
          </p:cNvPr>
          <p:cNvSpPr txBox="1"/>
          <p:nvPr/>
        </p:nvSpPr>
        <p:spPr>
          <a:xfrm>
            <a:off x="8717013" y="4693352"/>
            <a:ext cx="75719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/>
              <a:t>⚠️</a:t>
            </a:r>
          </a:p>
        </p:txBody>
      </p:sp>
    </p:spTree>
    <p:extLst>
      <p:ext uri="{BB962C8B-B14F-4D97-AF65-F5344CB8AC3E}">
        <p14:creationId xmlns:p14="http://schemas.microsoft.com/office/powerpoint/2010/main" val="3163610588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C9856-9A2F-BC40-A436-FAA802B02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3B50ED-9DCB-2DB5-C54F-B178478001BC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E7F436-3001-1824-35DC-7664A4FD7119}"/>
              </a:ext>
            </a:extLst>
          </p:cNvPr>
          <p:cNvSpPr/>
          <p:nvPr/>
        </p:nvSpPr>
        <p:spPr>
          <a:xfrm>
            <a:off x="4267200" y="254000"/>
            <a:ext cx="79248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DFFC5A-C331-FEA0-7BB2-127FA4CB5A4D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927D81-DEB9-59D9-67E8-5AF912BE6600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251CE44-03A3-9A72-5C93-D58E5BDF3749}"/>
              </a:ext>
            </a:extLst>
          </p:cNvPr>
          <p:cNvSpPr txBox="1"/>
          <p:nvPr/>
        </p:nvSpPr>
        <p:spPr>
          <a:xfrm>
            <a:off x="481634" y="1167947"/>
            <a:ext cx="3328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Smoothed </a:t>
            </a:r>
            <a:r>
              <a:rPr lang="en-US" altLang="zh-TW" b="1" dirty="0">
                <a:solidFill>
                  <a:srgbClr val="FF0000"/>
                </a:solidFill>
              </a:rPr>
              <a:t>Probability</a:t>
            </a:r>
            <a:r>
              <a:rPr lang="en-US" altLang="zh-TW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γ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63C61628-589C-E7F0-42C1-7A295EF3AD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3116063"/>
                  </p:ext>
                </p:extLst>
              </p:nvPr>
            </p:nvGraphicFramePr>
            <p:xfrm>
              <a:off x="762163" y="1530981"/>
              <a:ext cx="11170700" cy="2569676"/>
            </p:xfrm>
            <a:graphic>
              <a:graphicData uri="http://schemas.openxmlformats.org/drawingml/2006/table">
                <a:tbl>
                  <a:tblPr firstRow="1" bandRow="1">
                    <a:tableStyleId>{EB344D84-9AFB-497E-A393-DC336BA19D2E}</a:tableStyleId>
                  </a:tblPr>
                  <a:tblGrid>
                    <a:gridCol w="2244236">
                      <a:extLst>
                        <a:ext uri="{9D8B030D-6E8A-4147-A177-3AD203B41FA5}">
                          <a16:colId xmlns:a16="http://schemas.microsoft.com/office/drawing/2014/main" val="2722818797"/>
                        </a:ext>
                      </a:extLst>
                    </a:gridCol>
                    <a:gridCol w="3122159">
                      <a:extLst>
                        <a:ext uri="{9D8B030D-6E8A-4147-A177-3AD203B41FA5}">
                          <a16:colId xmlns:a16="http://schemas.microsoft.com/office/drawing/2014/main" val="3025801357"/>
                        </a:ext>
                      </a:extLst>
                    </a:gridCol>
                    <a:gridCol w="2306003">
                      <a:extLst>
                        <a:ext uri="{9D8B030D-6E8A-4147-A177-3AD203B41FA5}">
                          <a16:colId xmlns:a16="http://schemas.microsoft.com/office/drawing/2014/main" val="1274400329"/>
                        </a:ext>
                      </a:extLst>
                    </a:gridCol>
                    <a:gridCol w="3498302">
                      <a:extLst>
                        <a:ext uri="{9D8B030D-6E8A-4147-A177-3AD203B41FA5}">
                          <a16:colId xmlns:a16="http://schemas.microsoft.com/office/drawing/2014/main" val="1982636298"/>
                        </a:ext>
                      </a:extLst>
                    </a:gridCol>
                  </a:tblGrid>
                  <a:tr h="907352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Gamma (</a:t>
                          </a:r>
                          <a:r>
                            <a:rPr lang="el-GR" altLang="zh-TW" dirty="0"/>
                            <a:t>γ) </a:t>
                          </a:r>
                          <a:r>
                            <a:rPr lang="en-US" altLang="zh-TW" dirty="0"/>
                            <a:t>Value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b="1" i="0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Type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b="1" dirty="0"/>
                            <a:t>Probability</a:t>
                          </a:r>
                          <a:r>
                            <a:rPr lang="en-US" altLang="zh-TW" sz="1800" b="1" i="0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Formula 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b="1" i="1" kern="1200" smtClean="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b="1" i="1" kern="1200" smtClean="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US" altLang="zh-TW" sz="1800" b="1" i="0" kern="1200" smtClean="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sz="1800" b="1" i="0" kern="1200" smtClean="0">
                                    <a:solidFill>
                                      <a:schemeClr val="lt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altLang="zh-TW" sz="1800" b="1" i="1" kern="1200" smtClean="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1" i="0" kern="1200" smtClean="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TW" sz="1800" b="1" i="1" kern="1200" smtClean="0">
                                            <a:solidFill>
                                              <a:schemeClr val="lt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b="1" i="1" kern="1200" smtClean="0">
                                            <a:solidFill>
                                              <a:schemeClr val="lt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altLang="zh-TW" sz="1800" b="1" i="1" kern="1200" smtClean="0">
                                            <a:solidFill>
                                              <a:schemeClr val="lt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TW" sz="1800" b="1" i="1" kern="1200" baseline="30000" smtClean="0">
                                        <a:solidFill>
                                          <a:schemeClr val="lt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𝛾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Outcome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986871"/>
                      </a:ext>
                    </a:extLst>
                  </a:tr>
                  <a:tr h="574656">
                    <a:tc>
                      <a:txBody>
                        <a:bodyPr/>
                        <a:lstStyle/>
                        <a:p>
                          <a:r>
                            <a:rPr lang="el-GR" altLang="zh-TW" dirty="0"/>
                            <a:t>γ = 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Balanced sampling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US" altLang="zh-TW" sz="1800" b="1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sz="1800" b="1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18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1/</m:t>
                                    </m:r>
                                    <m:r>
                                      <a:rPr lang="en-US" altLang="zh-TW" sz="18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altLang="zh-TW" sz="18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Strongest boost to rare classes .Most aggressive over-sampling .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1646806"/>
                      </a:ext>
                    </a:extLst>
                  </a:tr>
                  <a:tr h="574656">
                    <a:tc>
                      <a:txBody>
                        <a:bodyPr/>
                        <a:lstStyle/>
                        <a:p>
                          <a:r>
                            <a:rPr lang="el-GR" altLang="zh-TW" dirty="0"/>
                            <a:t>0 &lt; γ &lt; 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Smoothed Balanced sampling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US" altLang="zh-TW" sz="1800" b="1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sz="1800" b="1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altLang="zh-TW" sz="18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1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TW" sz="1800" b="1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sz="1800" b="1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altLang="zh-TW" sz="1800" b="1" i="0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𝑟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compromise that gently boosts rare classes. Helps prevent overfitting.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7952387"/>
                      </a:ext>
                    </a:extLst>
                  </a:tr>
                  <a:tr h="504084">
                    <a:tc>
                      <a:txBody>
                        <a:bodyPr/>
                        <a:lstStyle/>
                        <a:p>
                          <a:r>
                            <a:rPr lang="el-GR" altLang="zh-TW" dirty="0"/>
                            <a:t>γ = 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/>
                            <a:t>Random</a:t>
                          </a:r>
                          <a:r>
                            <a:rPr lang="en-US" altLang="zh-TW" dirty="0"/>
                            <a:t> sampling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US" altLang="zh-TW" sz="1800" b="1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sz="1800" b="1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altLang="zh-TW" sz="18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800" b="1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TW" sz="1800" b="1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sz="1800" b="1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800" b="1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800" b="1" i="1" kern="1200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altLang="zh-TW" sz="1800" b="1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𝟎</m:t>
                                        </m:r>
                                      </m:sup>
                                    </m:sSup>
                                    <m:r>
                                      <a:rPr lang="en-US" altLang="zh-TW" sz="18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=</m:t>
                                    </m:r>
                                    <m:r>
                                      <a:rPr lang="en-US" altLang="zh-TW" sz="18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600" b="0" dirty="0">
                              <a:effectLst/>
                              <a:latin typeface="+mn-lt"/>
                            </a:rPr>
                            <a:t>All samples have equal probability. This is Simple uniform Sampling</a:t>
                          </a:r>
                          <a:r>
                            <a:rPr lang="en-US" b="0" dirty="0">
                              <a:effectLst/>
                              <a:latin typeface="+mn-lt"/>
                            </a:rPr>
                            <a:t>.</a:t>
                          </a:r>
                        </a:p>
                      </a:txBody>
                      <a:tcPr marL="114300" marR="114300" marT="57150" marB="57150" anchor="ctr"/>
                    </a:tc>
                    <a:extLst>
                      <a:ext uri="{0D108BD9-81ED-4DB2-BD59-A6C34878D82A}">
                        <a16:rowId xmlns:a16="http://schemas.microsoft.com/office/drawing/2014/main" val="4516112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63C61628-589C-E7F0-42C1-7A295EF3AD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3116063"/>
                  </p:ext>
                </p:extLst>
              </p:nvPr>
            </p:nvGraphicFramePr>
            <p:xfrm>
              <a:off x="762163" y="1530981"/>
              <a:ext cx="11170700" cy="2569676"/>
            </p:xfrm>
            <a:graphic>
              <a:graphicData uri="http://schemas.openxmlformats.org/drawingml/2006/table">
                <a:tbl>
                  <a:tblPr firstRow="1" bandRow="1">
                    <a:tableStyleId>{EB344D84-9AFB-497E-A393-DC336BA19D2E}</a:tableStyleId>
                  </a:tblPr>
                  <a:tblGrid>
                    <a:gridCol w="2244236">
                      <a:extLst>
                        <a:ext uri="{9D8B030D-6E8A-4147-A177-3AD203B41FA5}">
                          <a16:colId xmlns:a16="http://schemas.microsoft.com/office/drawing/2014/main" val="2722818797"/>
                        </a:ext>
                      </a:extLst>
                    </a:gridCol>
                    <a:gridCol w="3122159">
                      <a:extLst>
                        <a:ext uri="{9D8B030D-6E8A-4147-A177-3AD203B41FA5}">
                          <a16:colId xmlns:a16="http://schemas.microsoft.com/office/drawing/2014/main" val="3025801357"/>
                        </a:ext>
                      </a:extLst>
                    </a:gridCol>
                    <a:gridCol w="2306003">
                      <a:extLst>
                        <a:ext uri="{9D8B030D-6E8A-4147-A177-3AD203B41FA5}">
                          <a16:colId xmlns:a16="http://schemas.microsoft.com/office/drawing/2014/main" val="1274400329"/>
                        </a:ext>
                      </a:extLst>
                    </a:gridCol>
                    <a:gridCol w="3498302">
                      <a:extLst>
                        <a:ext uri="{9D8B030D-6E8A-4147-A177-3AD203B41FA5}">
                          <a16:colId xmlns:a16="http://schemas.microsoft.com/office/drawing/2014/main" val="1982636298"/>
                        </a:ext>
                      </a:extLst>
                    </a:gridCol>
                  </a:tblGrid>
                  <a:tr h="907352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Gamma (</a:t>
                          </a:r>
                          <a:r>
                            <a:rPr lang="el-GR" altLang="zh-TW" dirty="0"/>
                            <a:t>γ) </a:t>
                          </a:r>
                          <a:r>
                            <a:rPr lang="en-US" altLang="zh-TW" dirty="0"/>
                            <a:t>Value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b="1" i="0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Type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33069" t="-16779" r="-152381" b="-243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Outcome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98687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l-GR" altLang="zh-TW" dirty="0"/>
                            <a:t>γ = 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Balanced sampling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33069" t="-183158" r="-152381" b="-28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Strongest boost to rare classes .Most aggressive over-sampling .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1646806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l-GR" altLang="zh-TW" dirty="0"/>
                            <a:t>0 &lt; γ &lt; 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Smoothed Balanced sampling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33069" t="-283158" r="-152381" b="-18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compromise that gently boosts rare classes. Helps prevent overfitting.</a:t>
                          </a:r>
                          <a:endParaRPr lang="zh-TW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7952387"/>
                      </a:ext>
                    </a:extLst>
                  </a:tr>
                  <a:tr h="504084">
                    <a:tc>
                      <a:txBody>
                        <a:bodyPr/>
                        <a:lstStyle/>
                        <a:p>
                          <a:r>
                            <a:rPr lang="el-GR" altLang="zh-TW" dirty="0"/>
                            <a:t>γ = 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/>
                            <a:t>Random</a:t>
                          </a:r>
                          <a:r>
                            <a:rPr lang="en-US" altLang="zh-TW" dirty="0"/>
                            <a:t> sampling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33069" t="-438554" r="-152381" b="-108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600" b="0" dirty="0">
                              <a:effectLst/>
                              <a:latin typeface="+mn-lt"/>
                            </a:rPr>
                            <a:t>All samples have equal probability. This is Simple uniform Sampling</a:t>
                          </a:r>
                          <a:r>
                            <a:rPr lang="en-US" b="0" dirty="0">
                              <a:effectLst/>
                              <a:latin typeface="+mn-lt"/>
                            </a:rPr>
                            <a:t>.</a:t>
                          </a:r>
                        </a:p>
                      </a:txBody>
                      <a:tcPr marL="114300" marR="114300" marT="57150" marB="57150" anchor="ctr"/>
                    </a:tc>
                    <a:extLst>
                      <a:ext uri="{0D108BD9-81ED-4DB2-BD59-A6C34878D82A}">
                        <a16:rowId xmlns:a16="http://schemas.microsoft.com/office/drawing/2014/main" val="4516112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8" name="文字方塊 37">
            <a:extLst>
              <a:ext uri="{FF2B5EF4-FFF2-40B4-BE49-F238E27FC236}">
                <a16:creationId xmlns:a16="http://schemas.microsoft.com/office/drawing/2014/main" id="{C811860E-9302-FB39-A579-11D9344744B9}"/>
              </a:ext>
            </a:extLst>
          </p:cNvPr>
          <p:cNvSpPr txBox="1"/>
          <p:nvPr/>
        </p:nvSpPr>
        <p:spPr>
          <a:xfrm>
            <a:off x="4566613" y="4530399"/>
            <a:ext cx="7073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Final Sampling Probability : p= probability /probability.sum()</a:t>
            </a:r>
            <a:endParaRPr lang="zh-TW" altLang="en-US" b="1" dirty="0"/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155430D1-4F76-3F4A-E076-4077D22DFEF0}"/>
              </a:ext>
            </a:extLst>
          </p:cNvPr>
          <p:cNvCxnSpPr>
            <a:cxnSpLocks/>
          </p:cNvCxnSpPr>
          <p:nvPr/>
        </p:nvCxnSpPr>
        <p:spPr>
          <a:xfrm>
            <a:off x="7302471" y="4107704"/>
            <a:ext cx="0" cy="42269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CFE33FD1-25FA-880F-E7CF-ADEA02A6D325}"/>
              </a:ext>
            </a:extLst>
          </p:cNvPr>
          <p:cNvCxnSpPr>
            <a:cxnSpLocks/>
          </p:cNvCxnSpPr>
          <p:nvPr/>
        </p:nvCxnSpPr>
        <p:spPr>
          <a:xfrm>
            <a:off x="7319724" y="5043099"/>
            <a:ext cx="0" cy="42269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25">
            <a:extLst>
              <a:ext uri="{FF2B5EF4-FFF2-40B4-BE49-F238E27FC236}">
                <a16:creationId xmlns:a16="http://schemas.microsoft.com/office/drawing/2014/main" id="{F7B291A0-41C1-FD6A-8468-B86034B59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128" y="5047653"/>
            <a:ext cx="26667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latin typeface="+mn-lt"/>
              </a:rPr>
              <a:t>Random sampling with p</a:t>
            </a:r>
            <a:endParaRPr lang="zh-CN" altLang="en-US" sz="1800" dirty="0">
              <a:latin typeface="+mn-lt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B20B257-6031-CF1E-6BAA-1FD09A112C8F}"/>
              </a:ext>
            </a:extLst>
          </p:cNvPr>
          <p:cNvSpPr txBox="1"/>
          <p:nvPr/>
        </p:nvSpPr>
        <p:spPr>
          <a:xfrm>
            <a:off x="6298046" y="5630190"/>
            <a:ext cx="2474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zh-CN" sz="1800" b="1" dirty="0"/>
              <a:t>Dataset after sampling</a:t>
            </a:r>
            <a:endParaRPr lang="zh-CN" altLang="en-US" sz="1800" b="1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4EBB9A5-9BC0-BC7D-FDC3-5CFBEC6D0469}"/>
              </a:ext>
            </a:extLst>
          </p:cNvPr>
          <p:cNvSpPr txBox="1"/>
          <p:nvPr/>
        </p:nvSpPr>
        <p:spPr>
          <a:xfrm>
            <a:off x="6096000" y="1142833"/>
            <a:ext cx="60949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*N: number of samples per class</a:t>
            </a:r>
            <a:endParaRPr lang="zh-TW" altLang="en-US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CC18F6-F9E5-105D-8D55-836D4731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6" name="文本框 3">
            <a:extLst>
              <a:ext uri="{FF2B5EF4-FFF2-40B4-BE49-F238E27FC236}">
                <a16:creationId xmlns:a16="http://schemas.microsoft.com/office/drawing/2014/main" id="{3BEE27CF-3BF6-8C88-F397-3317ACC55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46" y="183479"/>
            <a:ext cx="5483053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3-1 Sampling Strategy (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/2)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: Proposed Modified Balanced Sampling</a:t>
            </a:r>
          </a:p>
        </p:txBody>
      </p:sp>
    </p:spTree>
    <p:extLst>
      <p:ext uri="{BB962C8B-B14F-4D97-AF65-F5344CB8AC3E}">
        <p14:creationId xmlns:p14="http://schemas.microsoft.com/office/powerpoint/2010/main" val="250766480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8962A-2828-04BF-C64F-1A51E71C2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F5FE7AF-6D77-5C9B-218C-B00468B859E5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A25E51-D6AB-5DFB-3E16-3557236B2F21}"/>
              </a:ext>
            </a:extLst>
          </p:cNvPr>
          <p:cNvSpPr/>
          <p:nvPr/>
        </p:nvSpPr>
        <p:spPr>
          <a:xfrm>
            <a:off x="4239490" y="254000"/>
            <a:ext cx="7952509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2434D3-6B75-1F4E-853F-2DF64FB34FDD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5E90DF-623E-AB10-D634-E5E2E4C2C4B5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8A55DA2-FD3D-F1DC-09A8-97D78B38E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561416"/>
              </p:ext>
            </p:extLst>
          </p:nvPr>
        </p:nvGraphicFramePr>
        <p:xfrm>
          <a:off x="304800" y="1070849"/>
          <a:ext cx="11661058" cy="4915027"/>
        </p:xfrm>
        <a:graphic>
          <a:graphicData uri="http://schemas.openxmlformats.org/drawingml/2006/table">
            <a:tbl>
              <a:tblPr firstRow="1" bandRow="1"/>
              <a:tblGrid>
                <a:gridCol w="1283928">
                  <a:extLst>
                    <a:ext uri="{9D8B030D-6E8A-4147-A177-3AD203B41FA5}">
                      <a16:colId xmlns:a16="http://schemas.microsoft.com/office/drawing/2014/main" val="1652210588"/>
                    </a:ext>
                  </a:extLst>
                </a:gridCol>
                <a:gridCol w="10377130">
                  <a:extLst>
                    <a:ext uri="{9D8B030D-6E8A-4147-A177-3AD203B41FA5}">
                      <a16:colId xmlns:a16="http://schemas.microsoft.com/office/drawing/2014/main" val="346642089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1200" b="1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Algorithm1 : 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Modified Balanced Sampler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551179"/>
                  </a:ext>
                </a:extLst>
              </a:tr>
              <a:tr h="37084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Input: </a:t>
                      </a:r>
                      <a:r>
                        <a:rPr lang="en-US" altLang="zh-TW" sz="1200" b="0" dirty="0"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 Dataset </a:t>
                      </a:r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𝒟 </a:t>
                      </a:r>
                      <a:r>
                        <a:rPr lang="en-US" altLang="zh-TW" sz="1200" b="0" dirty="0"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of size N, labels L corresponding to each sample in D,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             </a:t>
                      </a:r>
                      <a:r>
                        <a:rPr lang="en-US" altLang="zh-TW" sz="1200" b="0" dirty="0"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Smoothing parameter γ, seed s, epoch e</a:t>
                      </a:r>
                      <a:endParaRPr lang="en-US" altLang="zh-TW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200" b="1" dirty="0"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Output: </a:t>
                      </a:r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iterator of N sample indices.</a:t>
                      </a:r>
                      <a:endParaRPr lang="en-US" altLang="zh-TW" sz="1200" b="1" dirty="0"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Initialize: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LcPeriod"/>
                        <a:tabLst/>
                        <a:defRPr/>
                      </a:pPr>
                      <a:r>
                        <a:rPr lang="en-US" altLang="zh-TW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Count Class Frequency: Calculate class_counts for each unique class in L.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LcPeriod"/>
                        <a:tabLst/>
                        <a:defRPr/>
                      </a:pPr>
                      <a:r>
                        <a:rPr lang="en-US" altLang="zh-TW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Calculate Sample probabilities: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                 </a:t>
                      </a:r>
                      <a:r>
                        <a:rPr lang="en-US" altLang="zh-TW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i. For each sample i with class label c: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                            </a:t>
                      </a:r>
                      <a:r>
                        <a:rPr lang="en-US" altLang="zh-TW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prob_i ← 1 / (class_counts[c] ^ </a:t>
                      </a:r>
                      <a:r>
                        <a:rPr lang="el-GR" altLang="zh-TW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γ)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                 </a:t>
                      </a:r>
                      <a:r>
                        <a:rPr lang="en-US" altLang="zh-TW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ii. Store all </a:t>
                      </a:r>
                      <a:r>
                        <a:rPr lang="en-US" altLang="zh-TW" sz="1200" b="0" i="0" dirty="0">
                          <a:effectLst/>
                          <a:latin typeface="fkGroteskNeue"/>
                        </a:rPr>
                        <a:t>probabilities</a:t>
                      </a:r>
                      <a:r>
                        <a:rPr lang="en-US" altLang="zh-TW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in a list P.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lphaLcPeriod" startAt="3"/>
                        <a:tabLst/>
                        <a:defRPr/>
                      </a:pPr>
                      <a:r>
                        <a:rPr lang="en-US" altLang="zh-TW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Normalize </a:t>
                      </a:r>
                      <a:r>
                        <a:rPr lang="en-US" altLang="zh-TW" sz="1200" b="0" i="0" dirty="0">
                          <a:effectLst/>
                          <a:latin typeface="fkGroteskNeue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altLang="zh-TW" sz="1200" b="0" i="0" dirty="0">
                          <a:effectLst/>
                          <a:latin typeface="fkGroteskNeue"/>
                        </a:rPr>
                        <a:t>robabilities</a:t>
                      </a:r>
                      <a:r>
                        <a:rPr lang="en-US" altLang="zh-TW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: Create a probability distribution P ← P / sum(P).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Indices: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</a:t>
                      </a:r>
                      <a:r>
                        <a:rPr lang="zh-TW" alt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Seed: Use a seed for the current epoch (seed = s + e) to ensure reproducibility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b. </a:t>
                      </a:r>
                      <a:r>
                        <a:rPr lang="zh-TW" alt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Random Sampling: Generate a list indices by sampling N indices from {0, ..., N-1} with replacement, using the probability distribution P.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  Shuffle (Optional): If enabled, shuffle the indices list to further randomize the order.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 Return an iterator for the indices list.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02070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 algn="l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en-US" altLang="zh-TW" sz="1200" b="0" dirty="0"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zh-TW" sz="1200" b="0" dirty="0"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738446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050F4D-4CFA-7DFD-E2AC-A9FC03F7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6" name="文本框 3">
            <a:extLst>
              <a:ext uri="{FF2B5EF4-FFF2-40B4-BE49-F238E27FC236}">
                <a16:creationId xmlns:a16="http://schemas.microsoft.com/office/drawing/2014/main" id="{6F759975-BED8-DBE1-8E6C-D71B48F36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46" y="183479"/>
            <a:ext cx="548305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3-1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Sampling Strategy (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/2)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: Proposed Modified Balanced Sampling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5FEAC69-629F-44D0-4A96-2700E7A6743C}"/>
              </a:ext>
            </a:extLst>
          </p:cNvPr>
          <p:cNvSpPr txBox="1"/>
          <p:nvPr/>
        </p:nvSpPr>
        <p:spPr>
          <a:xfrm>
            <a:off x="254917" y="6066323"/>
            <a:ext cx="10184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In our experiments, we evaluate different balancing strengths by setting γ = 0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</a:rPr>
              <a:t>、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0.3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</a:rPr>
              <a:t>、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0.5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</a:rPr>
              <a:t>、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 0.7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and 1.</a:t>
            </a:r>
            <a:endParaRPr lang="zh-TW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1469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1EEBC-3D0E-C663-24E2-4A0F7E66A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25DA7FE-2A2F-118B-F78C-F2B2618ACC0F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89C216-CEA4-B767-B383-791A375D6BDC}"/>
              </a:ext>
            </a:extLst>
          </p:cNvPr>
          <p:cNvSpPr/>
          <p:nvPr/>
        </p:nvSpPr>
        <p:spPr>
          <a:xfrm>
            <a:off x="4174634" y="254001"/>
            <a:ext cx="8017366" cy="23653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9ADA3F-9FDC-E075-7B5A-C82710539044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070FBF-CB06-5D8B-D7C7-3DC6200876D8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521AB0D-ACC4-2936-D405-6A3A46F6F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000" y="1576524"/>
            <a:ext cx="3600000" cy="2250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984CC9B-CEBC-8012-2EB5-3AFCC8BFD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60" y="1576524"/>
            <a:ext cx="3600000" cy="2250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9C13B7A-D3E6-3184-E41E-0BFAD617D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640" y="1576524"/>
            <a:ext cx="3600000" cy="22500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922FA1A9-295D-9C51-53C3-08B92AFA3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852" y="4018484"/>
            <a:ext cx="3600000" cy="22500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9F2C1AE1-6FCE-0078-C511-20A802999C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1360" y="3981292"/>
            <a:ext cx="3600000" cy="2250000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3CB49F8-C0EB-5A97-8886-3F9F6E4B5A26}"/>
              </a:ext>
            </a:extLst>
          </p:cNvPr>
          <p:cNvSpPr txBox="1"/>
          <p:nvPr/>
        </p:nvSpPr>
        <p:spPr>
          <a:xfrm>
            <a:off x="609600" y="817021"/>
            <a:ext cx="8188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Visualizing Class Sampling Distribution under Different Gamma (γ) Values</a:t>
            </a:r>
            <a:endParaRPr lang="zh-TW" altLang="en-US" dirty="0"/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1844A8BC-311C-6539-92AC-010C17190FB6}"/>
              </a:ext>
            </a:extLst>
          </p:cNvPr>
          <p:cNvCxnSpPr/>
          <p:nvPr/>
        </p:nvCxnSpPr>
        <p:spPr>
          <a:xfrm>
            <a:off x="0" y="1341120"/>
            <a:ext cx="12059920" cy="0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2058C817-D057-58FA-CC9D-D9F124FED665}"/>
              </a:ext>
            </a:extLst>
          </p:cNvPr>
          <p:cNvCxnSpPr>
            <a:cxnSpLocks/>
          </p:cNvCxnSpPr>
          <p:nvPr/>
        </p:nvCxnSpPr>
        <p:spPr>
          <a:xfrm flipH="1" flipV="1">
            <a:off x="12027704" y="1305437"/>
            <a:ext cx="32216" cy="5174021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AF586CB4-3EA3-7F82-3BD9-A06E3D7550B3}"/>
              </a:ext>
            </a:extLst>
          </p:cNvPr>
          <p:cNvCxnSpPr>
            <a:cxnSpLocks/>
          </p:cNvCxnSpPr>
          <p:nvPr/>
        </p:nvCxnSpPr>
        <p:spPr>
          <a:xfrm>
            <a:off x="2267116" y="6478475"/>
            <a:ext cx="9832914" cy="0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圖形 47" descr="有向左箭號的圓圈 以實心填滿">
            <a:extLst>
              <a:ext uri="{FF2B5EF4-FFF2-40B4-BE49-F238E27FC236}">
                <a16:creationId xmlns:a16="http://schemas.microsoft.com/office/drawing/2014/main" id="{6A1D9819-29A5-A0B4-33FC-B06A26B82F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19957" y="1049321"/>
            <a:ext cx="542190" cy="542190"/>
          </a:xfrm>
          <a:prstGeom prst="rect">
            <a:avLst/>
          </a:prstGeom>
        </p:spPr>
      </p:pic>
      <p:pic>
        <p:nvPicPr>
          <p:cNvPr id="49" name="圖形 48" descr="有向左箭號的圓圈 以實心填滿">
            <a:extLst>
              <a:ext uri="{FF2B5EF4-FFF2-40B4-BE49-F238E27FC236}">
                <a16:creationId xmlns:a16="http://schemas.microsoft.com/office/drawing/2014/main" id="{E3A1DE58-36AF-3321-0874-2CDF0E152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4077986" y="1070025"/>
            <a:ext cx="542190" cy="542190"/>
          </a:xfrm>
          <a:prstGeom prst="rect">
            <a:avLst/>
          </a:prstGeom>
        </p:spPr>
      </p:pic>
      <p:pic>
        <p:nvPicPr>
          <p:cNvPr id="50" name="圖形 49" descr="有向左箭號的圓圈 以實心填滿">
            <a:extLst>
              <a:ext uri="{FF2B5EF4-FFF2-40B4-BE49-F238E27FC236}">
                <a16:creationId xmlns:a16="http://schemas.microsoft.com/office/drawing/2014/main" id="{978E6633-AB49-C0DE-812C-4A0BD0CA46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052845" y="1058245"/>
            <a:ext cx="542190" cy="542190"/>
          </a:xfrm>
          <a:prstGeom prst="rect">
            <a:avLst/>
          </a:prstGeom>
        </p:spPr>
      </p:pic>
      <p:pic>
        <p:nvPicPr>
          <p:cNvPr id="51" name="圖形 50" descr="有向左箭號的圓圈 以實心填滿">
            <a:extLst>
              <a:ext uri="{FF2B5EF4-FFF2-40B4-BE49-F238E27FC236}">
                <a16:creationId xmlns:a16="http://schemas.microsoft.com/office/drawing/2014/main" id="{3AB03264-BC5E-5E51-D31A-17F7E9D7C6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06361" y="6189349"/>
            <a:ext cx="542190" cy="542190"/>
          </a:xfrm>
          <a:prstGeom prst="rect">
            <a:avLst/>
          </a:prstGeom>
        </p:spPr>
      </p:pic>
      <p:pic>
        <p:nvPicPr>
          <p:cNvPr id="52" name="圖形 51" descr="有向左箭號的圓圈 以實心填滿">
            <a:extLst>
              <a:ext uri="{FF2B5EF4-FFF2-40B4-BE49-F238E27FC236}">
                <a16:creationId xmlns:a16="http://schemas.microsoft.com/office/drawing/2014/main" id="{7D190F27-73FC-3FBF-B6DB-F5E7E82C9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87959" y="6197541"/>
            <a:ext cx="542190" cy="542190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7E6EBFAA-0D03-7FFE-405D-546902F60BE6}"/>
              </a:ext>
            </a:extLst>
          </p:cNvPr>
          <p:cNvSpPr txBox="1"/>
          <p:nvPr/>
        </p:nvSpPr>
        <p:spPr>
          <a:xfrm>
            <a:off x="451405" y="1289429"/>
            <a:ext cx="8107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(γ=0)</a:t>
            </a: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01EC1ECA-6C71-8E7E-D193-A0B0092B1C5C}"/>
              </a:ext>
            </a:extLst>
          </p:cNvPr>
          <p:cNvSpPr txBox="1"/>
          <p:nvPr/>
        </p:nvSpPr>
        <p:spPr>
          <a:xfrm>
            <a:off x="4432807" y="1305437"/>
            <a:ext cx="9610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(γ=0.3)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1B8B523C-B4CB-ADF8-E88E-460AE4517AD5}"/>
              </a:ext>
            </a:extLst>
          </p:cNvPr>
          <p:cNvSpPr txBox="1"/>
          <p:nvPr/>
        </p:nvSpPr>
        <p:spPr>
          <a:xfrm>
            <a:off x="8409141" y="1289429"/>
            <a:ext cx="9610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(γ=0.5)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B0FE6D89-81B1-A27C-A0C8-814C428FE5CB}"/>
              </a:ext>
            </a:extLst>
          </p:cNvPr>
          <p:cNvSpPr txBox="1"/>
          <p:nvPr/>
        </p:nvSpPr>
        <p:spPr>
          <a:xfrm>
            <a:off x="9027004" y="6044517"/>
            <a:ext cx="9610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(γ=0.7)</a:t>
            </a: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9FDD17A2-EFA4-0838-64C0-D458E6523A39}"/>
              </a:ext>
            </a:extLst>
          </p:cNvPr>
          <p:cNvSpPr txBox="1"/>
          <p:nvPr/>
        </p:nvSpPr>
        <p:spPr>
          <a:xfrm>
            <a:off x="4625610" y="6068526"/>
            <a:ext cx="9610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(γ=1)</a:t>
            </a:r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47C1D000-01B8-1894-CD1D-E2535FEF06B8}"/>
              </a:ext>
            </a:extLst>
          </p:cNvPr>
          <p:cNvCxnSpPr>
            <a:cxnSpLocks/>
          </p:cNvCxnSpPr>
          <p:nvPr/>
        </p:nvCxnSpPr>
        <p:spPr>
          <a:xfrm flipH="1">
            <a:off x="1327450" y="6480695"/>
            <a:ext cx="1879332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B638E08-6D9C-B9F0-AA6D-F0F17EC5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6" name="文本框 3">
            <a:extLst>
              <a:ext uri="{FF2B5EF4-FFF2-40B4-BE49-F238E27FC236}">
                <a16:creationId xmlns:a16="http://schemas.microsoft.com/office/drawing/2014/main" id="{32E9464F-095D-1BE4-129F-E1F9961CF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46" y="183479"/>
            <a:ext cx="548305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3-1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Sampling Strategy (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/2)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: Proposed Modified Balanced Sampling</a:t>
            </a:r>
          </a:p>
        </p:txBody>
      </p:sp>
    </p:spTree>
    <p:extLst>
      <p:ext uri="{BB962C8B-B14F-4D97-AF65-F5344CB8AC3E}">
        <p14:creationId xmlns:p14="http://schemas.microsoft.com/office/powerpoint/2010/main" val="2772260541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2CF04-47F1-CD7B-144D-BEA2CEB32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AF46B77-97FE-4C45-CEF5-C939BE6A038D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BCCB3E-483C-85DF-C23D-B9DDB7EBCCC9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FF99FD-9D09-1C9C-F38C-CB57CFA833B7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138880A-6F31-89E7-B631-275979BDF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4775" y="6538913"/>
            <a:ext cx="1500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C9281A-B707-6A5B-4E4B-03B6EA6D9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67" y="139087"/>
            <a:ext cx="645615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3-2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Compositional DiT Model</a:t>
            </a:r>
          </a:p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: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Model Architecture Overview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D6DB457-1F17-C7CC-E6C6-18265FF65FB0}"/>
              </a:ext>
            </a:extLst>
          </p:cNvPr>
          <p:cNvSpPr/>
          <p:nvPr/>
        </p:nvSpPr>
        <p:spPr>
          <a:xfrm>
            <a:off x="719640" y="1677408"/>
            <a:ext cx="2290708" cy="29369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9ECF3765-E6B7-A7D4-AFEB-64E49EBE4C4A}"/>
              </a:ext>
            </a:extLst>
          </p:cNvPr>
          <p:cNvGrpSpPr/>
          <p:nvPr/>
        </p:nvGrpSpPr>
        <p:grpSpPr>
          <a:xfrm>
            <a:off x="1249333" y="1262615"/>
            <a:ext cx="10317192" cy="3477950"/>
            <a:chOff x="-3661309" y="345606"/>
            <a:chExt cx="15381361" cy="5978147"/>
          </a:xfrm>
        </p:grpSpPr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841D8C3-1AD0-AC00-F147-310F49114A21}"/>
                </a:ext>
              </a:extLst>
            </p:cNvPr>
            <p:cNvGrpSpPr/>
            <p:nvPr/>
          </p:nvGrpSpPr>
          <p:grpSpPr>
            <a:xfrm>
              <a:off x="-3661309" y="345606"/>
              <a:ext cx="15381361" cy="5978147"/>
              <a:chOff x="-2176640" y="508653"/>
              <a:chExt cx="9800819" cy="4243765"/>
            </a:xfrm>
          </p:grpSpPr>
          <p:grpSp>
            <p:nvGrpSpPr>
              <p:cNvPr id="32" name="群組 31">
                <a:extLst>
                  <a:ext uri="{FF2B5EF4-FFF2-40B4-BE49-F238E27FC236}">
                    <a16:creationId xmlns:a16="http://schemas.microsoft.com/office/drawing/2014/main" id="{D61DCBE6-0A88-1D18-C96D-A1B1BFEC1757}"/>
                  </a:ext>
                </a:extLst>
              </p:cNvPr>
              <p:cNvGrpSpPr/>
              <p:nvPr/>
            </p:nvGrpSpPr>
            <p:grpSpPr>
              <a:xfrm>
                <a:off x="-2176640" y="508653"/>
                <a:ext cx="9800819" cy="4243765"/>
                <a:chOff x="-2710607" y="97257"/>
                <a:chExt cx="14347398" cy="6212433"/>
              </a:xfrm>
            </p:grpSpPr>
            <p:sp>
              <p:nvSpPr>
                <p:cNvPr id="35" name="矩形: 圓角 34">
                  <a:extLst>
                    <a:ext uri="{FF2B5EF4-FFF2-40B4-BE49-F238E27FC236}">
                      <a16:creationId xmlns:a16="http://schemas.microsoft.com/office/drawing/2014/main" id="{446BC505-2D20-2458-EB3E-950DA51F467F}"/>
                    </a:ext>
                  </a:extLst>
                </p:cNvPr>
                <p:cNvSpPr/>
                <p:nvPr/>
              </p:nvSpPr>
              <p:spPr>
                <a:xfrm>
                  <a:off x="-46365" y="874628"/>
                  <a:ext cx="7769516" cy="5435062"/>
                </a:xfrm>
                <a:prstGeom prst="roundRect">
                  <a:avLst/>
                </a:prstGeom>
                <a:solidFill>
                  <a:srgbClr val="5B9BD5">
                    <a:lumMod val="20000"/>
                    <a:lumOff val="80000"/>
                  </a:srgbClr>
                </a:solidFill>
                <a:ln w="28575" cap="flat" cmpd="sng" algn="ctr">
                  <a:solidFill>
                    <a:srgbClr val="447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新細明體" panose="02020500000000000000" pitchFamily="18" charset="-120"/>
                    <a:cs typeface="+mn-cs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矩形: 圓角 35">
                      <a:extLst>
                        <a:ext uri="{FF2B5EF4-FFF2-40B4-BE49-F238E27FC236}">
                          <a16:creationId xmlns:a16="http://schemas.microsoft.com/office/drawing/2014/main" id="{1E213926-93CE-3174-1B27-A8DD825AF0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2710607" y="1536922"/>
                      <a:ext cx="535938" cy="548583"/>
                    </a:xfrm>
                    <a:prstGeom prst="roundRect">
                      <a:avLst/>
                    </a:prstGeom>
                    <a:solidFill>
                      <a:srgbClr val="5B9BD5">
                        <a:lumMod val="60000"/>
                        <a:lumOff val="40000"/>
                      </a:srgbClr>
                    </a:solidFill>
                    <a:ln w="12700" cap="flat" cmpd="sng" algn="ctr">
                      <a:solidFill>
                        <a:srgbClr val="5B9BD5">
                          <a:lumMod val="7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lIns="91441" tIns="45720" rIns="91441" bIns="45720"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US" altLang="zh-TW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TW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zh-TW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altLang="zh-TW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矩形: 圓角 21">
                      <a:extLst>
                        <a:ext uri="{FF2B5EF4-FFF2-40B4-BE49-F238E27FC236}">
                          <a16:creationId xmlns:a16="http://schemas.microsoft.com/office/drawing/2014/main" id="{DACFC3B7-387A-646D-642C-2FCF6464C4D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2710607" y="1536922"/>
                      <a:ext cx="535938" cy="548583"/>
                    </a:xfrm>
                    <a:prstGeom prst="roundRect">
                      <a:avLst/>
                    </a:prstGeom>
                    <a:blipFill>
                      <a:blip r:embed="rId3"/>
                      <a:stretch>
                        <a:fillRect b="-7547"/>
                      </a:stretch>
                    </a:blipFill>
                    <a:ln w="12700" cap="flat" cmpd="sng" algn="ctr">
                      <a:solidFill>
                        <a:srgbClr val="5B9BD5">
                          <a:lumMod val="7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7" name="矩形: 圓角 36">
                  <a:extLst>
                    <a:ext uri="{FF2B5EF4-FFF2-40B4-BE49-F238E27FC236}">
                      <a16:creationId xmlns:a16="http://schemas.microsoft.com/office/drawing/2014/main" id="{D72D4E79-C8A0-BB72-E06C-3A661B146C9A}"/>
                    </a:ext>
                  </a:extLst>
                </p:cNvPr>
                <p:cNvSpPr/>
                <p:nvPr/>
              </p:nvSpPr>
              <p:spPr>
                <a:xfrm>
                  <a:off x="2992954" y="1535186"/>
                  <a:ext cx="2520214" cy="554703"/>
                </a:xfrm>
                <a:prstGeom prst="roundRect">
                  <a:avLst/>
                </a:prstGeom>
                <a:solidFill>
                  <a:srgbClr val="70AD47">
                    <a:lumMod val="40000"/>
                    <a:lumOff val="60000"/>
                  </a:srgbClr>
                </a:solidFill>
                <a:ln w="12700" cap="flat" cmpd="sng" algn="ctr">
                  <a:solidFill>
                    <a:srgbClr val="70AD47">
                      <a:lumMod val="7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lIns="91441" tIns="45720" rIns="91441" bIns="4572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TW" alt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新細明體"/>
                      <a:cs typeface="+mn-cs"/>
                    </a:rPr>
                    <a:t>Forward diffusion process</a:t>
                  </a:r>
                </a:p>
              </p:txBody>
            </p:sp>
            <p:sp>
              <p:nvSpPr>
                <p:cNvPr id="38" name="矩形: 圓角 37">
                  <a:extLst>
                    <a:ext uri="{FF2B5EF4-FFF2-40B4-BE49-F238E27FC236}">
                      <a16:creationId xmlns:a16="http://schemas.microsoft.com/office/drawing/2014/main" id="{AD330679-8202-1381-3C02-4344D42AE329}"/>
                    </a:ext>
                  </a:extLst>
                </p:cNvPr>
                <p:cNvSpPr/>
                <p:nvPr/>
              </p:nvSpPr>
              <p:spPr>
                <a:xfrm>
                  <a:off x="8113426" y="875031"/>
                  <a:ext cx="3523365" cy="5294944"/>
                </a:xfrm>
                <a:prstGeom prst="roundRect">
                  <a:avLst/>
                </a:prstGeom>
                <a:solidFill>
                  <a:sysClr val="window" lastClr="FFFFFF"/>
                </a:solidFill>
                <a:ln w="28575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新細明體" panose="02020500000000000000" pitchFamily="18" charset="-120"/>
                    <a:cs typeface="+mn-cs"/>
                  </a:endParaRPr>
                </a:p>
              </p:txBody>
            </p:sp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1DB553E9-7E57-0CBA-7FBD-7946396C53A1}"/>
                    </a:ext>
                  </a:extLst>
                </p:cNvPr>
                <p:cNvSpPr txBox="1"/>
                <p:nvPr/>
              </p:nvSpPr>
              <p:spPr>
                <a:xfrm>
                  <a:off x="8910377" y="97257"/>
                  <a:ext cx="2294567" cy="659714"/>
                </a:xfrm>
                <a:prstGeom prst="rect">
                  <a:avLst/>
                </a:prstGeom>
                <a:noFill/>
              </p:spPr>
              <p:txBody>
                <a:bodyPr rot="0" spcFirstLastPara="0" vert="horz" wrap="square" lIns="91441" tIns="45720" rIns="91441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TW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新細明體"/>
                      <a:cs typeface="+mn-cs"/>
                    </a:rPr>
                    <a:t> </a:t>
                  </a:r>
                  <a:r>
                    <a:rPr kumimoji="0" lang="zh-TW" alt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新細明體"/>
                      <a:cs typeface="+mn-cs"/>
                    </a:rPr>
                    <a:t>Condition Space</a:t>
                  </a:r>
                  <a:endParaRPr kumimoji="0" lang="zh-TW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新細明體"/>
                    <a:cs typeface="+mn-cs"/>
                  </a:endParaRPr>
                </a:p>
              </p:txBody>
            </p:sp>
            <p:cxnSp>
              <p:nvCxnSpPr>
                <p:cNvPr id="41" name="直線單箭頭接點 40">
                  <a:extLst>
                    <a:ext uri="{FF2B5EF4-FFF2-40B4-BE49-F238E27FC236}">
                      <a16:creationId xmlns:a16="http://schemas.microsoft.com/office/drawing/2014/main" id="{670BC98B-4E45-04AC-B6FA-2D2E59A9B43A}"/>
                    </a:ext>
                  </a:extLst>
                </p:cNvPr>
                <p:cNvCxnSpPr>
                  <a:cxnSpLocks/>
                  <a:stCxn id="37" idx="3"/>
                  <a:endCxn id="76" idx="1"/>
                </p:cNvCxnSpPr>
                <p:nvPr/>
              </p:nvCxnSpPr>
              <p:spPr>
                <a:xfrm flipV="1">
                  <a:off x="5513168" y="1797723"/>
                  <a:ext cx="1144562" cy="14815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2" name="直線單箭頭接點 41">
                  <a:extLst>
                    <a:ext uri="{FF2B5EF4-FFF2-40B4-BE49-F238E27FC236}">
                      <a16:creationId xmlns:a16="http://schemas.microsoft.com/office/drawing/2014/main" id="{3E96DB62-508F-D5BC-1F3B-1D8BDC0A683C}"/>
                    </a:ext>
                  </a:extLst>
                </p:cNvPr>
                <p:cNvCxnSpPr>
                  <a:cxnSpLocks/>
                  <a:stCxn id="77" idx="3"/>
                  <a:endCxn id="37" idx="1"/>
                </p:cNvCxnSpPr>
                <p:nvPr/>
              </p:nvCxnSpPr>
              <p:spPr>
                <a:xfrm>
                  <a:off x="1499242" y="1788742"/>
                  <a:ext cx="1493712" cy="23796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3" name="文字方塊 25">
                  <a:extLst>
                    <a:ext uri="{FF2B5EF4-FFF2-40B4-BE49-F238E27FC236}">
                      <a16:creationId xmlns:a16="http://schemas.microsoft.com/office/drawing/2014/main" id="{36828A42-5E03-B7A1-6FCA-FE768443FFC9}"/>
                    </a:ext>
                  </a:extLst>
                </p:cNvPr>
                <p:cNvSpPr txBox="1"/>
                <p:nvPr/>
              </p:nvSpPr>
              <p:spPr>
                <a:xfrm>
                  <a:off x="1690372" y="197375"/>
                  <a:ext cx="4425340" cy="549762"/>
                </a:xfrm>
                <a:prstGeom prst="rect">
                  <a:avLst/>
                </a:prstGeom>
                <a:noFill/>
              </p:spPr>
              <p:txBody>
                <a:bodyPr rot="0" spcFirstLastPara="0" vert="horz" wrap="square" lIns="91441" tIns="45720" rIns="91441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zh-TW" sz="1400" b="1" dirty="0">
                      <a:solidFill>
                        <a:prstClr val="black"/>
                      </a:solidFill>
                      <a:ea typeface="新細明體" panose="02020500000000000000" pitchFamily="18" charset="-120"/>
                    </a:rPr>
                    <a:t>Lower-Dimensional Latent Space</a:t>
                  </a:r>
                  <a:endParaRPr kumimoji="0" lang="zh-TW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新細明體" panose="02020500000000000000" pitchFamily="18" charset="-120"/>
                    <a:cs typeface="+mn-cs"/>
                  </a:endParaRPr>
                </a:p>
              </p:txBody>
            </p:sp>
            <p:sp>
              <p:nvSpPr>
                <p:cNvPr id="44" name="矩形: 圓角 43">
                  <a:extLst>
                    <a:ext uri="{FF2B5EF4-FFF2-40B4-BE49-F238E27FC236}">
                      <a16:creationId xmlns:a16="http://schemas.microsoft.com/office/drawing/2014/main" id="{B08C3951-F35E-C493-AA45-B4E1B8A83134}"/>
                    </a:ext>
                  </a:extLst>
                </p:cNvPr>
                <p:cNvSpPr/>
                <p:nvPr/>
              </p:nvSpPr>
              <p:spPr>
                <a:xfrm>
                  <a:off x="9507739" y="1431567"/>
                  <a:ext cx="775731" cy="433571"/>
                </a:xfrm>
                <a:prstGeom prst="round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lIns="91441" tIns="45720" rIns="91441" bIns="4572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TW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新細明體"/>
                    <a:cs typeface="Calibri"/>
                  </a:endParaRPr>
                </a:p>
              </p:txBody>
            </p:sp>
            <p:sp>
              <p:nvSpPr>
                <p:cNvPr id="45" name="矩形: 圓角 44">
                  <a:extLst>
                    <a:ext uri="{FF2B5EF4-FFF2-40B4-BE49-F238E27FC236}">
                      <a16:creationId xmlns:a16="http://schemas.microsoft.com/office/drawing/2014/main" id="{AB9DE382-2711-52DD-88C9-6A60CC2FDD21}"/>
                    </a:ext>
                  </a:extLst>
                </p:cNvPr>
                <p:cNvSpPr/>
                <p:nvPr/>
              </p:nvSpPr>
              <p:spPr>
                <a:xfrm>
                  <a:off x="10567896" y="1431932"/>
                  <a:ext cx="775731" cy="435518"/>
                </a:xfrm>
                <a:prstGeom prst="round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lIns="91441" tIns="45720" rIns="91441" bIns="4572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新細明體"/>
                    <a:cs typeface="Calibri"/>
                  </a:endParaRPr>
                </a:p>
              </p:txBody>
            </p:sp>
            <p:sp>
              <p:nvSpPr>
                <p:cNvPr id="47" name="立方體 46">
                  <a:extLst>
                    <a:ext uri="{FF2B5EF4-FFF2-40B4-BE49-F238E27FC236}">
                      <a16:creationId xmlns:a16="http://schemas.microsoft.com/office/drawing/2014/main" id="{7A720261-8366-5C00-6FC8-0DF3C3C31BA0}"/>
                    </a:ext>
                  </a:extLst>
                </p:cNvPr>
                <p:cNvSpPr/>
                <p:nvPr/>
              </p:nvSpPr>
              <p:spPr>
                <a:xfrm rot="16200000">
                  <a:off x="8097303" y="3581526"/>
                  <a:ext cx="1554754" cy="530434"/>
                </a:xfrm>
                <a:prstGeom prst="cube">
                  <a:avLst/>
                </a:prstGeom>
                <a:solidFill>
                  <a:schemeClr val="bg2">
                    <a:lumMod val="90000"/>
                  </a:schemeClr>
                </a:solidFill>
                <a:ln w="12700" cap="flat" cmpd="sng" algn="ctr">
                  <a:solidFill>
                    <a:schemeClr val="bg2">
                      <a:lumMod val="2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lIns="91441" tIns="45720" rIns="91441" bIns="4572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ctr">
                    <a:defRPr/>
                  </a:pPr>
                  <a:r>
                    <a:rPr lang="en-US" altLang="zh-TW" sz="900" dirty="0">
                      <a:solidFill>
                        <a:prstClr val="black"/>
                      </a:solidFill>
                      <a:latin typeface="Cambria" panose="02040503050406030204" pitchFamily="18" charset="0"/>
                    </a:rPr>
                    <a:t>Timestep</a:t>
                  </a:r>
                </a:p>
                <a:p>
                  <a:pPr lvl="0" algn="ctr">
                    <a:defRPr/>
                  </a:pPr>
                  <a:r>
                    <a:rPr lang="en-US" altLang="zh-TW" sz="900" dirty="0">
                      <a:solidFill>
                        <a:prstClr val="black"/>
                      </a:solidFill>
                      <a:latin typeface="Cambria" panose="02040503050406030204" pitchFamily="18" charset="0"/>
                    </a:rPr>
                    <a:t>Embedder</a:t>
                  </a:r>
                  <a:endParaRPr kumimoji="0" lang="zh-TW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新細明體" panose="02020500000000000000" pitchFamily="18" charset="-120"/>
                    <a:cs typeface="+mn-cs"/>
                  </a:endParaRPr>
                </a:p>
              </p:txBody>
            </p:sp>
            <p:sp>
              <p:nvSpPr>
                <p:cNvPr id="48" name="矩形: 圓角 47">
                  <a:extLst>
                    <a:ext uri="{FF2B5EF4-FFF2-40B4-BE49-F238E27FC236}">
                      <a16:creationId xmlns:a16="http://schemas.microsoft.com/office/drawing/2014/main" id="{B17FC97A-D785-8A49-844B-B3737AEBBBFB}"/>
                    </a:ext>
                  </a:extLst>
                </p:cNvPr>
                <p:cNvSpPr/>
                <p:nvPr/>
              </p:nvSpPr>
              <p:spPr>
                <a:xfrm>
                  <a:off x="4035695" y="2660100"/>
                  <a:ext cx="1707634" cy="2943700"/>
                </a:xfrm>
                <a:prstGeom prst="roundRect">
                  <a:avLst/>
                </a:prstGeom>
                <a:solidFill>
                  <a:schemeClr val="bg2"/>
                </a:solidFill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0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799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新細明體" panose="02020500000000000000" pitchFamily="18" charset="-120"/>
                    <a:cs typeface="+mn-cs"/>
                  </a:endParaRPr>
                </a:p>
              </p:txBody>
            </p:sp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CBFBCE9C-CCCF-0345-86F6-54176F81EEA0}"/>
                    </a:ext>
                  </a:extLst>
                </p:cNvPr>
                <p:cNvSpPr txBox="1"/>
                <p:nvPr/>
              </p:nvSpPr>
              <p:spPr>
                <a:xfrm>
                  <a:off x="3789972" y="3769280"/>
                  <a:ext cx="2165358" cy="54976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1" tIns="45720" rIns="91441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algn="ctr" defTabSz="91430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400" b="1" i="1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Cambria" panose="02040503050406030204" pitchFamily="18" charset="0"/>
                      <a:cs typeface="Calibri"/>
                    </a:rPr>
                    <a:t>DiT Block</a:t>
                  </a:r>
                </a:p>
              </p:txBody>
            </p:sp>
            <p:sp>
              <p:nvSpPr>
                <p:cNvPr id="54" name="箭號: 弧形上彎 53">
                  <a:extLst>
                    <a:ext uri="{FF2B5EF4-FFF2-40B4-BE49-F238E27FC236}">
                      <a16:creationId xmlns:a16="http://schemas.microsoft.com/office/drawing/2014/main" id="{D102B2C9-3EEA-7B85-60F1-6D4F4FFDDA46}"/>
                    </a:ext>
                  </a:extLst>
                </p:cNvPr>
                <p:cNvSpPr/>
                <p:nvPr/>
              </p:nvSpPr>
              <p:spPr>
                <a:xfrm rot="10800000">
                  <a:off x="654999" y="2368307"/>
                  <a:ext cx="501175" cy="204676"/>
                </a:xfrm>
                <a:prstGeom prst="curvedUpArrow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新細明體" panose="02020500000000000000" pitchFamily="18" charset="-120"/>
                    <a:cs typeface="+mn-cs"/>
                  </a:endParaRPr>
                </a:p>
              </p:txBody>
            </p:sp>
            <p:sp>
              <p:nvSpPr>
                <p:cNvPr id="55" name="文字方塊 27">
                  <a:extLst>
                    <a:ext uri="{FF2B5EF4-FFF2-40B4-BE49-F238E27FC236}">
                      <a16:creationId xmlns:a16="http://schemas.microsoft.com/office/drawing/2014/main" id="{8CA75746-4875-F690-EFA1-DA0ED95C3DC0}"/>
                    </a:ext>
                  </a:extLst>
                </p:cNvPr>
                <p:cNvSpPr txBox="1"/>
                <p:nvPr/>
              </p:nvSpPr>
              <p:spPr>
                <a:xfrm>
                  <a:off x="1144135" y="2395329"/>
                  <a:ext cx="859692" cy="467297"/>
                </a:xfrm>
                <a:prstGeom prst="rect">
                  <a:avLst/>
                </a:prstGeom>
                <a:noFill/>
              </p:spPr>
              <p:txBody>
                <a:bodyPr rot="0" spcFirstLastPara="0" vert="horz" wrap="square" lIns="91441" tIns="45720" rIns="91441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TW" alt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新細明體" panose="02020500000000000000" pitchFamily="18" charset="-120"/>
                      <a:cs typeface="+mn-cs"/>
                    </a:rPr>
                    <a:t>X (T-1)</a:t>
                  </a:r>
                </a:p>
              </p:txBody>
            </p:sp>
            <p:sp>
              <p:nvSpPr>
                <p:cNvPr id="56" name="矩形: 圓角 55">
                  <a:extLst>
                    <a:ext uri="{FF2B5EF4-FFF2-40B4-BE49-F238E27FC236}">
                      <a16:creationId xmlns:a16="http://schemas.microsoft.com/office/drawing/2014/main" id="{A621F48D-37E2-6066-85F6-DCDF3399C748}"/>
                    </a:ext>
                  </a:extLst>
                </p:cNvPr>
                <p:cNvSpPr/>
                <p:nvPr/>
              </p:nvSpPr>
              <p:spPr>
                <a:xfrm>
                  <a:off x="8469874" y="1422160"/>
                  <a:ext cx="775731" cy="433571"/>
                </a:xfrm>
                <a:prstGeom prst="roundRect">
                  <a:avLst/>
                </a:prstGeom>
                <a:solidFill>
                  <a:srgbClr val="E7E6E6"/>
                </a:solidFill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lIns="91441" tIns="45720" rIns="91441" bIns="4572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rPr>
                    <a:t> </a:t>
                  </a:r>
                  <a:endParaRPr kumimoji="0" lang="zh-TW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新細明體"/>
                    <a:cs typeface="+mn-cs"/>
                  </a:endParaRPr>
                </a:p>
              </p:txBody>
            </p:sp>
            <p:cxnSp>
              <p:nvCxnSpPr>
                <p:cNvPr id="59" name="直線單箭頭接點 58">
                  <a:extLst>
                    <a:ext uri="{FF2B5EF4-FFF2-40B4-BE49-F238E27FC236}">
                      <a16:creationId xmlns:a16="http://schemas.microsoft.com/office/drawing/2014/main" id="{259E55B8-DC00-B33A-8482-B1F7F36154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86924" y="4637030"/>
                  <a:ext cx="9488" cy="1286089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grpSp>
              <p:nvGrpSpPr>
                <p:cNvPr id="63" name="群組 62">
                  <a:extLst>
                    <a:ext uri="{FF2B5EF4-FFF2-40B4-BE49-F238E27FC236}">
                      <a16:creationId xmlns:a16="http://schemas.microsoft.com/office/drawing/2014/main" id="{D90316D7-98C5-DFDD-C72A-52FC680EEC02}"/>
                    </a:ext>
                  </a:extLst>
                </p:cNvPr>
                <p:cNvGrpSpPr/>
                <p:nvPr/>
              </p:nvGrpSpPr>
              <p:grpSpPr>
                <a:xfrm>
                  <a:off x="6898336" y="5422047"/>
                  <a:ext cx="4134442" cy="513664"/>
                  <a:chOff x="6898336" y="5422047"/>
                  <a:chExt cx="4134442" cy="513664"/>
                </a:xfrm>
              </p:grpSpPr>
              <p:cxnSp>
                <p:nvCxnSpPr>
                  <p:cNvPr id="67" name="直線單箭頭接點 66">
                    <a:extLst>
                      <a:ext uri="{FF2B5EF4-FFF2-40B4-BE49-F238E27FC236}">
                        <a16:creationId xmlns:a16="http://schemas.microsoft.com/office/drawing/2014/main" id="{2A5BFF6D-795A-80D6-B1C5-68A4AB56E5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98353" y="5916289"/>
                    <a:ext cx="4134425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65" name="直線單箭頭接點 64">
                    <a:extLst>
                      <a:ext uri="{FF2B5EF4-FFF2-40B4-BE49-F238E27FC236}">
                        <a16:creationId xmlns:a16="http://schemas.microsoft.com/office/drawing/2014/main" id="{F178A314-8A63-C8B6-8664-68FDE51A24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898336" y="5422047"/>
                    <a:ext cx="0" cy="513664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  <a:tailEnd type="triangle"/>
                  </a:ln>
                  <a:effectLst/>
                </p:spPr>
              </p:cxnSp>
            </p:grpSp>
          </p:grpSp>
          <p:sp>
            <p:nvSpPr>
              <p:cNvPr id="33" name="矩形: 圓角 32">
                <a:extLst>
                  <a:ext uri="{FF2B5EF4-FFF2-40B4-BE49-F238E27FC236}">
                    <a16:creationId xmlns:a16="http://schemas.microsoft.com/office/drawing/2014/main" id="{7369CDEA-639A-DE53-6A84-0E9656DE48A4}"/>
                  </a:ext>
                </a:extLst>
              </p:cNvPr>
              <p:cNvSpPr/>
              <p:nvPr/>
            </p:nvSpPr>
            <p:spPr>
              <a:xfrm rot="16200000">
                <a:off x="3854900" y="3443141"/>
                <a:ext cx="1068472" cy="341442"/>
              </a:xfrm>
              <a:prstGeom prst="roundRect">
                <a:avLst/>
              </a:prstGeom>
              <a:solidFill>
                <a:srgbClr val="FFC000">
                  <a:lumMod val="60000"/>
                  <a:lumOff val="40000"/>
                </a:srgbClr>
              </a:solidFill>
              <a:ln w="12700" cap="flat" cmpd="sng" algn="ctr">
                <a:solidFill>
                  <a:srgbClr val="FFC000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30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Conditioning module</a:t>
                </a:r>
                <a:endParaRPr kumimoji="0" lang="zh-TW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34253205-5C94-57EA-B023-169E35CCE07A}"/>
                    </a:ext>
                  </a:extLst>
                </p:cNvPr>
                <p:cNvSpPr/>
                <p:nvPr/>
              </p:nvSpPr>
              <p:spPr>
                <a:xfrm>
                  <a:off x="10674386" y="1443208"/>
                  <a:ext cx="707200" cy="6877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defTabSz="91430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TW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新細明體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kumimoji="0" lang="en-US" altLang="zh-TW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新細明體"/>
                                <a:cs typeface="Calibri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TW" sz="20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新細明體"/>
                                <a:cs typeface="Calibri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zh-TW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34253205-5C94-57EA-B023-169E35CCE0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74386" y="1443208"/>
                  <a:ext cx="707200" cy="6877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E0470C04-FFE8-2B93-E777-CA39E7AE2E31}"/>
                    </a:ext>
                  </a:extLst>
                </p:cNvPr>
                <p:cNvSpPr/>
                <p:nvPr/>
              </p:nvSpPr>
              <p:spPr>
                <a:xfrm>
                  <a:off x="9615807" y="1429531"/>
                  <a:ext cx="46839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defTabSz="91430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TW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新細明體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kumimoji="0" lang="en-US" altLang="zh-TW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新細明體"/>
                                <a:cs typeface="Calibri"/>
                              </a:rPr>
                              <m:t>𝑐</m:t>
                            </m:r>
                          </m:e>
                          <m:sub>
                            <m:r>
                              <a:rPr kumimoji="0" lang="en-US" altLang="zh-TW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新細明體"/>
                                <a:cs typeface="Calibri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zh-TW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E0470C04-FFE8-2B93-E777-CA39E7AE2E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5807" y="1429531"/>
                  <a:ext cx="468397" cy="400110"/>
                </a:xfrm>
                <a:prstGeom prst="rect">
                  <a:avLst/>
                </a:prstGeom>
                <a:blipFill>
                  <a:blip r:embed="rId5"/>
                  <a:stretch>
                    <a:fillRect r="-15686" b="-7105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1BA4F519-C2B5-3A40-C02C-CAE08DCF7BF6}"/>
                    </a:ext>
                  </a:extLst>
                </p:cNvPr>
                <p:cNvSpPr/>
                <p:nvPr/>
              </p:nvSpPr>
              <p:spPr>
                <a:xfrm>
                  <a:off x="8557368" y="1468197"/>
                  <a:ext cx="34964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defTabSz="91430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TW" sz="20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kumimoji="0" lang="zh-TW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1BA4F519-C2B5-3A40-C02C-CAE08DCF7B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7368" y="1468197"/>
                  <a:ext cx="349648" cy="400110"/>
                </a:xfrm>
                <a:prstGeom prst="rect">
                  <a:avLst/>
                </a:prstGeom>
                <a:blipFill>
                  <a:blip r:embed="rId6"/>
                  <a:stretch>
                    <a:fillRect r="-15385" b="-578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068ABDDA-1522-1D05-FD2A-250C63DD089D}"/>
              </a:ext>
            </a:extLst>
          </p:cNvPr>
          <p:cNvSpPr/>
          <p:nvPr/>
        </p:nvSpPr>
        <p:spPr>
          <a:xfrm>
            <a:off x="4574774" y="2677676"/>
            <a:ext cx="2792277" cy="1936720"/>
          </a:xfrm>
          <a:prstGeom prst="roundRect">
            <a:avLst/>
          </a:prstGeom>
          <a:solidFill>
            <a:srgbClr val="70AD47">
              <a:lumMod val="40000"/>
              <a:lumOff val="60000"/>
            </a:srgbClr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/>
        </p:spPr>
        <p:txBody>
          <a:bodyPr lIns="91441" tIns="45720" rIns="91441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新細明體"/>
              <a:cs typeface="+mn-cs"/>
            </a:endParaRPr>
          </a:p>
        </p:txBody>
      </p:sp>
      <p:sp>
        <p:nvSpPr>
          <p:cNvPr id="70" name="文字方塊 25">
            <a:extLst>
              <a:ext uri="{FF2B5EF4-FFF2-40B4-BE49-F238E27FC236}">
                <a16:creationId xmlns:a16="http://schemas.microsoft.com/office/drawing/2014/main" id="{2B274250-9D47-4D5C-819C-4C6646005F38}"/>
              </a:ext>
            </a:extLst>
          </p:cNvPr>
          <p:cNvSpPr txBox="1"/>
          <p:nvPr/>
        </p:nvSpPr>
        <p:spPr>
          <a:xfrm>
            <a:off x="215206" y="1318665"/>
            <a:ext cx="3182255" cy="307777"/>
          </a:xfrm>
          <a:prstGeom prst="rect">
            <a:avLst/>
          </a:prstGeom>
          <a:noFill/>
        </p:spPr>
        <p:txBody>
          <a:bodyPr rot="0" spcFirstLastPara="0" vert="horz" wrap="square" lIns="91441" tIns="45720" rIns="91441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 panose="02020500000000000000" pitchFamily="18" charset="-120"/>
                <a:cs typeface="+mn-cs"/>
              </a:rPr>
              <a:t>Pixel Space</a:t>
            </a:r>
          </a:p>
        </p:txBody>
      </p: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1B0D1E8B-0867-2C6F-1552-CD976E2D7AC8}"/>
              </a:ext>
            </a:extLst>
          </p:cNvPr>
          <p:cNvGrpSpPr/>
          <p:nvPr/>
        </p:nvGrpSpPr>
        <p:grpSpPr>
          <a:xfrm>
            <a:off x="2314854" y="1529466"/>
            <a:ext cx="414262" cy="1333479"/>
            <a:chOff x="3662393" y="4361873"/>
            <a:chExt cx="297899" cy="1186581"/>
          </a:xfrm>
        </p:grpSpPr>
        <p:sp>
          <p:nvSpPr>
            <p:cNvPr id="72" name="梯形 71">
              <a:extLst>
                <a:ext uri="{FF2B5EF4-FFF2-40B4-BE49-F238E27FC236}">
                  <a16:creationId xmlns:a16="http://schemas.microsoft.com/office/drawing/2014/main" id="{723ECE8F-A96B-FA2C-16B8-1D2D6533F345}"/>
                </a:ext>
              </a:extLst>
            </p:cNvPr>
            <p:cNvSpPr/>
            <p:nvPr/>
          </p:nvSpPr>
          <p:spPr>
            <a:xfrm rot="5400000">
              <a:off x="3431434" y="4814666"/>
              <a:ext cx="759818" cy="297899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5EDCE732-8762-C25A-860A-3317CCF629B0}"/>
                </a:ext>
              </a:extLst>
            </p:cNvPr>
            <p:cNvSpPr txBox="1"/>
            <p:nvPr/>
          </p:nvSpPr>
          <p:spPr>
            <a:xfrm rot="16200000">
              <a:off x="3217160" y="4844501"/>
              <a:ext cx="1186581" cy="22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  <a:cs typeface="+mn-cs"/>
                </a:rPr>
                <a:t>encoder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 panose="02020500000000000000" pitchFamily="18" charset="-120"/>
                <a:cs typeface="+mn-cs"/>
              </a:endParaRPr>
            </a:p>
          </p:txBody>
        </p:sp>
      </p:grp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49C7264C-BD03-EC90-F194-DFA6E0A8D24F}"/>
              </a:ext>
            </a:extLst>
          </p:cNvPr>
          <p:cNvCxnSpPr>
            <a:cxnSpLocks/>
            <a:endCxn id="72" idx="2"/>
          </p:cNvCxnSpPr>
          <p:nvPr/>
        </p:nvCxnSpPr>
        <p:spPr>
          <a:xfrm>
            <a:off x="1643190" y="2201832"/>
            <a:ext cx="671665" cy="387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5" name="AutoShape 2" descr="在这里插入图片描述">
            <a:extLst>
              <a:ext uri="{FF2B5EF4-FFF2-40B4-BE49-F238E27FC236}">
                <a16:creationId xmlns:a16="http://schemas.microsoft.com/office/drawing/2014/main" id="{0AFE479E-A5AD-EA84-B93C-4DB74AA5B2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19314" y="302768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38F2987F-1D1D-B4E8-148C-19FD05D8258F}"/>
                  </a:ext>
                </a:extLst>
              </p:cNvPr>
              <p:cNvSpPr/>
              <p:nvPr/>
            </p:nvSpPr>
            <p:spPr>
              <a:xfrm>
                <a:off x="7986090" y="1930779"/>
                <a:ext cx="250832" cy="567639"/>
              </a:xfrm>
              <a:prstGeom prst="rect">
                <a:avLst/>
              </a:prstGeom>
              <a:solidFill>
                <a:schemeClr val="accent6"/>
              </a:solidFill>
              <a:ln w="12700" cap="flat" cmpd="sng" algn="ctr">
                <a:solidFill>
                  <a:srgbClr val="5B9BD5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lIns="91441" tIns="45720" rIns="91441" bIns="4572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0" lang="en-US" altLang="zh-TW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38F2987F-1D1D-B4E8-148C-19FD05D825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090" y="1930779"/>
                <a:ext cx="250832" cy="567639"/>
              </a:xfrm>
              <a:prstGeom prst="rect">
                <a:avLst/>
              </a:prstGeom>
              <a:blipFill>
                <a:blip r:embed="rId8"/>
                <a:stretch>
                  <a:fillRect l="-39535" r="-6977"/>
                </a:stretch>
              </a:blipFill>
              <a:ln w="12700" cap="flat" cmpd="sng" algn="ctr">
                <a:solidFill>
                  <a:srgbClr val="5B9BD5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DE4676BF-ED0B-EFE5-C20E-7611FBDAB9CA}"/>
                  </a:ext>
                </a:extLst>
              </p:cNvPr>
              <p:cNvSpPr/>
              <p:nvPr/>
            </p:nvSpPr>
            <p:spPr>
              <a:xfrm>
                <a:off x="4025797" y="1925751"/>
                <a:ext cx="250832" cy="567639"/>
              </a:xfrm>
              <a:prstGeom prst="rect">
                <a:avLst/>
              </a:prstGeom>
              <a:solidFill>
                <a:schemeClr val="accent6"/>
              </a:solidFill>
              <a:ln w="12700" cap="flat" cmpd="sng" algn="ctr">
                <a:solidFill>
                  <a:srgbClr val="5B9BD5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lIns="91441" tIns="45720" rIns="91441" bIns="4572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en-US" altLang="zh-TW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DE4676BF-ED0B-EFE5-C20E-7611FBDAB9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797" y="1925751"/>
                <a:ext cx="250832" cy="567639"/>
              </a:xfrm>
              <a:prstGeom prst="rect">
                <a:avLst/>
              </a:prstGeom>
              <a:blipFill>
                <a:blip r:embed="rId9"/>
                <a:stretch>
                  <a:fillRect l="-34091" r="-4545"/>
                </a:stretch>
              </a:blipFill>
              <a:ln w="12700" cap="flat" cmpd="sng" algn="ctr">
                <a:solidFill>
                  <a:srgbClr val="5B9BD5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: 圓角 77">
                <a:extLst>
                  <a:ext uri="{FF2B5EF4-FFF2-40B4-BE49-F238E27FC236}">
                    <a16:creationId xmlns:a16="http://schemas.microsoft.com/office/drawing/2014/main" id="{8E337BDD-03F4-F40C-3776-75943D20428B}"/>
                  </a:ext>
                </a:extLst>
              </p:cNvPr>
              <p:cNvSpPr/>
              <p:nvPr/>
            </p:nvSpPr>
            <p:spPr>
              <a:xfrm>
                <a:off x="1261339" y="3448519"/>
                <a:ext cx="371194" cy="39358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1" tIns="45720" rIns="91441" bIns="4572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TW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 sz="20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8" name="矩形: 圓角 77">
                <a:extLst>
                  <a:ext uri="{FF2B5EF4-FFF2-40B4-BE49-F238E27FC236}">
                    <a16:creationId xmlns:a16="http://schemas.microsoft.com/office/drawing/2014/main" id="{8E337BDD-03F4-F40C-3776-75943D2042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339" y="3448519"/>
                <a:ext cx="371194" cy="393582"/>
              </a:xfrm>
              <a:prstGeom prst="roundRect">
                <a:avLst/>
              </a:prstGeom>
              <a:blipFill>
                <a:blip r:embed="rId10"/>
                <a:stretch>
                  <a:fillRect l="-6349" b="-3030"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群組 78">
            <a:extLst>
              <a:ext uri="{FF2B5EF4-FFF2-40B4-BE49-F238E27FC236}">
                <a16:creationId xmlns:a16="http://schemas.microsoft.com/office/drawing/2014/main" id="{6F4FB264-5D82-995B-3680-DB6B5A83D2F1}"/>
              </a:ext>
            </a:extLst>
          </p:cNvPr>
          <p:cNvGrpSpPr/>
          <p:nvPr/>
        </p:nvGrpSpPr>
        <p:grpSpPr>
          <a:xfrm rot="10800000">
            <a:off x="2314708" y="2984929"/>
            <a:ext cx="414262" cy="1333479"/>
            <a:chOff x="3662393" y="4361873"/>
            <a:chExt cx="297899" cy="1186581"/>
          </a:xfrm>
        </p:grpSpPr>
        <p:sp>
          <p:nvSpPr>
            <p:cNvPr id="80" name="梯形 79">
              <a:extLst>
                <a:ext uri="{FF2B5EF4-FFF2-40B4-BE49-F238E27FC236}">
                  <a16:creationId xmlns:a16="http://schemas.microsoft.com/office/drawing/2014/main" id="{40053D18-7FB8-16C1-82D8-D868ECD6E56D}"/>
                </a:ext>
              </a:extLst>
            </p:cNvPr>
            <p:cNvSpPr/>
            <p:nvPr/>
          </p:nvSpPr>
          <p:spPr>
            <a:xfrm rot="5400000">
              <a:off x="3431434" y="4814666"/>
              <a:ext cx="759818" cy="297899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C8AE763F-1986-C32B-9926-AE8D8F75A8AA}"/>
                </a:ext>
              </a:extLst>
            </p:cNvPr>
            <p:cNvSpPr txBox="1"/>
            <p:nvPr/>
          </p:nvSpPr>
          <p:spPr>
            <a:xfrm rot="16200000">
              <a:off x="3217160" y="4844501"/>
              <a:ext cx="1186581" cy="22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400" dirty="0">
                  <a:solidFill>
                    <a:prstClr val="black"/>
                  </a:solidFill>
                  <a:ea typeface="新細明體"/>
                </a:rPr>
                <a:t>de</a:t>
              </a:r>
              <a:r>
                <a:rPr kumimoji="0" lang="zh-TW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新細明體"/>
                  <a:cs typeface="+mn-cs"/>
                </a:rPr>
                <a:t>coder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 panose="02020500000000000000" pitchFamily="18" charset="-120"/>
                <a:cs typeface="+mn-cs"/>
              </a:endParaRPr>
            </a:p>
          </p:txBody>
        </p:sp>
      </p:grpSp>
      <p:cxnSp>
        <p:nvCxnSpPr>
          <p:cNvPr id="82" name="直線單箭頭接點 81">
            <a:extLst>
              <a:ext uri="{FF2B5EF4-FFF2-40B4-BE49-F238E27FC236}">
                <a16:creationId xmlns:a16="http://schemas.microsoft.com/office/drawing/2014/main" id="{A97F85B3-CE8C-D30F-8F16-5A2C96D5575F}"/>
              </a:ext>
            </a:extLst>
          </p:cNvPr>
          <p:cNvCxnSpPr>
            <a:cxnSpLocks/>
            <a:stCxn id="80" idx="0"/>
            <a:endCxn id="78" idx="3"/>
          </p:cNvCxnSpPr>
          <p:nvPr/>
        </p:nvCxnSpPr>
        <p:spPr>
          <a:xfrm flipH="1">
            <a:off x="1632533" y="3642170"/>
            <a:ext cx="682175" cy="314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CBD64FE5-E263-4883-F879-2BCC4E595CEF}"/>
              </a:ext>
            </a:extLst>
          </p:cNvPr>
          <p:cNvCxnSpPr>
            <a:cxnSpLocks/>
            <a:stCxn id="72" idx="0"/>
            <a:endCxn id="77" idx="1"/>
          </p:cNvCxnSpPr>
          <p:nvPr/>
        </p:nvCxnSpPr>
        <p:spPr>
          <a:xfrm>
            <a:off x="2729117" y="2205705"/>
            <a:ext cx="1296680" cy="386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C41DC281-8405-006F-72F1-073A38ED7EEB}"/>
                  </a:ext>
                </a:extLst>
              </p:cNvPr>
              <p:cNvSpPr/>
              <p:nvPr/>
            </p:nvSpPr>
            <p:spPr>
              <a:xfrm>
                <a:off x="7986090" y="2661465"/>
                <a:ext cx="250832" cy="567639"/>
              </a:xfrm>
              <a:prstGeom prst="rect">
                <a:avLst/>
              </a:prstGeom>
              <a:solidFill>
                <a:schemeClr val="accent6"/>
              </a:solidFill>
              <a:ln w="12700" cap="flat" cmpd="sng" algn="ctr">
                <a:solidFill>
                  <a:srgbClr val="5B9BD5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lIns="91441" tIns="45720" rIns="91441" bIns="4572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TW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0" lang="en-US" altLang="zh-TW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C41DC281-8405-006F-72F1-073A38ED7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090" y="2661465"/>
                <a:ext cx="250832" cy="567639"/>
              </a:xfrm>
              <a:prstGeom prst="rect">
                <a:avLst/>
              </a:prstGeom>
              <a:blipFill>
                <a:blip r:embed="rId11"/>
                <a:stretch>
                  <a:fillRect l="-39535" r="-6977"/>
                </a:stretch>
              </a:blipFill>
              <a:ln w="12700" cap="flat" cmpd="sng" algn="ctr">
                <a:solidFill>
                  <a:srgbClr val="5B9BD5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5439D074-E023-1E39-72EC-E085980FC435}"/>
              </a:ext>
            </a:extLst>
          </p:cNvPr>
          <p:cNvSpPr/>
          <p:nvPr/>
        </p:nvSpPr>
        <p:spPr>
          <a:xfrm rot="16200000">
            <a:off x="7256102" y="2807415"/>
            <a:ext cx="661750" cy="27573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Patchify</a:t>
            </a:r>
            <a:endParaRPr lang="zh-TW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28C69C6E-0595-565A-ADC0-2510EBD09539}"/>
              </a:ext>
            </a:extLst>
          </p:cNvPr>
          <p:cNvCxnSpPr>
            <a:cxnSpLocks/>
            <a:stCxn id="84" idx="1"/>
            <a:endCxn id="87" idx="2"/>
          </p:cNvCxnSpPr>
          <p:nvPr/>
        </p:nvCxnSpPr>
        <p:spPr>
          <a:xfrm flipH="1" flipV="1">
            <a:off x="7724846" y="2945284"/>
            <a:ext cx="26124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6CC7F39B-3F21-4BF4-5BDF-D8A9CE348593}"/>
              </a:ext>
            </a:extLst>
          </p:cNvPr>
          <p:cNvCxnSpPr>
            <a:cxnSpLocks/>
          </p:cNvCxnSpPr>
          <p:nvPr/>
        </p:nvCxnSpPr>
        <p:spPr>
          <a:xfrm flipH="1">
            <a:off x="7328546" y="2931197"/>
            <a:ext cx="124706" cy="1248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0B8BAFED-B596-AD9A-C839-7AD3A754E8B1}"/>
              </a:ext>
            </a:extLst>
          </p:cNvPr>
          <p:cNvCxnSpPr>
            <a:cxnSpLocks/>
          </p:cNvCxnSpPr>
          <p:nvPr/>
        </p:nvCxnSpPr>
        <p:spPr>
          <a:xfrm flipH="1">
            <a:off x="7339396" y="3830850"/>
            <a:ext cx="641924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1" name="矩形: 圓角 90">
            <a:extLst>
              <a:ext uri="{FF2B5EF4-FFF2-40B4-BE49-F238E27FC236}">
                <a16:creationId xmlns:a16="http://schemas.microsoft.com/office/drawing/2014/main" id="{B1625EA3-47A9-5377-665A-F8A8984FFDFC}"/>
              </a:ext>
            </a:extLst>
          </p:cNvPr>
          <p:cNvSpPr/>
          <p:nvPr/>
        </p:nvSpPr>
        <p:spPr>
          <a:xfrm rot="16200000">
            <a:off x="5314602" y="3345984"/>
            <a:ext cx="1119084" cy="3144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Layer Norm</a:t>
            </a:r>
            <a:endParaRPr lang="zh-TW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92" name="矩形: 圓角 91">
            <a:extLst>
              <a:ext uri="{FF2B5EF4-FFF2-40B4-BE49-F238E27FC236}">
                <a16:creationId xmlns:a16="http://schemas.microsoft.com/office/drawing/2014/main" id="{754E79A7-B336-FC4D-8BE7-49EBB1823462}"/>
              </a:ext>
            </a:extLst>
          </p:cNvPr>
          <p:cNvSpPr/>
          <p:nvPr/>
        </p:nvSpPr>
        <p:spPr>
          <a:xfrm rot="16200000">
            <a:off x="4826454" y="3331026"/>
            <a:ext cx="1184748" cy="3414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Linear and reshape</a:t>
            </a:r>
            <a:endParaRPr lang="zh-TW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93" name="直線單箭頭接點 92">
            <a:extLst>
              <a:ext uri="{FF2B5EF4-FFF2-40B4-BE49-F238E27FC236}">
                <a16:creationId xmlns:a16="http://schemas.microsoft.com/office/drawing/2014/main" id="{F32A2EA3-1784-1F71-1A92-4211B089447F}"/>
              </a:ext>
            </a:extLst>
          </p:cNvPr>
          <p:cNvCxnSpPr>
            <a:cxnSpLocks/>
          </p:cNvCxnSpPr>
          <p:nvPr/>
        </p:nvCxnSpPr>
        <p:spPr>
          <a:xfrm flipH="1">
            <a:off x="6005198" y="3501740"/>
            <a:ext cx="146190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4" name="直線單箭頭接點 93">
            <a:extLst>
              <a:ext uri="{FF2B5EF4-FFF2-40B4-BE49-F238E27FC236}">
                <a16:creationId xmlns:a16="http://schemas.microsoft.com/office/drawing/2014/main" id="{EA0959EA-5A06-45F5-B965-73D437055FC6}"/>
              </a:ext>
            </a:extLst>
          </p:cNvPr>
          <p:cNvCxnSpPr>
            <a:cxnSpLocks/>
          </p:cNvCxnSpPr>
          <p:nvPr/>
        </p:nvCxnSpPr>
        <p:spPr>
          <a:xfrm flipH="1">
            <a:off x="5589543" y="3495987"/>
            <a:ext cx="146190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直線單箭頭接點 94">
            <a:extLst>
              <a:ext uri="{FF2B5EF4-FFF2-40B4-BE49-F238E27FC236}">
                <a16:creationId xmlns:a16="http://schemas.microsoft.com/office/drawing/2014/main" id="{D82ABBB7-AC6A-561D-F2A5-C2A2FA5196E5}"/>
              </a:ext>
            </a:extLst>
          </p:cNvPr>
          <p:cNvCxnSpPr>
            <a:cxnSpLocks/>
          </p:cNvCxnSpPr>
          <p:nvPr/>
        </p:nvCxnSpPr>
        <p:spPr>
          <a:xfrm flipH="1">
            <a:off x="5102091" y="3254451"/>
            <a:ext cx="146190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6" name="直線單箭頭接點 95">
            <a:extLst>
              <a:ext uri="{FF2B5EF4-FFF2-40B4-BE49-F238E27FC236}">
                <a16:creationId xmlns:a16="http://schemas.microsoft.com/office/drawing/2014/main" id="{B445E782-C864-7B40-F963-B6FB72B3982F}"/>
              </a:ext>
            </a:extLst>
          </p:cNvPr>
          <p:cNvCxnSpPr>
            <a:cxnSpLocks/>
          </p:cNvCxnSpPr>
          <p:nvPr/>
        </p:nvCxnSpPr>
        <p:spPr>
          <a:xfrm flipH="1">
            <a:off x="5101923" y="3745088"/>
            <a:ext cx="146190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7" name="矩形: 圓角 96">
            <a:extLst>
              <a:ext uri="{FF2B5EF4-FFF2-40B4-BE49-F238E27FC236}">
                <a16:creationId xmlns:a16="http://schemas.microsoft.com/office/drawing/2014/main" id="{91E51339-1AED-C57E-3A04-6194C6B94623}"/>
              </a:ext>
            </a:extLst>
          </p:cNvPr>
          <p:cNvSpPr/>
          <p:nvPr/>
        </p:nvSpPr>
        <p:spPr>
          <a:xfrm>
            <a:off x="4662892" y="3103714"/>
            <a:ext cx="438641" cy="301473"/>
          </a:xfrm>
          <a:prstGeom prst="roundRect">
            <a:avLst/>
          </a:prstGeom>
          <a:solidFill>
            <a:srgbClr val="E7E6E6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1" tIns="45720" rIns="91441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新細明體"/>
              <a:cs typeface="+mn-cs"/>
            </a:endParaRPr>
          </a:p>
        </p:txBody>
      </p:sp>
      <p:sp>
        <p:nvSpPr>
          <p:cNvPr id="98" name="矩形: 圓角 97">
            <a:extLst>
              <a:ext uri="{FF2B5EF4-FFF2-40B4-BE49-F238E27FC236}">
                <a16:creationId xmlns:a16="http://schemas.microsoft.com/office/drawing/2014/main" id="{9B535D97-8A8A-9995-AAA8-902C854429AC}"/>
              </a:ext>
            </a:extLst>
          </p:cNvPr>
          <p:cNvSpPr/>
          <p:nvPr/>
        </p:nvSpPr>
        <p:spPr>
          <a:xfrm>
            <a:off x="4662892" y="3589416"/>
            <a:ext cx="438641" cy="301473"/>
          </a:xfrm>
          <a:prstGeom prst="roundRect">
            <a:avLst/>
          </a:prstGeom>
          <a:solidFill>
            <a:srgbClr val="E7E6E6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1" tIns="45720" rIns="91441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新細明體"/>
              <a:cs typeface="+mn-cs"/>
            </a:endParaRP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4435BC49-9651-6569-8D30-15B92B865A77}"/>
              </a:ext>
            </a:extLst>
          </p:cNvPr>
          <p:cNvSpPr txBox="1"/>
          <p:nvPr/>
        </p:nvSpPr>
        <p:spPr>
          <a:xfrm>
            <a:off x="4619479" y="3103042"/>
            <a:ext cx="7312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kern="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Noise</a:t>
            </a:r>
            <a:endParaRPr lang="zh-TW" altLang="en-US" sz="1200" dirty="0"/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CE0B39DE-E54D-BD89-98F8-D42E21AE72F0}"/>
              </a:ext>
            </a:extLst>
          </p:cNvPr>
          <p:cNvSpPr txBox="1"/>
          <p:nvPr/>
        </p:nvSpPr>
        <p:spPr>
          <a:xfrm>
            <a:off x="4723261" y="3555486"/>
            <a:ext cx="434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C153B651-1253-6DE6-4B07-B124F1E9302A}"/>
                  </a:ext>
                </a:extLst>
              </p:cNvPr>
              <p:cNvSpPr txBox="1"/>
              <p:nvPr/>
            </p:nvSpPr>
            <p:spPr>
              <a:xfrm>
                <a:off x="6627960" y="4171803"/>
                <a:ext cx="669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C153B651-1253-6DE6-4B07-B124F1E93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960" y="4171803"/>
                <a:ext cx="66980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矩形: 圓角 101">
            <a:extLst>
              <a:ext uri="{FF2B5EF4-FFF2-40B4-BE49-F238E27FC236}">
                <a16:creationId xmlns:a16="http://schemas.microsoft.com/office/drawing/2014/main" id="{B4E744CA-402D-68C6-3354-4C6D48BE8228}"/>
              </a:ext>
            </a:extLst>
          </p:cNvPr>
          <p:cNvSpPr/>
          <p:nvPr/>
        </p:nvSpPr>
        <p:spPr>
          <a:xfrm>
            <a:off x="6180038" y="2785132"/>
            <a:ext cx="1177382" cy="1457563"/>
          </a:xfrm>
          <a:prstGeom prst="roundRect">
            <a:avLst/>
          </a:prstGeom>
          <a:solidFill>
            <a:srgbClr val="E7E6E6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1" tIns="45720" rIns="91441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新細明體"/>
              <a:cs typeface="+mn-cs"/>
            </a:endParaRPr>
          </a:p>
        </p:txBody>
      </p:sp>
      <p:cxnSp>
        <p:nvCxnSpPr>
          <p:cNvPr id="103" name="直線單箭頭接點 102">
            <a:extLst>
              <a:ext uri="{FF2B5EF4-FFF2-40B4-BE49-F238E27FC236}">
                <a16:creationId xmlns:a16="http://schemas.microsoft.com/office/drawing/2014/main" id="{DB8CAB1F-ACCB-F672-8091-B0A54F54BB08}"/>
              </a:ext>
            </a:extLst>
          </p:cNvPr>
          <p:cNvCxnSpPr>
            <a:cxnSpLocks/>
            <a:stCxn id="68" idx="1"/>
            <a:endCxn id="80" idx="2"/>
          </p:cNvCxnSpPr>
          <p:nvPr/>
        </p:nvCxnSpPr>
        <p:spPr>
          <a:xfrm flipH="1" flipV="1">
            <a:off x="2728970" y="3642170"/>
            <a:ext cx="1845804" cy="386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C75AA768-7EDC-A624-1AA4-FDC7F2C21FDA}"/>
              </a:ext>
            </a:extLst>
          </p:cNvPr>
          <p:cNvSpPr txBox="1"/>
          <p:nvPr/>
        </p:nvSpPr>
        <p:spPr>
          <a:xfrm rot="16200000">
            <a:off x="6776038" y="2815603"/>
            <a:ext cx="9946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900" b="0" i="0" dirty="0">
                <a:effectLst/>
                <a:latin typeface="Arial" panose="020B0604020202020204" pitchFamily="34" charset="0"/>
              </a:rPr>
              <a:t>Input </a:t>
            </a:r>
          </a:p>
          <a:p>
            <a:pPr algn="ctr"/>
            <a:r>
              <a:rPr lang="en-US" altLang="zh-TW" sz="900" b="0" i="0" dirty="0">
                <a:effectLst/>
                <a:latin typeface="Arial" panose="020B0604020202020204" pitchFamily="34" charset="0"/>
              </a:rPr>
              <a:t>Tokens</a:t>
            </a:r>
            <a:br>
              <a:rPr lang="en-US" altLang="zh-TW" sz="900" dirty="0"/>
            </a:br>
            <a:endParaRPr lang="zh-TW" altLang="en-US" sz="900" dirty="0"/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1FC7BEDA-AC6E-F590-67AE-1461E8A95146}"/>
              </a:ext>
            </a:extLst>
          </p:cNvPr>
          <p:cNvSpPr txBox="1"/>
          <p:nvPr/>
        </p:nvSpPr>
        <p:spPr>
          <a:xfrm rot="16200000">
            <a:off x="6768068" y="3647198"/>
            <a:ext cx="994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800" b="0" i="0" dirty="0">
                <a:effectLst/>
                <a:latin typeface="Arial" panose="020B0604020202020204" pitchFamily="34" charset="0"/>
              </a:rPr>
              <a:t>Conditioning</a:t>
            </a:r>
            <a:endParaRPr lang="zh-TW" altLang="en-US" sz="800" dirty="0"/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4D516980-464A-2494-EBC3-D60DC56AF78D}"/>
              </a:ext>
            </a:extLst>
          </p:cNvPr>
          <p:cNvSpPr txBox="1"/>
          <p:nvPr/>
        </p:nvSpPr>
        <p:spPr>
          <a:xfrm>
            <a:off x="6426294" y="3206671"/>
            <a:ext cx="1047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DiT Block</a:t>
            </a:r>
            <a:endParaRPr lang="zh-TW" altLang="en-US" dirty="0"/>
          </a:p>
        </p:txBody>
      </p:sp>
      <p:sp>
        <p:nvSpPr>
          <p:cNvPr id="109" name="矩形: 圓角 108">
            <a:extLst>
              <a:ext uri="{FF2B5EF4-FFF2-40B4-BE49-F238E27FC236}">
                <a16:creationId xmlns:a16="http://schemas.microsoft.com/office/drawing/2014/main" id="{04AF989D-8C22-2B84-1DD4-0DC73583DA8F}"/>
              </a:ext>
            </a:extLst>
          </p:cNvPr>
          <p:cNvSpPr/>
          <p:nvPr/>
        </p:nvSpPr>
        <p:spPr>
          <a:xfrm>
            <a:off x="3616908" y="2695941"/>
            <a:ext cx="499509" cy="1936720"/>
          </a:xfrm>
          <a:prstGeom prst="roundRect">
            <a:avLst/>
          </a:prstGeom>
          <a:solidFill>
            <a:srgbClr val="70AD47">
              <a:lumMod val="40000"/>
              <a:lumOff val="60000"/>
            </a:srgbClr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/>
        </p:spPr>
        <p:txBody>
          <a:bodyPr lIns="91441" tIns="45720" rIns="91441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新細明體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D979F3F-25DA-9B14-DC93-C3EFEB8DFAF6}"/>
                  </a:ext>
                </a:extLst>
              </p:cNvPr>
              <p:cNvSpPr/>
              <p:nvPr/>
            </p:nvSpPr>
            <p:spPr>
              <a:xfrm>
                <a:off x="3288583" y="3354133"/>
                <a:ext cx="250832" cy="567639"/>
              </a:xfrm>
              <a:prstGeom prst="rect">
                <a:avLst/>
              </a:prstGeom>
              <a:solidFill>
                <a:schemeClr val="accent6"/>
              </a:solidFill>
              <a:ln w="12700" cap="flat" cmpd="sng" algn="ctr">
                <a:solidFill>
                  <a:srgbClr val="5B9BD5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lIns="91441" tIns="45720" rIns="91441" bIns="4572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TW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en-US" altLang="zh-TW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0D979F3F-25DA-9B14-DC93-C3EFEB8DFA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8583" y="3354133"/>
                <a:ext cx="250832" cy="567639"/>
              </a:xfrm>
              <a:prstGeom prst="rect">
                <a:avLst/>
              </a:prstGeom>
              <a:blipFill>
                <a:blip r:embed="rId13"/>
                <a:stretch>
                  <a:fillRect l="-34091" r="-4545"/>
                </a:stretch>
              </a:blipFill>
              <a:ln w="12700" cap="flat" cmpd="sng" algn="ctr">
                <a:solidFill>
                  <a:srgbClr val="5B9BD5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D6237C25-9738-17A8-B7A9-B945CC04ED09}"/>
                  </a:ext>
                </a:extLst>
              </p:cNvPr>
              <p:cNvSpPr/>
              <p:nvPr/>
            </p:nvSpPr>
            <p:spPr>
              <a:xfrm>
                <a:off x="4206593" y="3341346"/>
                <a:ext cx="282583" cy="567639"/>
              </a:xfrm>
              <a:prstGeom prst="rect">
                <a:avLst/>
              </a:prstGeom>
              <a:solidFill>
                <a:schemeClr val="accent6"/>
              </a:solidFill>
              <a:ln w="12700" cap="flat" cmpd="sng" algn="ctr">
                <a:solidFill>
                  <a:srgbClr val="5B9BD5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lIns="91441" tIns="45720" rIns="91441" bIns="4572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  <m:r>
                            <a:rPr kumimoji="0" lang="en-US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altLang="zh-TW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D6237C25-9738-17A8-B7A9-B945CC04ED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593" y="3341346"/>
                <a:ext cx="282583" cy="567639"/>
              </a:xfrm>
              <a:prstGeom prst="rect">
                <a:avLst/>
              </a:prstGeom>
              <a:blipFill>
                <a:blip r:embed="rId14"/>
                <a:stretch>
                  <a:fillRect l="-39583" r="-16667"/>
                </a:stretch>
              </a:blipFill>
              <a:ln w="12700" cap="flat" cmpd="sng" algn="ctr">
                <a:solidFill>
                  <a:srgbClr val="5B9BD5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537C7269-B8C6-2A82-A29A-27C165074633}"/>
              </a:ext>
            </a:extLst>
          </p:cNvPr>
          <p:cNvSpPr txBox="1"/>
          <p:nvPr/>
        </p:nvSpPr>
        <p:spPr>
          <a:xfrm>
            <a:off x="6651076" y="4100871"/>
            <a:ext cx="487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新細明體" panose="02020500000000000000" pitchFamily="18" charset="-120"/>
                <a:cs typeface="+mn-cs"/>
              </a:rPr>
              <a:t>X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新細明體" panose="02020500000000000000" pitchFamily="18" charset="-120"/>
                <a:cs typeface="+mn-cs"/>
              </a:rPr>
              <a:t> </a:t>
            </a:r>
            <a:endParaRPr lang="zh-TW" altLang="en-US" dirty="0"/>
          </a:p>
        </p:txBody>
      </p:sp>
      <p:cxnSp>
        <p:nvCxnSpPr>
          <p:cNvPr id="113" name="接點: 肘形 112">
            <a:extLst>
              <a:ext uri="{FF2B5EF4-FFF2-40B4-BE49-F238E27FC236}">
                <a16:creationId xmlns:a16="http://schemas.microsoft.com/office/drawing/2014/main" id="{B33FD1AA-3477-D859-46B1-D4B877C7769D}"/>
              </a:ext>
            </a:extLst>
          </p:cNvPr>
          <p:cNvCxnSpPr>
            <a:cxnSpLocks/>
            <a:endCxn id="109" idx="2"/>
          </p:cNvCxnSpPr>
          <p:nvPr/>
        </p:nvCxnSpPr>
        <p:spPr>
          <a:xfrm rot="10800000" flipV="1">
            <a:off x="3866664" y="4062761"/>
            <a:ext cx="4114659" cy="569899"/>
          </a:xfrm>
          <a:prstGeom prst="bentConnector4">
            <a:avLst>
              <a:gd name="adj1" fmla="val 10750"/>
              <a:gd name="adj2" fmla="val 140112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立方體 28">
            <a:extLst>
              <a:ext uri="{FF2B5EF4-FFF2-40B4-BE49-F238E27FC236}">
                <a16:creationId xmlns:a16="http://schemas.microsoft.com/office/drawing/2014/main" id="{9BD3A3BF-0732-783A-F172-6A5516A423CC}"/>
              </a:ext>
            </a:extLst>
          </p:cNvPr>
          <p:cNvSpPr/>
          <p:nvPr/>
        </p:nvSpPr>
        <p:spPr>
          <a:xfrm rot="16200000">
            <a:off x="9935492" y="3174404"/>
            <a:ext cx="870409" cy="381434"/>
          </a:xfrm>
          <a:prstGeom prst="cube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lumMod val="75000"/>
              </a:srgbClr>
            </a:solidFill>
            <a:prstDash val="solid"/>
            <a:miter lim="800000"/>
          </a:ln>
          <a:effectLst/>
        </p:spPr>
        <p:txBody>
          <a:bodyPr lIns="91441" tIns="45720" rIns="91441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TW" sz="900" dirty="0">
                <a:solidFill>
                  <a:prstClr val="black"/>
                </a:solidFill>
                <a:latin typeface="Cambria" panose="02040503050406030204" pitchFamily="18" charset="0"/>
              </a:rPr>
              <a:t>Label</a:t>
            </a:r>
          </a:p>
          <a:p>
            <a:pPr lvl="0" algn="ctr">
              <a:defRPr/>
            </a:pPr>
            <a:r>
              <a:rPr lang="en-US" altLang="zh-TW" sz="900" dirty="0">
                <a:solidFill>
                  <a:prstClr val="black"/>
                </a:solidFill>
                <a:latin typeface="Cambria" panose="02040503050406030204" pitchFamily="18" charset="0"/>
              </a:rPr>
              <a:t>Embedder</a:t>
            </a:r>
            <a:endParaRPr kumimoji="0" lang="zh-TW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4" name="立方體 33">
            <a:extLst>
              <a:ext uri="{FF2B5EF4-FFF2-40B4-BE49-F238E27FC236}">
                <a16:creationId xmlns:a16="http://schemas.microsoft.com/office/drawing/2014/main" id="{E27558CB-5485-0C5F-DD4A-F562F46FB85D}"/>
              </a:ext>
            </a:extLst>
          </p:cNvPr>
          <p:cNvSpPr/>
          <p:nvPr/>
        </p:nvSpPr>
        <p:spPr>
          <a:xfrm rot="16200000">
            <a:off x="10641593" y="3170998"/>
            <a:ext cx="870409" cy="381434"/>
          </a:xfrm>
          <a:prstGeom prst="cube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lumMod val="75000"/>
              </a:srgbClr>
            </a:solidFill>
            <a:prstDash val="solid"/>
            <a:miter lim="800000"/>
          </a:ln>
          <a:effectLst/>
        </p:spPr>
        <p:txBody>
          <a:bodyPr lIns="91441" tIns="45720" rIns="91441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TW" sz="900" dirty="0">
                <a:solidFill>
                  <a:prstClr val="black"/>
                </a:solidFill>
                <a:latin typeface="Cambria" panose="02040503050406030204" pitchFamily="18" charset="0"/>
              </a:rPr>
              <a:t>Label</a:t>
            </a:r>
          </a:p>
          <a:p>
            <a:pPr lvl="0" algn="ctr">
              <a:defRPr/>
            </a:pPr>
            <a:r>
              <a:rPr lang="en-US" altLang="zh-TW" sz="900" dirty="0">
                <a:solidFill>
                  <a:prstClr val="black"/>
                </a:solidFill>
                <a:latin typeface="Cambria" panose="02040503050406030204" pitchFamily="18" charset="0"/>
              </a:rPr>
              <a:t>Embedder</a:t>
            </a:r>
            <a:endParaRPr kumimoji="0" lang="zh-TW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B25D7DD9-2AFA-2E3F-4165-4E30DA30D387}"/>
              </a:ext>
            </a:extLst>
          </p:cNvPr>
          <p:cNvCxnSpPr>
            <a:cxnSpLocks/>
          </p:cNvCxnSpPr>
          <p:nvPr/>
        </p:nvCxnSpPr>
        <p:spPr>
          <a:xfrm>
            <a:off x="10388592" y="3804148"/>
            <a:ext cx="6823" cy="72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15" name="直線單箭頭接點 114">
            <a:extLst>
              <a:ext uri="{FF2B5EF4-FFF2-40B4-BE49-F238E27FC236}">
                <a16:creationId xmlns:a16="http://schemas.microsoft.com/office/drawing/2014/main" id="{1C8DA995-8D86-AB70-B0A1-A788F86266B7}"/>
              </a:ext>
            </a:extLst>
          </p:cNvPr>
          <p:cNvCxnSpPr>
            <a:cxnSpLocks/>
          </p:cNvCxnSpPr>
          <p:nvPr/>
        </p:nvCxnSpPr>
        <p:spPr>
          <a:xfrm>
            <a:off x="11119903" y="3796503"/>
            <a:ext cx="6823" cy="72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16" name="直線單箭頭接點 115">
            <a:extLst>
              <a:ext uri="{FF2B5EF4-FFF2-40B4-BE49-F238E27FC236}">
                <a16:creationId xmlns:a16="http://schemas.microsoft.com/office/drawing/2014/main" id="{2D3D15B8-B387-134F-2671-37C4991AAC73}"/>
              </a:ext>
            </a:extLst>
          </p:cNvPr>
          <p:cNvCxnSpPr>
            <a:cxnSpLocks/>
          </p:cNvCxnSpPr>
          <p:nvPr/>
        </p:nvCxnSpPr>
        <p:spPr>
          <a:xfrm>
            <a:off x="9589100" y="2252340"/>
            <a:ext cx="0" cy="72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1" name="直線單箭頭接點 120">
            <a:extLst>
              <a:ext uri="{FF2B5EF4-FFF2-40B4-BE49-F238E27FC236}">
                <a16:creationId xmlns:a16="http://schemas.microsoft.com/office/drawing/2014/main" id="{194F3B1D-1855-FE5B-420A-997B110E860C}"/>
              </a:ext>
            </a:extLst>
          </p:cNvPr>
          <p:cNvCxnSpPr>
            <a:cxnSpLocks/>
          </p:cNvCxnSpPr>
          <p:nvPr/>
        </p:nvCxnSpPr>
        <p:spPr>
          <a:xfrm>
            <a:off x="10363358" y="2253634"/>
            <a:ext cx="0" cy="72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2" name="直線單箭頭接點 121">
            <a:extLst>
              <a:ext uri="{FF2B5EF4-FFF2-40B4-BE49-F238E27FC236}">
                <a16:creationId xmlns:a16="http://schemas.microsoft.com/office/drawing/2014/main" id="{8BE39670-5263-8FEB-5A16-91D57A019613}"/>
              </a:ext>
            </a:extLst>
          </p:cNvPr>
          <p:cNvCxnSpPr>
            <a:cxnSpLocks/>
          </p:cNvCxnSpPr>
          <p:nvPr/>
        </p:nvCxnSpPr>
        <p:spPr>
          <a:xfrm>
            <a:off x="11088688" y="2253634"/>
            <a:ext cx="0" cy="72000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1F2223B-942D-0346-FEC6-E63138A98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4F165F-0238-D1DC-208F-7B26A0DB75A6}"/>
              </a:ext>
            </a:extLst>
          </p:cNvPr>
          <p:cNvSpPr/>
          <p:nvPr/>
        </p:nvSpPr>
        <p:spPr>
          <a:xfrm>
            <a:off x="5248114" y="254001"/>
            <a:ext cx="6943886" cy="21467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284082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122F5-2AA5-AA95-4A40-5CB8FF881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03EA353-5783-58AB-4CA6-5AC15350CFBC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0A7B65-92CA-87A7-4419-C91615D12432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EF7B4B-EB3B-3302-68DB-6A0BAEA330D1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6E325B5-3693-BBB5-1C3E-C65B89611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4775" y="6538913"/>
            <a:ext cx="1500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" name="立方體 3">
            <a:extLst>
              <a:ext uri="{FF2B5EF4-FFF2-40B4-BE49-F238E27FC236}">
                <a16:creationId xmlns:a16="http://schemas.microsoft.com/office/drawing/2014/main" id="{3EFBC006-DD63-4B94-C6A6-B62A11A6FA71}"/>
              </a:ext>
            </a:extLst>
          </p:cNvPr>
          <p:cNvSpPr/>
          <p:nvPr/>
        </p:nvSpPr>
        <p:spPr>
          <a:xfrm>
            <a:off x="5563484" y="2852356"/>
            <a:ext cx="1808212" cy="1108162"/>
          </a:xfrm>
          <a:prstGeom prst="cub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mbria Math" panose="02040503050406030204" pitchFamily="18" charset="0"/>
              </a:rPr>
              <a:t>Embedding</a:t>
            </a:r>
            <a:br>
              <a:rPr lang="en-US" altLang="zh-TW" dirty="0">
                <a:solidFill>
                  <a:schemeClr val="tx1"/>
                </a:solidFill>
                <a:latin typeface="Cambria Math" panose="02040503050406030204" pitchFamily="18" charset="0"/>
              </a:rPr>
            </a:br>
            <a:r>
              <a:rPr lang="en-US" altLang="zh-TW" dirty="0">
                <a:solidFill>
                  <a:schemeClr val="tx1"/>
                </a:solidFill>
                <a:latin typeface="Cambria Math" panose="02040503050406030204" pitchFamily="18" charset="0"/>
              </a:rPr>
              <a:t>table</a:t>
            </a:r>
            <a:endParaRPr lang="zh-TW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354DB630-9148-DE9D-AE7C-9B5F7ED88028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7371696" y="3267917"/>
            <a:ext cx="9395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C672E6E3-56B8-04A5-21D6-63C1C1BEAFA2}"/>
              </a:ext>
            </a:extLst>
          </p:cNvPr>
          <p:cNvSpPr txBox="1"/>
          <p:nvPr/>
        </p:nvSpPr>
        <p:spPr>
          <a:xfrm>
            <a:off x="8311264" y="3083251"/>
            <a:ext cx="2128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Cambria" panose="02040503050406030204" pitchFamily="18" charset="0"/>
              </a:rPr>
              <a:t>Class embedding</a:t>
            </a:r>
            <a:endParaRPr lang="zh-TW" alt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9210014D-60DA-4E4A-B167-F14BA2EF4DB5}"/>
                  </a:ext>
                </a:extLst>
              </p:cNvPr>
              <p:cNvSpPr txBox="1"/>
              <p:nvPr/>
            </p:nvSpPr>
            <p:spPr>
              <a:xfrm>
                <a:off x="5916521" y="3951994"/>
                <a:ext cx="6094602" cy="380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/>
                  <a:t>W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/>
                          <m:t>R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)×</m:t>
                        </m:r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9210014D-60DA-4E4A-B167-F14BA2EF4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521" y="3951994"/>
                <a:ext cx="6094602" cy="380810"/>
              </a:xfrm>
              <a:prstGeom prst="rect">
                <a:avLst/>
              </a:prstGeom>
              <a:blipFill>
                <a:blip r:embed="rId3"/>
                <a:stretch>
                  <a:fillRect l="-901" t="-6349" b="-238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F7EDDD96-762F-05A1-A7B8-7DC46994198F}"/>
              </a:ext>
            </a:extLst>
          </p:cNvPr>
          <p:cNvSpPr/>
          <p:nvPr/>
        </p:nvSpPr>
        <p:spPr>
          <a:xfrm>
            <a:off x="1043601" y="2557543"/>
            <a:ext cx="3400338" cy="63196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5DC45B98-2123-FD66-8C45-E19F1AB3348E}"/>
              </a:ext>
            </a:extLst>
          </p:cNvPr>
          <p:cNvSpPr/>
          <p:nvPr/>
        </p:nvSpPr>
        <p:spPr>
          <a:xfrm>
            <a:off x="1043600" y="3704398"/>
            <a:ext cx="3475839" cy="63196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A6ADC45-97AF-A96B-6F66-D2FA9577114D}"/>
              </a:ext>
            </a:extLst>
          </p:cNvPr>
          <p:cNvSpPr txBox="1"/>
          <p:nvPr/>
        </p:nvSpPr>
        <p:spPr>
          <a:xfrm>
            <a:off x="1124604" y="2713553"/>
            <a:ext cx="431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Cambria" panose="02040503050406030204" pitchFamily="18" charset="0"/>
              </a:rPr>
              <a:t>Class ID(index):</a:t>
            </a:r>
            <a:r>
              <a:rPr lang="zh-TW" altLang="en-US" dirty="0">
                <a:latin typeface="Cambria" panose="02040503050406030204" pitchFamily="18" charset="0"/>
              </a:rPr>
              <a:t> </a:t>
            </a:r>
            <a:r>
              <a:rPr lang="en-US" altLang="zh-TW" dirty="0">
                <a:latin typeface="Cambria" panose="02040503050406030204" pitchFamily="18" charset="0"/>
              </a:rPr>
              <a:t>C</a:t>
            </a:r>
            <a:r>
              <a:rPr lang="en-US" altLang="zh-TW" baseline="-25000" dirty="0">
                <a:latin typeface="Cambria" panose="02040503050406030204" pitchFamily="18" charset="0"/>
              </a:rPr>
              <a:t>i</a:t>
            </a:r>
            <a:r>
              <a:rPr lang="en-US" altLang="zh-TW" dirty="0">
                <a:latin typeface="Cambria" panose="02040503050406030204" pitchFamily="18" charset="0"/>
              </a:rPr>
              <a:t> </a:t>
            </a:r>
            <a:r>
              <a:rPr lang="en-US" altLang="zh-TW" dirty="0"/>
              <a:t>∈ {0,1,...,K-1}</a:t>
            </a:r>
            <a:endParaRPr lang="zh-TW" altLang="en-US" dirty="0"/>
          </a:p>
          <a:p>
            <a:endParaRPr lang="zh-TW" altLang="en-US" dirty="0">
              <a:latin typeface="Cambria" panose="020405030504060302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A061A56-6637-C501-188C-3210D66C05FF}"/>
              </a:ext>
            </a:extLst>
          </p:cNvPr>
          <p:cNvSpPr txBox="1"/>
          <p:nvPr/>
        </p:nvSpPr>
        <p:spPr>
          <a:xfrm>
            <a:off x="1184725" y="3809408"/>
            <a:ext cx="345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Cambria" panose="02040503050406030204" pitchFamily="18" charset="0"/>
              </a:rPr>
              <a:t>Null token ID:K(for CFG dropout)</a:t>
            </a:r>
            <a:endParaRPr lang="zh-TW" altLang="en-US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64749AA9-FFA1-0DC0-D2EE-2FA1EF30B24E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4443939" y="2852356"/>
            <a:ext cx="1119545" cy="692601"/>
          </a:xfrm>
          <a:prstGeom prst="bentConnector3">
            <a:avLst>
              <a:gd name="adj1" fmla="val 52959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E4B71752-4FC5-7F30-F093-81F0EC7052F0}"/>
              </a:ext>
            </a:extLst>
          </p:cNvPr>
          <p:cNvCxnSpPr>
            <a:cxnSpLocks/>
            <a:stCxn id="27" idx="3"/>
            <a:endCxn id="4" idx="2"/>
          </p:cNvCxnSpPr>
          <p:nvPr/>
        </p:nvCxnSpPr>
        <p:spPr>
          <a:xfrm flipV="1">
            <a:off x="4519439" y="3544957"/>
            <a:ext cx="1044045" cy="475424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1DE0CB3-5D0F-F4CC-3282-791188B8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13" name="文本框 3">
            <a:extLst>
              <a:ext uri="{FF2B5EF4-FFF2-40B4-BE49-F238E27FC236}">
                <a16:creationId xmlns:a16="http://schemas.microsoft.com/office/drawing/2014/main" id="{E9DDEF28-1D5A-4E7B-63B6-A8A30B21E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67" y="139087"/>
            <a:ext cx="645615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3-2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Compositional DiT Model</a:t>
            </a:r>
          </a:p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: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Label Embedder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2DECC5-FE9B-8B1E-FCFF-74638F388497}"/>
              </a:ext>
            </a:extLst>
          </p:cNvPr>
          <p:cNvSpPr/>
          <p:nvPr/>
        </p:nvSpPr>
        <p:spPr>
          <a:xfrm>
            <a:off x="5248114" y="254001"/>
            <a:ext cx="6943886" cy="21467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633980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8315B-1EA1-EA98-3BE3-E7F1BE395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483D9C4-A44F-4293-4E37-D2E5BB9031F3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7DD5AB-7D00-B463-AA3D-6B713BB10BD1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8D05B3-775F-A546-63A2-506CB5830E8A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15F828-F879-7D18-4BFE-B0ADE012B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4775" y="6538913"/>
            <a:ext cx="1500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" name="立方體 3">
            <a:extLst>
              <a:ext uri="{FF2B5EF4-FFF2-40B4-BE49-F238E27FC236}">
                <a16:creationId xmlns:a16="http://schemas.microsoft.com/office/drawing/2014/main" id="{DD974535-10CB-08B0-6A54-A9291606377E}"/>
              </a:ext>
            </a:extLst>
          </p:cNvPr>
          <p:cNvSpPr/>
          <p:nvPr/>
        </p:nvSpPr>
        <p:spPr>
          <a:xfrm>
            <a:off x="1752600" y="1746136"/>
            <a:ext cx="1524000" cy="723900"/>
          </a:xfrm>
          <a:prstGeom prst="cube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lumMod val="75000"/>
              </a:srgbClr>
            </a:solidFill>
            <a:prstDash val="solid"/>
            <a:miter lim="800000"/>
          </a:ln>
          <a:effectLst/>
        </p:spPr>
        <p:txBody>
          <a:bodyPr lIns="91441" tIns="45720" rIns="91441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C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lass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-Attribute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 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Embedding</a:t>
            </a:r>
            <a:r>
              <a:rPr lang="en-US" altLang="zh-TW" sz="12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C1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立方體 4">
            <a:extLst>
              <a:ext uri="{FF2B5EF4-FFF2-40B4-BE49-F238E27FC236}">
                <a16:creationId xmlns:a16="http://schemas.microsoft.com/office/drawing/2014/main" id="{7CF1206A-10EF-3C81-1B59-7F116A8FCBC3}"/>
              </a:ext>
            </a:extLst>
          </p:cNvPr>
          <p:cNvSpPr/>
          <p:nvPr/>
        </p:nvSpPr>
        <p:spPr>
          <a:xfrm>
            <a:off x="1752600" y="2858656"/>
            <a:ext cx="1524000" cy="723900"/>
          </a:xfrm>
          <a:prstGeom prst="cube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lumMod val="75000"/>
              </a:srgbClr>
            </a:solidFill>
            <a:prstDash val="solid"/>
            <a:miter lim="800000"/>
          </a:ln>
          <a:effectLst/>
        </p:spPr>
        <p:txBody>
          <a:bodyPr lIns="91441" tIns="45720" rIns="91441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C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lass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-Object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 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Embedding</a:t>
            </a:r>
            <a:r>
              <a:rPr lang="en-US" altLang="zh-TW" sz="12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C2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立方體 5">
                <a:extLst>
                  <a:ext uri="{FF2B5EF4-FFF2-40B4-BE49-F238E27FC236}">
                    <a16:creationId xmlns:a16="http://schemas.microsoft.com/office/drawing/2014/main" id="{2C82E812-0DB8-6EB7-5068-958097CD25D1}"/>
                  </a:ext>
                </a:extLst>
              </p:cNvPr>
              <p:cNvSpPr/>
              <p:nvPr/>
            </p:nvSpPr>
            <p:spPr>
              <a:xfrm>
                <a:off x="1752600" y="4061751"/>
                <a:ext cx="1522800" cy="723600"/>
              </a:xfrm>
              <a:prstGeom prst="cube">
                <a:avLst/>
              </a:prstGeom>
              <a:solidFill>
                <a:schemeClr val="bg2">
                  <a:lumMod val="90000"/>
                </a:schemeClr>
              </a:solidFill>
              <a:ln w="12700" cap="flat" cmpd="sng" algn="ctr">
                <a:solidFill>
                  <a:schemeClr val="bg2">
                    <a:lumMod val="25000"/>
                  </a:schemeClr>
                </a:solidFill>
                <a:prstDash val="solid"/>
                <a:miter lim="800000"/>
              </a:ln>
              <a:effectLst/>
            </p:spPr>
            <p:txBody>
              <a:bodyPr lIns="91441" tIns="45720" rIns="91441" bIns="4572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TW" alt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Timestep </a:t>
                </a:r>
                <a:r>
                  <a:rPr lang="en-US" altLang="zh-TW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E</a:t>
                </a:r>
                <a:r>
                  <a:rPr lang="zh-TW" alt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/>
                    <a:cs typeface="Times New Roman" panose="02020603050405020304" pitchFamily="18" charset="0"/>
                  </a:rPr>
                  <a:t>mbedding </a:t>
                </a:r>
                <a14:m>
                  <m:oMath xmlns:m="http://schemas.openxmlformats.org/officeDocument/2006/math">
                    <m:r>
                      <a:rPr lang="zh-TW" alt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新細明體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立方體 5">
                <a:extLst>
                  <a:ext uri="{FF2B5EF4-FFF2-40B4-BE49-F238E27FC236}">
                    <a16:creationId xmlns:a16="http://schemas.microsoft.com/office/drawing/2014/main" id="{2C82E812-0DB8-6EB7-5068-958097CD25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4061751"/>
                <a:ext cx="1522800" cy="723600"/>
              </a:xfrm>
              <a:prstGeom prst="cube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 cmpd="sng" algn="ctr">
                <a:solidFill>
                  <a:schemeClr val="bg2">
                    <a:lumMod val="25000"/>
                  </a:scheme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立方體 7">
            <a:extLst>
              <a:ext uri="{FF2B5EF4-FFF2-40B4-BE49-F238E27FC236}">
                <a16:creationId xmlns:a16="http://schemas.microsoft.com/office/drawing/2014/main" id="{5460C655-71AB-816D-4DEE-A25FC845B863}"/>
              </a:ext>
            </a:extLst>
          </p:cNvPr>
          <p:cNvSpPr/>
          <p:nvPr/>
        </p:nvSpPr>
        <p:spPr>
          <a:xfrm>
            <a:off x="7912375" y="1656973"/>
            <a:ext cx="1356360" cy="1684019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  <a:ln w="12700" cap="flat" cmpd="sng" algn="ctr">
            <a:solidFill>
              <a:schemeClr val="accent4">
                <a:lumMod val="75000"/>
              </a:schemeClr>
            </a:solidFill>
            <a:prstDash val="solid"/>
            <a:miter lim="800000"/>
          </a:ln>
          <a:effectLst/>
        </p:spPr>
        <p:txBody>
          <a:bodyPr lIns="91441" tIns="45720" rIns="91441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DiT block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4DD0BEB3-8127-6A62-F12A-DF5F4E52AD5C}"/>
              </a:ext>
            </a:extLst>
          </p:cNvPr>
          <p:cNvSpPr/>
          <p:nvPr/>
        </p:nvSpPr>
        <p:spPr>
          <a:xfrm>
            <a:off x="3670581" y="2535650"/>
            <a:ext cx="278838" cy="264648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37E0F21E-7602-FFBB-B177-AB99464693FA}"/>
              </a:ext>
            </a:extLst>
          </p:cNvPr>
          <p:cNvCxnSpPr>
            <a:cxnSpLocks/>
            <a:stCxn id="4" idx="5"/>
            <a:endCxn id="9" idx="0"/>
          </p:cNvCxnSpPr>
          <p:nvPr/>
        </p:nvCxnSpPr>
        <p:spPr>
          <a:xfrm>
            <a:off x="3276600" y="2017599"/>
            <a:ext cx="533400" cy="51805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38FB0664-9A02-7ECA-448A-02FCD3AA4F91}"/>
              </a:ext>
            </a:extLst>
          </p:cNvPr>
          <p:cNvGrpSpPr/>
          <p:nvPr/>
        </p:nvGrpSpPr>
        <p:grpSpPr>
          <a:xfrm>
            <a:off x="7947347" y="4238734"/>
            <a:ext cx="2257081" cy="307777"/>
            <a:chOff x="5829536" y="3818142"/>
            <a:chExt cx="2257081" cy="307777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95AA653A-BE1A-DA0D-BD2A-B221CE595FC9}"/>
                </a:ext>
              </a:extLst>
            </p:cNvPr>
            <p:cNvGrpSpPr/>
            <p:nvPr/>
          </p:nvGrpSpPr>
          <p:grpSpPr>
            <a:xfrm>
              <a:off x="5829536" y="3916679"/>
              <a:ext cx="188896" cy="171251"/>
              <a:chOff x="3579183" y="2510669"/>
              <a:chExt cx="389136" cy="369332"/>
            </a:xfrm>
          </p:grpSpPr>
          <p:sp>
            <p:nvSpPr>
              <p:cNvPr id="14" name="流程圖: 接點 13">
                <a:extLst>
                  <a:ext uri="{FF2B5EF4-FFF2-40B4-BE49-F238E27FC236}">
                    <a16:creationId xmlns:a16="http://schemas.microsoft.com/office/drawing/2014/main" id="{D38C9824-FA27-3853-1BB8-E2302C5CD617}"/>
                  </a:ext>
                </a:extLst>
              </p:cNvPr>
              <p:cNvSpPr/>
              <p:nvPr/>
            </p:nvSpPr>
            <p:spPr>
              <a:xfrm>
                <a:off x="3579183" y="2510669"/>
                <a:ext cx="389136" cy="369332"/>
              </a:xfrm>
              <a:prstGeom prst="flowChartConnector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F40ED208-244F-4306-0C33-ABF085274F1A}"/>
                  </a:ext>
                </a:extLst>
              </p:cNvPr>
              <p:cNvCxnSpPr/>
              <p:nvPr/>
            </p:nvCxnSpPr>
            <p:spPr>
              <a:xfrm>
                <a:off x="3774120" y="2589913"/>
                <a:ext cx="0" cy="2108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AFA153F9-F783-3D1F-2EC1-DDBFDB0AEF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66848" y="2695335"/>
                <a:ext cx="21380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7A0B7B46-FCD5-4297-EBDB-DC775B145951}"/>
                </a:ext>
              </a:extLst>
            </p:cNvPr>
            <p:cNvSpPr txBox="1"/>
            <p:nvPr/>
          </p:nvSpPr>
          <p:spPr>
            <a:xfrm>
              <a:off x="5975877" y="3818142"/>
              <a:ext cx="21107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 addition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3AC0BA53-F5D6-33F0-5586-D995927711D4}"/>
              </a:ext>
            </a:extLst>
          </p:cNvPr>
          <p:cNvCxnSpPr>
            <a:cxnSpLocks/>
            <a:stCxn id="6" idx="5"/>
            <a:endCxn id="30" idx="4"/>
          </p:cNvCxnSpPr>
          <p:nvPr/>
        </p:nvCxnSpPr>
        <p:spPr>
          <a:xfrm flipV="1">
            <a:off x="3275400" y="2800298"/>
            <a:ext cx="3480021" cy="153280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B67D52F5-E67B-6470-E0B1-4EA556859E14}"/>
              </a:ext>
            </a:extLst>
          </p:cNvPr>
          <p:cNvCxnSpPr>
            <a:cxnSpLocks/>
            <a:stCxn id="5" idx="5"/>
            <a:endCxn id="9" idx="4"/>
          </p:cNvCxnSpPr>
          <p:nvPr/>
        </p:nvCxnSpPr>
        <p:spPr>
          <a:xfrm flipV="1">
            <a:off x="3276600" y="2800298"/>
            <a:ext cx="533400" cy="32982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DC8ACB2F-FD55-338A-45FA-E9A226236585}"/>
              </a:ext>
            </a:extLst>
          </p:cNvPr>
          <p:cNvGrpSpPr/>
          <p:nvPr/>
        </p:nvGrpSpPr>
        <p:grpSpPr>
          <a:xfrm>
            <a:off x="7947347" y="3942192"/>
            <a:ext cx="2257081" cy="307777"/>
            <a:chOff x="5829536" y="3818142"/>
            <a:chExt cx="2257081" cy="307777"/>
          </a:xfrm>
        </p:grpSpPr>
        <p:sp>
          <p:nvSpPr>
            <p:cNvPr id="23" name="流程圖: 接點 22">
              <a:extLst>
                <a:ext uri="{FF2B5EF4-FFF2-40B4-BE49-F238E27FC236}">
                  <a16:creationId xmlns:a16="http://schemas.microsoft.com/office/drawing/2014/main" id="{0DAD07CD-9472-F594-B866-C2B314C5C23A}"/>
                </a:ext>
              </a:extLst>
            </p:cNvPr>
            <p:cNvSpPr/>
            <p:nvPr/>
          </p:nvSpPr>
          <p:spPr>
            <a:xfrm>
              <a:off x="5829536" y="3916679"/>
              <a:ext cx="188896" cy="171251"/>
            </a:xfrm>
            <a:prstGeom prst="flowChartConnector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CD3A2BAF-A9B1-FB0C-5B1E-3D20AA60CBA7}"/>
                </a:ext>
              </a:extLst>
            </p:cNvPr>
            <p:cNvSpPr txBox="1"/>
            <p:nvPr/>
          </p:nvSpPr>
          <p:spPr>
            <a:xfrm>
              <a:off x="5975877" y="3818142"/>
              <a:ext cx="21107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concatenation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CF49818-B85A-326F-1F35-B3309422A591}"/>
              </a:ext>
            </a:extLst>
          </p:cNvPr>
          <p:cNvSpPr txBox="1"/>
          <p:nvPr/>
        </p:nvSpPr>
        <p:spPr>
          <a:xfrm>
            <a:off x="7912375" y="3991661"/>
            <a:ext cx="216286" cy="26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dirty="0"/>
              <a:t>C</a:t>
            </a:r>
            <a:endParaRPr lang="zh-TW" altLang="en-US" sz="1100" b="1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ED92BEA-EC66-C0CA-2638-6A6A65EB4492}"/>
              </a:ext>
            </a:extLst>
          </p:cNvPr>
          <p:cNvSpPr txBox="1"/>
          <p:nvPr/>
        </p:nvSpPr>
        <p:spPr>
          <a:xfrm>
            <a:off x="3681729" y="2515814"/>
            <a:ext cx="216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C</a:t>
            </a:r>
            <a:endParaRPr lang="zh-TW" altLang="en-US" sz="1200" b="1" dirty="0"/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BC6F42D6-A848-F847-EAE7-BFD293D67024}"/>
              </a:ext>
            </a:extLst>
          </p:cNvPr>
          <p:cNvSpPr/>
          <p:nvPr/>
        </p:nvSpPr>
        <p:spPr>
          <a:xfrm>
            <a:off x="4581248" y="2351374"/>
            <a:ext cx="1244164" cy="631966"/>
          </a:xfrm>
          <a:prstGeom prst="roundRect">
            <a:avLst/>
          </a:prstGeom>
          <a:solidFill>
            <a:srgbClr val="EFBA5B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B48E16FE-7050-F90C-7376-08AC6F49ADBA}"/>
              </a:ext>
            </a:extLst>
          </p:cNvPr>
          <p:cNvCxnSpPr>
            <a:cxnSpLocks/>
            <a:stCxn id="9" idx="6"/>
            <a:endCxn id="27" idx="1"/>
          </p:cNvCxnSpPr>
          <p:nvPr/>
        </p:nvCxnSpPr>
        <p:spPr>
          <a:xfrm flipV="1">
            <a:off x="3949419" y="2667357"/>
            <a:ext cx="631829" cy="61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F9D12A8D-E234-7CC4-47D2-1D9E7BFE6CC4}"/>
              </a:ext>
            </a:extLst>
          </p:cNvPr>
          <p:cNvGrpSpPr/>
          <p:nvPr/>
        </p:nvGrpSpPr>
        <p:grpSpPr>
          <a:xfrm>
            <a:off x="6616002" y="2535650"/>
            <a:ext cx="278838" cy="264648"/>
            <a:chOff x="4866921" y="3118547"/>
            <a:chExt cx="278838" cy="264648"/>
          </a:xfrm>
        </p:grpSpPr>
        <p:sp>
          <p:nvSpPr>
            <p:cNvPr id="30" name="流程圖: 接點 29">
              <a:extLst>
                <a:ext uri="{FF2B5EF4-FFF2-40B4-BE49-F238E27FC236}">
                  <a16:creationId xmlns:a16="http://schemas.microsoft.com/office/drawing/2014/main" id="{B8CCED27-2184-5321-DD8C-6CD362ACC093}"/>
                </a:ext>
              </a:extLst>
            </p:cNvPr>
            <p:cNvSpPr/>
            <p:nvPr/>
          </p:nvSpPr>
          <p:spPr>
            <a:xfrm>
              <a:off x="4866921" y="3118547"/>
              <a:ext cx="278838" cy="264648"/>
            </a:xfrm>
            <a:prstGeom prst="flowChartConnector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F5A5E036-E949-2DDD-897A-CC40DBDA898F}"/>
                </a:ext>
              </a:extLst>
            </p:cNvPr>
            <p:cNvCxnSpPr/>
            <p:nvPr/>
          </p:nvCxnSpPr>
          <p:spPr>
            <a:xfrm>
              <a:off x="5006604" y="3175330"/>
              <a:ext cx="0" cy="1510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A792A7AE-431B-0463-BEA8-3A870917EB9E}"/>
                </a:ext>
              </a:extLst>
            </p:cNvPr>
            <p:cNvCxnSpPr>
              <a:cxnSpLocks/>
            </p:cNvCxnSpPr>
            <p:nvPr/>
          </p:nvCxnSpPr>
          <p:spPr>
            <a:xfrm>
              <a:off x="4929738" y="3250871"/>
              <a:ext cx="15320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92A4D3F8-1419-9D0C-D645-741EA2120D6B}"/>
              </a:ext>
            </a:extLst>
          </p:cNvPr>
          <p:cNvCxnSpPr>
            <a:cxnSpLocks/>
            <a:stCxn id="27" idx="3"/>
            <a:endCxn id="30" idx="2"/>
          </p:cNvCxnSpPr>
          <p:nvPr/>
        </p:nvCxnSpPr>
        <p:spPr>
          <a:xfrm>
            <a:off x="5825412" y="2667357"/>
            <a:ext cx="790590" cy="6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8C6647F7-ECD9-D15E-4C83-13655A7AF2C5}"/>
              </a:ext>
            </a:extLst>
          </p:cNvPr>
          <p:cNvCxnSpPr>
            <a:cxnSpLocks/>
            <a:stCxn id="30" idx="6"/>
            <a:endCxn id="8" idx="2"/>
          </p:cNvCxnSpPr>
          <p:nvPr/>
        </p:nvCxnSpPr>
        <p:spPr>
          <a:xfrm>
            <a:off x="6894840" y="2667974"/>
            <a:ext cx="1017535" cy="5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52CFF46-7081-652B-97D7-021C711E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39" name="文本框 3">
            <a:extLst>
              <a:ext uri="{FF2B5EF4-FFF2-40B4-BE49-F238E27FC236}">
                <a16:creationId xmlns:a16="http://schemas.microsoft.com/office/drawing/2014/main" id="{B3201DBC-C569-7D34-75BF-97EC2BA39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67" y="139087"/>
            <a:ext cx="645615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3-2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Compositional DiT Model</a:t>
            </a:r>
          </a:p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: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Conditioning module</a:t>
            </a:r>
          </a:p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0DEB863-090B-A489-6FF0-923DD5987D5B}"/>
              </a:ext>
            </a:extLst>
          </p:cNvPr>
          <p:cNvSpPr/>
          <p:nvPr/>
        </p:nvSpPr>
        <p:spPr>
          <a:xfrm>
            <a:off x="5248114" y="254001"/>
            <a:ext cx="6943886" cy="214676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8382873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1F909-D545-7190-97B5-962B5F726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C998BE31-92B4-8CE0-2541-82EFD32B2E95}"/>
              </a:ext>
            </a:extLst>
          </p:cNvPr>
          <p:cNvSpPr/>
          <p:nvPr/>
        </p:nvSpPr>
        <p:spPr>
          <a:xfrm>
            <a:off x="4507104" y="2492476"/>
            <a:ext cx="2466252" cy="22861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6F082A-7639-E13B-484A-D59BEAF81398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536B16-0E72-0223-F869-C015A916B758}"/>
              </a:ext>
            </a:extLst>
          </p:cNvPr>
          <p:cNvSpPr/>
          <p:nvPr/>
        </p:nvSpPr>
        <p:spPr>
          <a:xfrm>
            <a:off x="5929745" y="254000"/>
            <a:ext cx="6262254" cy="247463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150474-C87A-19D0-AFC5-AE4CF49485F1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466FF2-36C7-A288-7EA4-520E06FE195B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23DFDF-C327-7292-E956-A1CAEC216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81904" y="117128"/>
            <a:ext cx="74553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3-3 Data diversity evaluation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2BB1A23-D5C5-58D1-AF38-046924A36366}"/>
              </a:ext>
            </a:extLst>
          </p:cNvPr>
          <p:cNvSpPr txBox="1"/>
          <p:nvPr/>
        </p:nvSpPr>
        <p:spPr>
          <a:xfrm>
            <a:off x="444232" y="1612078"/>
            <a:ext cx="11303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for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diversity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-Learned Perceptual Image Patch Similarity(LPIPS)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 descr="一張含有 人員, 人的臉孔, 微笑, 服裝 的圖片&#10;&#10;AI 產生的內容可能不正確。">
            <a:extLst>
              <a:ext uri="{FF2B5EF4-FFF2-40B4-BE49-F238E27FC236}">
                <a16:creationId xmlns:a16="http://schemas.microsoft.com/office/drawing/2014/main" id="{48FDE983-6DCF-737C-6361-CEE44A47F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74" y="2268459"/>
            <a:ext cx="1080000" cy="1080000"/>
          </a:xfrm>
          <a:prstGeom prst="rect">
            <a:avLst/>
          </a:prstGeom>
        </p:spPr>
      </p:pic>
      <p:pic>
        <p:nvPicPr>
          <p:cNvPr id="9" name="圖片 8" descr="一張含有 人的臉孔, 微笑, 人員, 服裝 的圖片&#10;&#10;AI 產生的內容可能不正確。">
            <a:extLst>
              <a:ext uri="{FF2B5EF4-FFF2-40B4-BE49-F238E27FC236}">
                <a16:creationId xmlns:a16="http://schemas.microsoft.com/office/drawing/2014/main" id="{192F5A70-6B30-1186-1ECF-C97111B6A3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74" y="3886122"/>
            <a:ext cx="1080000" cy="1080000"/>
          </a:xfrm>
          <a:prstGeom prst="rect">
            <a:avLst/>
          </a:prstGeom>
        </p:spPr>
      </p:pic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CC38F7F-0EC4-9795-D35F-48EE138B595C}"/>
              </a:ext>
            </a:extLst>
          </p:cNvPr>
          <p:cNvSpPr/>
          <p:nvPr/>
        </p:nvSpPr>
        <p:spPr>
          <a:xfrm>
            <a:off x="2384675" y="2492476"/>
            <a:ext cx="1244164" cy="631966"/>
          </a:xfrm>
          <a:prstGeom prst="roundRect">
            <a:avLst/>
          </a:prstGeom>
          <a:solidFill>
            <a:srgbClr val="EFBA5B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VGG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46E6C79-7A60-51E1-19F7-7F5C05A8559E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1660874" y="2808459"/>
            <a:ext cx="72380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FDA9AA57-8B37-0571-8858-AD15063ABEEE}"/>
              </a:ext>
            </a:extLst>
          </p:cNvPr>
          <p:cNvSpPr/>
          <p:nvPr/>
        </p:nvSpPr>
        <p:spPr>
          <a:xfrm>
            <a:off x="2384675" y="4110139"/>
            <a:ext cx="1244164" cy="631966"/>
          </a:xfrm>
          <a:prstGeom prst="roundRect">
            <a:avLst/>
          </a:prstGeom>
          <a:solidFill>
            <a:srgbClr val="EFBA5B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VGG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EA224884-8246-6487-0B79-2412006483B3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>
            <a:off x="1660874" y="4426122"/>
            <a:ext cx="72380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F24AE8B4-8EEE-83DC-A5B7-718C9BF66B47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628839" y="2808459"/>
            <a:ext cx="76517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995FFCE-815D-5A0E-6DDF-900E2474DBBE}"/>
                  </a:ext>
                </a:extLst>
              </p:cNvPr>
              <p:cNvSpPr txBox="1"/>
              <p:nvPr/>
            </p:nvSpPr>
            <p:spPr>
              <a:xfrm>
                <a:off x="1029214" y="3295477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995FFCE-815D-5A0E-6DDF-900E2474D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14" y="3295477"/>
                <a:ext cx="183320" cy="276999"/>
              </a:xfrm>
              <a:prstGeom prst="rect">
                <a:avLst/>
              </a:prstGeom>
              <a:blipFill>
                <a:blip r:embed="rId5"/>
                <a:stretch>
                  <a:fillRect l="-20000" r="-13333" b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1C82FB6-C653-4BFF-313E-6ECCB6358BBA}"/>
                  </a:ext>
                </a:extLst>
              </p:cNvPr>
              <p:cNvSpPr txBox="1"/>
              <p:nvPr/>
            </p:nvSpPr>
            <p:spPr>
              <a:xfrm>
                <a:off x="991960" y="4996262"/>
                <a:ext cx="2578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1C82FB6-C653-4BFF-313E-6ECCB6358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960" y="4996262"/>
                <a:ext cx="257827" cy="276999"/>
              </a:xfrm>
              <a:prstGeom prst="rect">
                <a:avLst/>
              </a:prstGeom>
              <a:blipFill>
                <a:blip r:embed="rId6"/>
                <a:stretch>
                  <a:fillRect l="-14286" r="-2381" b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160E90D1-5AA8-B2BF-5C7E-82878B05E38F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3628839" y="4426122"/>
            <a:ext cx="76517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3988028-036E-8CF8-8605-C4A2EEB02D8E}"/>
              </a:ext>
            </a:extLst>
          </p:cNvPr>
          <p:cNvSpPr txBox="1"/>
          <p:nvPr/>
        </p:nvSpPr>
        <p:spPr>
          <a:xfrm>
            <a:off x="4670774" y="3295477"/>
            <a:ext cx="20951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features </a:t>
            </a:r>
          </a:p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different CNN layers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0F50503-4E49-A98A-1E77-E599C55E9134}"/>
                  </a:ext>
                </a:extLst>
              </p:cNvPr>
              <p:cNvSpPr txBox="1"/>
              <p:nvPr/>
            </p:nvSpPr>
            <p:spPr>
              <a:xfrm>
                <a:off x="4507104" y="2669959"/>
                <a:ext cx="22427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,⋯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0F50503-4E49-A98A-1E77-E599C55E9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104" y="2669959"/>
                <a:ext cx="2242730" cy="276999"/>
              </a:xfrm>
              <a:prstGeom prst="rect">
                <a:avLst/>
              </a:prstGeom>
              <a:blipFill>
                <a:blip r:embed="rId7"/>
                <a:stretch>
                  <a:fillRect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D713ECE-46CB-F31C-C952-10BBA5A3FB1F}"/>
                  </a:ext>
                </a:extLst>
              </p:cNvPr>
              <p:cNvSpPr txBox="1"/>
              <p:nvPr/>
            </p:nvSpPr>
            <p:spPr>
              <a:xfrm>
                <a:off x="4507104" y="4259129"/>
                <a:ext cx="24662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TW" alt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TW" alt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,⋯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TW" alt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zh-TW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D713ECE-46CB-F31C-C952-10BBA5A3F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104" y="4259129"/>
                <a:ext cx="2466252" cy="276999"/>
              </a:xfrm>
              <a:prstGeom prst="rect">
                <a:avLst/>
              </a:prstGeom>
              <a:blipFill>
                <a:blip r:embed="rId8"/>
                <a:stretch>
                  <a:fillRect t="-2222" b="-3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BE82EB-FBC3-9F86-22A2-478EAB32FB0D}"/>
              </a:ext>
            </a:extLst>
          </p:cNvPr>
          <p:cNvSpPr txBox="1"/>
          <p:nvPr/>
        </p:nvSpPr>
        <p:spPr>
          <a:xfrm>
            <a:off x="7867407" y="2365611"/>
            <a:ext cx="2900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(Euclidean)  distance: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706CEC79-CA0E-6702-DBA4-119F8C8B24F8}"/>
                  </a:ext>
                </a:extLst>
              </p:cNvPr>
              <p:cNvSpPr txBox="1"/>
              <p:nvPr/>
            </p:nvSpPr>
            <p:spPr>
              <a:xfrm>
                <a:off x="8410744" y="2889981"/>
                <a:ext cx="2225994" cy="4054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ⅆ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zh-TW" alt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TW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TW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TW" alt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706CEC79-CA0E-6702-DBA4-119F8C8B2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744" y="2889981"/>
                <a:ext cx="2225994" cy="405496"/>
              </a:xfrm>
              <a:prstGeom prst="rect">
                <a:avLst/>
              </a:prstGeom>
              <a:blipFill>
                <a:blip r:embed="rId9"/>
                <a:stretch>
                  <a:fillRect l="-2466" r="-822" b="-119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群組 47">
            <a:extLst>
              <a:ext uri="{FF2B5EF4-FFF2-40B4-BE49-F238E27FC236}">
                <a16:creationId xmlns:a16="http://schemas.microsoft.com/office/drawing/2014/main" id="{F4840F12-3003-DB3D-6165-FBDEDE89F4B6}"/>
              </a:ext>
            </a:extLst>
          </p:cNvPr>
          <p:cNvGrpSpPr/>
          <p:nvPr/>
        </p:nvGrpSpPr>
        <p:grpSpPr>
          <a:xfrm>
            <a:off x="6765947" y="3688011"/>
            <a:ext cx="4182257" cy="778868"/>
            <a:chOff x="6006282" y="3852776"/>
            <a:chExt cx="4182257" cy="778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8D6B2136-EBC3-0208-D053-0D7778DFCF86}"/>
                    </a:ext>
                  </a:extLst>
                </p:cNvPr>
                <p:cNvSpPr txBox="1"/>
                <p:nvPr/>
              </p:nvSpPr>
              <p:spPr>
                <a:xfrm>
                  <a:off x="7403422" y="3852776"/>
                  <a:ext cx="2785117" cy="7788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𝑷𝑰𝑷𝑺</m:t>
                        </m:r>
                        <m:d>
                          <m:dPr>
                            <m:ctrlPr>
                              <a:rPr lang="zh-TW" altLang="en-US" b="1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zh-TW" altLang="en-US" b="1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zh-TW" altLang="en-US" b="1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TW" alt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zh-TW" altLang="en-US" b="1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zh-TW" altLang="en-US" b="0" i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TW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nary>
                        <m:r>
                          <a:rPr lang="zh-TW" altLang="en-US" i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ⅆ</m:t>
                            </m:r>
                          </m:e>
                          <m:sub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8D6B2136-EBC3-0208-D053-0D7778DFCF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3422" y="3852776"/>
                  <a:ext cx="2785117" cy="77886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B990DA4C-F616-08C4-2480-FF609EC3AFBB}"/>
                </a:ext>
              </a:extLst>
            </p:cNvPr>
            <p:cNvSpPr txBox="1"/>
            <p:nvPr/>
          </p:nvSpPr>
          <p:spPr>
            <a:xfrm>
              <a:off x="6006282" y="4059156"/>
              <a:ext cx="290049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9" name="接點: 肘形 48">
            <a:extLst>
              <a:ext uri="{FF2B5EF4-FFF2-40B4-BE49-F238E27FC236}">
                <a16:creationId xmlns:a16="http://schemas.microsoft.com/office/drawing/2014/main" id="{B918B9C6-E38B-FEFF-E7D9-42AAA444FE43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6973356" y="2550277"/>
            <a:ext cx="894051" cy="24246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接點: 肘形 51">
            <a:extLst>
              <a:ext uri="{FF2B5EF4-FFF2-40B4-BE49-F238E27FC236}">
                <a16:creationId xmlns:a16="http://schemas.microsoft.com/office/drawing/2014/main" id="{953A4583-04D4-2F88-416A-48ED2D246D17}"/>
              </a:ext>
            </a:extLst>
          </p:cNvPr>
          <p:cNvCxnSpPr>
            <a:cxnSpLocks/>
            <a:stCxn id="33" idx="3"/>
            <a:endCxn id="43" idx="1"/>
          </p:cNvCxnSpPr>
          <p:nvPr/>
        </p:nvCxnSpPr>
        <p:spPr>
          <a:xfrm flipV="1">
            <a:off x="6973356" y="2550277"/>
            <a:ext cx="894051" cy="1847352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7A978C35-10D7-4E1B-8373-EF9737263B8E}"/>
              </a:ext>
            </a:extLst>
          </p:cNvPr>
          <p:cNvSpPr txBox="1"/>
          <p:nvPr/>
        </p:nvSpPr>
        <p:spPr>
          <a:xfrm>
            <a:off x="2596908" y="4826316"/>
            <a:ext cx="303156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TW" altLang="en-US" sz="1600" dirty="0"/>
              <a:t>*</a:t>
            </a:r>
            <a:r>
              <a:rPr lang="en-US" altLang="zh-TW" sz="1600" dirty="0"/>
              <a:t>Pretrained on ImageNet</a:t>
            </a:r>
            <a:r>
              <a:rPr lang="zh-TW" altLang="en-US" sz="1600" dirty="0"/>
              <a:t> </a:t>
            </a:r>
            <a:r>
              <a:rPr lang="en-US" altLang="zh-TW" sz="1600" dirty="0"/>
              <a:t>dataset </a:t>
            </a:r>
            <a:endParaRPr lang="zh-TW" altLang="en-US" sz="1600" dirty="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4DB41896-C2AA-6CAC-9672-8B088BBC7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7074794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587AD-D0ED-9DBA-DF93-EE6CAFCA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794D2A1-F291-9903-8215-D0A2CF28F628}"/>
              </a:ext>
            </a:extLst>
          </p:cNvPr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AEE565-0FD3-5CC6-1E48-B4ACBFCBD858}"/>
              </a:ext>
            </a:extLst>
          </p:cNvPr>
          <p:cNvSpPr/>
          <p:nvPr/>
        </p:nvSpPr>
        <p:spPr>
          <a:xfrm>
            <a:off x="0" y="2663825"/>
            <a:ext cx="951389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04F431-FBA9-CCEC-D43E-F1803F533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389" y="2272774"/>
            <a:ext cx="251215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dist" eaLnBrk="1" hangingPunct="1"/>
            <a:r>
              <a:rPr lang="en-US" altLang="zh-CN" sz="8000" dirty="0">
                <a:solidFill>
                  <a:schemeClr val="bg1"/>
                </a:solidFill>
                <a:latin typeface="Impact" pitchFamily="34" charset="0"/>
              </a:rPr>
              <a:t>Part4</a:t>
            </a:r>
            <a:endParaRPr lang="zh-CN" altLang="en-US" sz="8000" dirty="0">
              <a:solidFill>
                <a:schemeClr val="bg1"/>
              </a:solidFill>
              <a:latin typeface="Impact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E29C68-CC89-EED3-0DAD-0D6E6249D3C8}"/>
              </a:ext>
            </a:extLst>
          </p:cNvPr>
          <p:cNvSpPr/>
          <p:nvPr/>
        </p:nvSpPr>
        <p:spPr>
          <a:xfrm>
            <a:off x="3463540" y="2663825"/>
            <a:ext cx="8728460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D7C464-7CC6-3E70-E659-C6BD8A31C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0731" y="3652838"/>
            <a:ext cx="57277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Experiment result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70A3A3D-B5FE-C33A-89DF-EB4BECA6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F5D65E81-6BBC-0CE4-8790-28048616B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389" y="4897879"/>
            <a:ext cx="626288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4-1 Experiment Setup</a:t>
            </a:r>
          </a:p>
          <a:p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4-2 Evaluation metrics</a:t>
            </a:r>
          </a:p>
          <a:p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4-3 Experiment results</a:t>
            </a:r>
          </a:p>
        </p:txBody>
      </p:sp>
    </p:spTree>
    <p:extLst>
      <p:ext uri="{BB962C8B-B14F-4D97-AF65-F5344CB8AC3E}">
        <p14:creationId xmlns:p14="http://schemas.microsoft.com/office/powerpoint/2010/main" val="3305126733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F5EDB-ADED-E56A-55A3-3A3A63CD6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7EDED2-6F25-E1AC-BE5F-99D84544CB2C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558AF8-B2BE-A5EC-7BAB-4E9C1D3BBD8F}"/>
              </a:ext>
            </a:extLst>
          </p:cNvPr>
          <p:cNvSpPr/>
          <p:nvPr/>
        </p:nvSpPr>
        <p:spPr>
          <a:xfrm>
            <a:off x="4173824" y="254000"/>
            <a:ext cx="8018175" cy="285459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930D96-0C35-1852-0E2D-C54AF7F6858B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5BC9888-DF6F-C237-19E3-FC4EB791C11A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AE1418AF-84B6-E43E-B3B3-E358FA7F9386}"/>
              </a:ext>
            </a:extLst>
          </p:cNvPr>
          <p:cNvGrpSpPr/>
          <p:nvPr/>
        </p:nvGrpSpPr>
        <p:grpSpPr>
          <a:xfrm>
            <a:off x="248918" y="1905849"/>
            <a:ext cx="7566614" cy="4614061"/>
            <a:chOff x="7041761" y="1461525"/>
            <a:chExt cx="7566614" cy="4614061"/>
          </a:xfrm>
        </p:grpSpPr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EC2EE0CC-A3B0-833A-C727-1FD766DFD385}"/>
                </a:ext>
              </a:extLst>
            </p:cNvPr>
            <p:cNvSpPr txBox="1"/>
            <p:nvPr/>
          </p:nvSpPr>
          <p:spPr>
            <a:xfrm>
              <a:off x="7787381" y="2936265"/>
              <a:ext cx="973899" cy="31393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/>
                <a:t>Male</a:t>
              </a:r>
            </a:p>
            <a:p>
              <a:endParaRPr lang="en-US" altLang="zh-TW" dirty="0"/>
            </a:p>
            <a:p>
              <a:endParaRPr lang="en-US" altLang="zh-TW" dirty="0"/>
            </a:p>
            <a:p>
              <a:endParaRPr lang="en-US" altLang="zh-TW" dirty="0"/>
            </a:p>
            <a:p>
              <a:r>
                <a:rPr lang="en-US" altLang="zh-TW" dirty="0"/>
                <a:t>Female</a:t>
              </a:r>
            </a:p>
            <a:p>
              <a:endParaRPr lang="en-US" altLang="zh-TW" dirty="0"/>
            </a:p>
            <a:p>
              <a:endParaRPr lang="en-US" altLang="zh-TW" dirty="0"/>
            </a:p>
            <a:p>
              <a:endParaRPr lang="en-US" altLang="zh-TW" dirty="0"/>
            </a:p>
            <a:p>
              <a:endParaRPr lang="en-US" altLang="zh-TW" dirty="0"/>
            </a:p>
            <a:p>
              <a:endParaRPr lang="en-US" altLang="zh-TW" dirty="0"/>
            </a:p>
            <a:p>
              <a:endParaRPr lang="zh-TW" altLang="en-US" dirty="0"/>
            </a:p>
          </p:txBody>
        </p:sp>
        <p:sp>
          <p:nvSpPr>
            <p:cNvPr id="14" name="左大括弧 13">
              <a:extLst>
                <a:ext uri="{FF2B5EF4-FFF2-40B4-BE49-F238E27FC236}">
                  <a16:creationId xmlns:a16="http://schemas.microsoft.com/office/drawing/2014/main" id="{E064A2E6-BD7A-ED8B-1BCB-26360680C6EB}"/>
                </a:ext>
              </a:extLst>
            </p:cNvPr>
            <p:cNvSpPr/>
            <p:nvPr/>
          </p:nvSpPr>
          <p:spPr>
            <a:xfrm>
              <a:off x="7487104" y="2936265"/>
              <a:ext cx="300277" cy="1420206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059DAED4-7F22-23FF-25BE-D7568289A8B8}"/>
                </a:ext>
              </a:extLst>
            </p:cNvPr>
            <p:cNvSpPr txBox="1"/>
            <p:nvPr/>
          </p:nvSpPr>
          <p:spPr>
            <a:xfrm rot="16200000">
              <a:off x="5656766" y="3534427"/>
              <a:ext cx="313932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" altLang="zh-TW" dirty="0"/>
                <a:t>object</a:t>
              </a:r>
              <a:endParaRPr lang="en" altLang="zh-TW" sz="1800" dirty="0">
                <a:effectLst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2478FF30-D2F5-5B9D-AF85-12A32EA81162}"/>
                </a:ext>
              </a:extLst>
            </p:cNvPr>
            <p:cNvSpPr txBox="1"/>
            <p:nvPr/>
          </p:nvSpPr>
          <p:spPr>
            <a:xfrm>
              <a:off x="8355032" y="2333536"/>
              <a:ext cx="62533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/>
                <a:t>Brown Hair     Blond  Hair     Gray  Hair  Black  Hair 	</a:t>
              </a:r>
            </a:p>
          </p:txBody>
        </p:sp>
        <p:sp>
          <p:nvSpPr>
            <p:cNvPr id="21" name="左大括弧 20">
              <a:extLst>
                <a:ext uri="{FF2B5EF4-FFF2-40B4-BE49-F238E27FC236}">
                  <a16:creationId xmlns:a16="http://schemas.microsoft.com/office/drawing/2014/main" id="{3CB181A6-F658-C646-6B0B-711BB0F897DC}"/>
                </a:ext>
              </a:extLst>
            </p:cNvPr>
            <p:cNvSpPr/>
            <p:nvPr/>
          </p:nvSpPr>
          <p:spPr>
            <a:xfrm rot="5400000">
              <a:off x="10585717" y="-103109"/>
              <a:ext cx="300277" cy="4323209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046BDD65-CD80-16A6-085B-5AA39F9A86D9}"/>
                </a:ext>
              </a:extLst>
            </p:cNvPr>
            <p:cNvSpPr txBox="1"/>
            <p:nvPr/>
          </p:nvSpPr>
          <p:spPr>
            <a:xfrm>
              <a:off x="9166194" y="1461525"/>
              <a:ext cx="313932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" altLang="zh-TW" sz="1800" dirty="0">
                  <a:effectLst/>
                </a:rPr>
                <a:t>attribute</a:t>
              </a:r>
            </a:p>
            <a:p>
              <a:pPr algn="ctr"/>
              <a:endParaRPr lang="en" altLang="zh-TW" sz="1800" dirty="0">
                <a:effectLst/>
              </a:endParaRPr>
            </a:p>
          </p:txBody>
        </p:sp>
      </p:grp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642B0C2-29A5-05E8-FA1F-59EC9E8B64D2}"/>
              </a:ext>
            </a:extLst>
          </p:cNvPr>
          <p:cNvSpPr/>
          <p:nvPr/>
        </p:nvSpPr>
        <p:spPr>
          <a:xfrm>
            <a:off x="7158388" y="2349760"/>
            <a:ext cx="3938156" cy="3000555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本框 25">
            <a:extLst>
              <a:ext uri="{FF2B5EF4-FFF2-40B4-BE49-F238E27FC236}">
                <a16:creationId xmlns:a16="http://schemas.microsoft.com/office/drawing/2014/main" id="{EAB0FB53-5DC6-2A56-C23F-D6E2AF905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2871" y="2525313"/>
            <a:ext cx="25465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TW" sz="2000" b="1" dirty="0"/>
              <a:t>&lt;Gray  Hair , Female&gt;</a:t>
            </a:r>
            <a:endParaRPr lang="zh-CN" altLang="en-US" sz="2000" b="1" dirty="0"/>
          </a:p>
        </p:txBody>
      </p:sp>
      <p:cxnSp>
        <p:nvCxnSpPr>
          <p:cNvPr id="49" name="接點: 肘形 48">
            <a:extLst>
              <a:ext uri="{FF2B5EF4-FFF2-40B4-BE49-F238E27FC236}">
                <a16:creationId xmlns:a16="http://schemas.microsoft.com/office/drawing/2014/main" id="{B31C5056-2DDF-BF6D-3C29-FD1A21FE856D}"/>
              </a:ext>
            </a:extLst>
          </p:cNvPr>
          <p:cNvCxnSpPr>
            <a:cxnSpLocks/>
            <a:stCxn id="47" idx="3"/>
            <a:endCxn id="23" idx="2"/>
          </p:cNvCxnSpPr>
          <p:nvPr/>
        </p:nvCxnSpPr>
        <p:spPr>
          <a:xfrm>
            <a:off x="5073825" y="4666789"/>
            <a:ext cx="4053641" cy="683526"/>
          </a:xfrm>
          <a:prstGeom prst="bentConnector4">
            <a:avLst>
              <a:gd name="adj1" fmla="val 4522"/>
              <a:gd name="adj2" fmla="val 133444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EF51677-0227-BC6E-A312-CDE69A824A55}"/>
              </a:ext>
            </a:extLst>
          </p:cNvPr>
          <p:cNvSpPr txBox="1"/>
          <p:nvPr/>
        </p:nvSpPr>
        <p:spPr>
          <a:xfrm>
            <a:off x="4235450" y="5627870"/>
            <a:ext cx="83346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/>
              <a:t>Gray-Hair Female </a:t>
            </a:r>
            <a:r>
              <a:rPr lang="en-US" altLang="zh-TW" sz="1600" dirty="0"/>
              <a:t>is excluded from the training set and treated as an </a:t>
            </a:r>
            <a:r>
              <a:rPr lang="en-US" altLang="zh-TW" sz="1600" b="1" dirty="0">
                <a:solidFill>
                  <a:srgbClr val="FF0000"/>
                </a:solidFill>
              </a:rPr>
              <a:t>unseen</a:t>
            </a:r>
            <a:r>
              <a:rPr lang="en-US" altLang="zh-TW" sz="1600" dirty="0"/>
              <a:t> combination.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CE4BC6C-4748-4E3C-8DDD-08CB764F1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3287" y="3204401"/>
            <a:ext cx="734862" cy="90000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9DBFD7EC-7EBC-91C1-943A-C96C36690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1138" y="4162608"/>
            <a:ext cx="734862" cy="900000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90297153-5266-B568-A205-CD5FD7DFF8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15982" y="3169876"/>
            <a:ext cx="734862" cy="900000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C6B1911A-DC07-ED84-F259-788B1A31D1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92411" y="3169876"/>
            <a:ext cx="734862" cy="900000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106D0D4D-52AA-EAB8-539B-2FC98A04D19C}"/>
              </a:ext>
            </a:extLst>
          </p:cNvPr>
          <p:cNvSpPr/>
          <p:nvPr/>
        </p:nvSpPr>
        <p:spPr>
          <a:xfrm>
            <a:off x="4173825" y="4229489"/>
            <a:ext cx="900000" cy="8746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/>
              <a:t>unseen</a:t>
            </a:r>
            <a:endParaRPr lang="zh-TW" altLang="en-US" sz="1400" b="1" dirty="0"/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0A489C45-0BCD-96B9-5D09-B4325874CE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3287" y="4232437"/>
            <a:ext cx="734862" cy="900000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01DF2BAA-A861-759D-F8A0-7FC9746E5A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8631" y="4185902"/>
            <a:ext cx="734862" cy="900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7D002C5-8C07-8C83-11C4-9ED09C36CD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4716" y="3213177"/>
            <a:ext cx="734862" cy="899999"/>
          </a:xfrm>
          <a:prstGeom prst="rect">
            <a:avLst/>
          </a:prstGeom>
        </p:spPr>
      </p:pic>
      <p:pic>
        <p:nvPicPr>
          <p:cNvPr id="12" name="圖片 11" descr="一張含有 人員, 人的臉孔, 服裝, 老年人 的圖片&#10;&#10;AI 產生的內容可能不正確。">
            <a:extLst>
              <a:ext uri="{FF2B5EF4-FFF2-40B4-BE49-F238E27FC236}">
                <a16:creationId xmlns:a16="http://schemas.microsoft.com/office/drawing/2014/main" id="{6198D76B-9F20-5F34-5928-83E55CA346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473" y="4069876"/>
            <a:ext cx="734862" cy="900000"/>
          </a:xfrm>
          <a:prstGeom prst="rect">
            <a:avLst/>
          </a:prstGeom>
        </p:spPr>
      </p:pic>
      <p:pic>
        <p:nvPicPr>
          <p:cNvPr id="20" name="圖片 19" descr="一張含有 人員, 人的臉孔, 服裝, 老年人 的圖片&#10;&#10;AI 產生的內容可能不正確。">
            <a:extLst>
              <a:ext uri="{FF2B5EF4-FFF2-40B4-BE49-F238E27FC236}">
                <a16:creationId xmlns:a16="http://schemas.microsoft.com/office/drawing/2014/main" id="{45723468-3125-1518-09FC-E8C5CF0059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473" y="3050500"/>
            <a:ext cx="734862" cy="900000"/>
          </a:xfrm>
          <a:prstGeom prst="rect">
            <a:avLst/>
          </a:prstGeom>
        </p:spPr>
      </p:pic>
      <p:pic>
        <p:nvPicPr>
          <p:cNvPr id="26" name="圖片 25" descr="一張含有 人的臉孔, 人員, 服裝, 微笑 的圖片&#10;&#10;AI 產生的內容可能不正確。">
            <a:extLst>
              <a:ext uri="{FF2B5EF4-FFF2-40B4-BE49-F238E27FC236}">
                <a16:creationId xmlns:a16="http://schemas.microsoft.com/office/drawing/2014/main" id="{FCAC40FF-1C74-740C-BA80-0681D77508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501" y="4069876"/>
            <a:ext cx="734862" cy="900000"/>
          </a:xfrm>
          <a:prstGeom prst="rect">
            <a:avLst/>
          </a:prstGeom>
        </p:spPr>
      </p:pic>
      <p:pic>
        <p:nvPicPr>
          <p:cNvPr id="30" name="圖片 29" descr="一張含有 人員, 人的臉孔, 服裝, 皮膚 的圖片&#10;&#10;AI 產生的內容可能不正確。">
            <a:extLst>
              <a:ext uri="{FF2B5EF4-FFF2-40B4-BE49-F238E27FC236}">
                <a16:creationId xmlns:a16="http://schemas.microsoft.com/office/drawing/2014/main" id="{AA5F6BE6-AB98-80D4-F87A-7D4CB268DDF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501" y="3050500"/>
            <a:ext cx="734862" cy="900000"/>
          </a:xfrm>
          <a:prstGeom prst="rect">
            <a:avLst/>
          </a:prstGeom>
        </p:spPr>
      </p:pic>
      <p:pic>
        <p:nvPicPr>
          <p:cNvPr id="33" name="圖片 32" descr="一張含有 人員, 人的臉孔, 服裝, 微笑 的圖片&#10;&#10;AI 產生的內容可能不正確。">
            <a:extLst>
              <a:ext uri="{FF2B5EF4-FFF2-40B4-BE49-F238E27FC236}">
                <a16:creationId xmlns:a16="http://schemas.microsoft.com/office/drawing/2014/main" id="{C8A1A6DD-9920-C053-5980-2632E12B6AF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929" y="4082875"/>
            <a:ext cx="734862" cy="900000"/>
          </a:xfrm>
          <a:prstGeom prst="rect">
            <a:avLst/>
          </a:prstGeom>
        </p:spPr>
      </p:pic>
      <p:pic>
        <p:nvPicPr>
          <p:cNvPr id="36" name="圖片 35" descr="一張含有 人的臉孔, 人員, 微笑, 服裝 的圖片&#10;&#10;AI 產生的內容可能不正確。">
            <a:extLst>
              <a:ext uri="{FF2B5EF4-FFF2-40B4-BE49-F238E27FC236}">
                <a16:creationId xmlns:a16="http://schemas.microsoft.com/office/drawing/2014/main" id="{C01EF850-90F3-1CE4-4B59-E9C173A1A87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529" y="3050500"/>
            <a:ext cx="734862" cy="900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CB4EC84-8697-8AA9-F8CB-6B73D67B6AF0}"/>
              </a:ext>
            </a:extLst>
          </p:cNvPr>
          <p:cNvSpPr txBox="1"/>
          <p:nvPr/>
        </p:nvSpPr>
        <p:spPr>
          <a:xfrm>
            <a:off x="3224676" y="5279821"/>
            <a:ext cx="14366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223F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Training set</a:t>
            </a:r>
            <a:endParaRPr lang="zh-TW" altLang="en-US" sz="2000" dirty="0">
              <a:solidFill>
                <a:srgbClr val="223F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405E582-5EBC-DAD0-3CC1-04057947F7C8}"/>
              </a:ext>
            </a:extLst>
          </p:cNvPr>
          <p:cNvSpPr txBox="1"/>
          <p:nvPr/>
        </p:nvSpPr>
        <p:spPr>
          <a:xfrm>
            <a:off x="8067136" y="1928334"/>
            <a:ext cx="23722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223F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Target for Generation</a:t>
            </a:r>
            <a:endParaRPr lang="zh-TW" altLang="en-US" sz="2000" dirty="0">
              <a:solidFill>
                <a:srgbClr val="223F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文本框 3">
            <a:extLst>
              <a:ext uri="{FF2B5EF4-FFF2-40B4-BE49-F238E27FC236}">
                <a16:creationId xmlns:a16="http://schemas.microsoft.com/office/drawing/2014/main" id="{7E8CA503-9E3A-0971-84A8-951C05615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581" y="76626"/>
            <a:ext cx="444124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4-1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Experiment Setup: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CelebA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(CelebFace Attributes Dataset)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3E992338-366F-DAF9-D395-35D18FCB1AC6}"/>
              </a:ext>
            </a:extLst>
          </p:cNvPr>
          <p:cNvSpPr txBox="1"/>
          <p:nvPr/>
        </p:nvSpPr>
        <p:spPr>
          <a:xfrm>
            <a:off x="519639" y="845835"/>
            <a:ext cx="11540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CelebA is a large-scale public face dataset, containing over 200,000 celebrity images. 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Each image is annotated with 40 binary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 labels(e.g., gender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hair color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smiling).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D3B207-5A46-7A5E-4603-9712113F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4391" y="6498632"/>
            <a:ext cx="2743200" cy="365125"/>
          </a:xfrm>
        </p:spPr>
        <p:txBody>
          <a:bodyPr/>
          <a:lstStyle/>
          <a:p>
            <a:fld id="{9D55DC8D-C4F0-4F0D-B826-92573808DA56}" type="slidenum">
              <a:rPr lang="zh-CN" altLang="en-US" smtClean="0"/>
              <a:pPr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6269111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9F423-41D0-5ABC-B0A2-0A5323D6A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994AEC6-9FD9-9479-95D6-830A4EFE0248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6919C8-430A-D438-113D-952D6B2CB616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A981FD1-6C63-0DF8-FA28-B72A08EBF0FD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866A9720-EFC6-F8FB-5B4A-BBD30590387F}"/>
              </a:ext>
            </a:extLst>
          </p:cNvPr>
          <p:cNvGrpSpPr/>
          <p:nvPr/>
        </p:nvGrpSpPr>
        <p:grpSpPr>
          <a:xfrm>
            <a:off x="248918" y="1795654"/>
            <a:ext cx="7566614" cy="4521340"/>
            <a:chOff x="7041761" y="1554246"/>
            <a:chExt cx="7566614" cy="4521340"/>
          </a:xfrm>
        </p:grpSpPr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5EC2B010-407F-032B-80B8-C5A92533C0FA}"/>
                </a:ext>
              </a:extLst>
            </p:cNvPr>
            <p:cNvSpPr txBox="1"/>
            <p:nvPr/>
          </p:nvSpPr>
          <p:spPr>
            <a:xfrm>
              <a:off x="7787381" y="2936265"/>
              <a:ext cx="973899" cy="31393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/>
                <a:t>Male</a:t>
              </a:r>
            </a:p>
            <a:p>
              <a:endParaRPr lang="en-US" altLang="zh-TW" dirty="0"/>
            </a:p>
            <a:p>
              <a:endParaRPr lang="en-US" altLang="zh-TW" dirty="0"/>
            </a:p>
            <a:p>
              <a:endParaRPr lang="en-US" altLang="zh-TW" dirty="0"/>
            </a:p>
            <a:p>
              <a:r>
                <a:rPr lang="en-US" altLang="zh-TW" dirty="0"/>
                <a:t>Female</a:t>
              </a:r>
            </a:p>
            <a:p>
              <a:endParaRPr lang="en-US" altLang="zh-TW" dirty="0"/>
            </a:p>
            <a:p>
              <a:endParaRPr lang="en-US" altLang="zh-TW" dirty="0"/>
            </a:p>
            <a:p>
              <a:endParaRPr lang="en-US" altLang="zh-TW" dirty="0"/>
            </a:p>
            <a:p>
              <a:endParaRPr lang="en-US" altLang="zh-TW" dirty="0"/>
            </a:p>
            <a:p>
              <a:endParaRPr lang="en-US" altLang="zh-TW" dirty="0"/>
            </a:p>
            <a:p>
              <a:endParaRPr lang="zh-TW" altLang="en-US" dirty="0"/>
            </a:p>
          </p:txBody>
        </p:sp>
        <p:sp>
          <p:nvSpPr>
            <p:cNvPr id="14" name="左大括弧 13">
              <a:extLst>
                <a:ext uri="{FF2B5EF4-FFF2-40B4-BE49-F238E27FC236}">
                  <a16:creationId xmlns:a16="http://schemas.microsoft.com/office/drawing/2014/main" id="{C2C310AB-8655-A383-A859-58A7BBB743A3}"/>
                </a:ext>
              </a:extLst>
            </p:cNvPr>
            <p:cNvSpPr/>
            <p:nvPr/>
          </p:nvSpPr>
          <p:spPr>
            <a:xfrm>
              <a:off x="7487104" y="2936265"/>
              <a:ext cx="300277" cy="1420206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6AB99BCC-2DDE-4C0C-75ED-6749EC82B1AD}"/>
                </a:ext>
              </a:extLst>
            </p:cNvPr>
            <p:cNvSpPr txBox="1"/>
            <p:nvPr/>
          </p:nvSpPr>
          <p:spPr>
            <a:xfrm rot="16200000">
              <a:off x="5656766" y="3534427"/>
              <a:ext cx="313932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" altLang="zh-TW" dirty="0"/>
                <a:t>object</a:t>
              </a:r>
              <a:endParaRPr lang="en" altLang="zh-TW" sz="1800" dirty="0">
                <a:effectLst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4C09191-FE82-20C3-9F69-690EB750BC30}"/>
                </a:ext>
              </a:extLst>
            </p:cNvPr>
            <p:cNvSpPr txBox="1"/>
            <p:nvPr/>
          </p:nvSpPr>
          <p:spPr>
            <a:xfrm>
              <a:off x="8355032" y="2333536"/>
              <a:ext cx="62533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/>
                <a:t>Brown Hair     Blond  Hair     Gray  Hair  Black  Hair 	</a:t>
              </a:r>
            </a:p>
          </p:txBody>
        </p:sp>
        <p:sp>
          <p:nvSpPr>
            <p:cNvPr id="21" name="左大括弧 20">
              <a:extLst>
                <a:ext uri="{FF2B5EF4-FFF2-40B4-BE49-F238E27FC236}">
                  <a16:creationId xmlns:a16="http://schemas.microsoft.com/office/drawing/2014/main" id="{BFAF4C40-AD39-9B3D-49C9-A00923B82E31}"/>
                </a:ext>
              </a:extLst>
            </p:cNvPr>
            <p:cNvSpPr/>
            <p:nvPr/>
          </p:nvSpPr>
          <p:spPr>
            <a:xfrm rot="5400000">
              <a:off x="10673135" y="-46491"/>
              <a:ext cx="300277" cy="4323209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7AC3D81A-0BC3-F162-3289-883F63DA2158}"/>
                </a:ext>
              </a:extLst>
            </p:cNvPr>
            <p:cNvSpPr txBox="1"/>
            <p:nvPr/>
          </p:nvSpPr>
          <p:spPr>
            <a:xfrm>
              <a:off x="9253612" y="1554246"/>
              <a:ext cx="313932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" altLang="zh-TW" sz="1800" dirty="0">
                  <a:effectLst/>
                </a:rPr>
                <a:t>attribute</a:t>
              </a:r>
            </a:p>
          </p:txBody>
        </p:sp>
      </p:grp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6B55F37-B818-2A6B-7AA7-81E983742CB7}"/>
              </a:ext>
            </a:extLst>
          </p:cNvPr>
          <p:cNvSpPr/>
          <p:nvPr/>
        </p:nvSpPr>
        <p:spPr>
          <a:xfrm>
            <a:off x="7158388" y="2124359"/>
            <a:ext cx="3938156" cy="3000555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 descr="一張含有 人員, 人的臉孔, 服裝, 老年人 的圖片&#10;&#10;AI 產生的內容可能不正確。">
            <a:extLst>
              <a:ext uri="{FF2B5EF4-FFF2-40B4-BE49-F238E27FC236}">
                <a16:creationId xmlns:a16="http://schemas.microsoft.com/office/drawing/2014/main" id="{DFEB0640-8604-1FE4-B06A-D958ECD08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473" y="3844475"/>
            <a:ext cx="734862" cy="900000"/>
          </a:xfrm>
          <a:prstGeom prst="rect">
            <a:avLst/>
          </a:prstGeom>
        </p:spPr>
      </p:pic>
      <p:pic>
        <p:nvPicPr>
          <p:cNvPr id="20" name="圖片 19" descr="一張含有 人員, 人的臉孔, 服裝, 老年人 的圖片&#10;&#10;AI 產生的內容可能不正確。">
            <a:extLst>
              <a:ext uri="{FF2B5EF4-FFF2-40B4-BE49-F238E27FC236}">
                <a16:creationId xmlns:a16="http://schemas.microsoft.com/office/drawing/2014/main" id="{ADB2B38C-6FFA-D5BE-6C03-20AF1B8CAB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473" y="2825099"/>
            <a:ext cx="734862" cy="900000"/>
          </a:xfrm>
          <a:prstGeom prst="rect">
            <a:avLst/>
          </a:prstGeom>
        </p:spPr>
      </p:pic>
      <p:pic>
        <p:nvPicPr>
          <p:cNvPr id="26" name="圖片 25" descr="一張含有 人的臉孔, 人員, 服裝, 微笑 的圖片&#10;&#10;AI 產生的內容可能不正確。">
            <a:extLst>
              <a:ext uri="{FF2B5EF4-FFF2-40B4-BE49-F238E27FC236}">
                <a16:creationId xmlns:a16="http://schemas.microsoft.com/office/drawing/2014/main" id="{D9B09121-7180-E10C-9974-4E7160CFA2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501" y="3844475"/>
            <a:ext cx="734862" cy="900000"/>
          </a:xfrm>
          <a:prstGeom prst="rect">
            <a:avLst/>
          </a:prstGeom>
        </p:spPr>
      </p:pic>
      <p:pic>
        <p:nvPicPr>
          <p:cNvPr id="30" name="圖片 29" descr="一張含有 人員, 人的臉孔, 服裝, 皮膚 的圖片&#10;&#10;AI 產生的內容可能不正確。">
            <a:extLst>
              <a:ext uri="{FF2B5EF4-FFF2-40B4-BE49-F238E27FC236}">
                <a16:creationId xmlns:a16="http://schemas.microsoft.com/office/drawing/2014/main" id="{4DAF88B7-B35E-E3DE-DA00-0671FE68FE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501" y="2825099"/>
            <a:ext cx="734862" cy="900000"/>
          </a:xfrm>
          <a:prstGeom prst="rect">
            <a:avLst/>
          </a:prstGeom>
        </p:spPr>
      </p:pic>
      <p:pic>
        <p:nvPicPr>
          <p:cNvPr id="33" name="圖片 32" descr="一張含有 人員, 人的臉孔, 服裝, 微笑 的圖片&#10;&#10;AI 產生的內容可能不正確。">
            <a:extLst>
              <a:ext uri="{FF2B5EF4-FFF2-40B4-BE49-F238E27FC236}">
                <a16:creationId xmlns:a16="http://schemas.microsoft.com/office/drawing/2014/main" id="{C7E93E82-D982-5FDF-DEBC-36D3B3F346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929" y="3857474"/>
            <a:ext cx="734862" cy="900000"/>
          </a:xfrm>
          <a:prstGeom prst="rect">
            <a:avLst/>
          </a:prstGeom>
        </p:spPr>
      </p:pic>
      <p:pic>
        <p:nvPicPr>
          <p:cNvPr id="36" name="圖片 35" descr="一張含有 人的臉孔, 人員, 微笑, 服裝 的圖片&#10;&#10;AI 產生的內容可能不正確。">
            <a:extLst>
              <a:ext uri="{FF2B5EF4-FFF2-40B4-BE49-F238E27FC236}">
                <a16:creationId xmlns:a16="http://schemas.microsoft.com/office/drawing/2014/main" id="{543F7F3C-5AF1-31CE-EC46-69603D1394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529" y="2825099"/>
            <a:ext cx="734862" cy="90000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167A5E57-1E45-5F0C-E538-70DDFD93D6BB}"/>
              </a:ext>
            </a:extLst>
          </p:cNvPr>
          <p:cNvSpPr txBox="1"/>
          <p:nvPr/>
        </p:nvSpPr>
        <p:spPr>
          <a:xfrm>
            <a:off x="1797853" y="3225657"/>
            <a:ext cx="4503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12638</a:t>
            </a:r>
            <a:r>
              <a:rPr lang="zh-TW" altLang="en-US" dirty="0"/>
              <a:t> </a:t>
            </a:r>
            <a:r>
              <a:rPr lang="en-US" altLang="zh-TW" dirty="0"/>
              <a:t>	</a:t>
            </a:r>
            <a:r>
              <a:rPr lang="zh-TW" altLang="en-US" dirty="0"/>
              <a:t>      </a:t>
            </a:r>
            <a:r>
              <a:rPr lang="en-US" altLang="zh-TW" dirty="0"/>
              <a:t>1676	              6644</a:t>
            </a:r>
            <a:r>
              <a:rPr lang="zh-TW" altLang="en-US" dirty="0"/>
              <a:t> </a:t>
            </a:r>
            <a:r>
              <a:rPr lang="en-US" altLang="zh-TW" dirty="0"/>
              <a:t>	 19621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021D755-5395-BE82-F490-AFAB2FB22D60}"/>
              </a:ext>
            </a:extLst>
          </p:cNvPr>
          <p:cNvSpPr txBox="1"/>
          <p:nvPr/>
        </p:nvSpPr>
        <p:spPr>
          <a:xfrm>
            <a:off x="1824643" y="4264083"/>
            <a:ext cx="5119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20900</a:t>
            </a:r>
            <a:r>
              <a:rPr lang="zh-TW" altLang="en-US" dirty="0"/>
              <a:t> </a:t>
            </a:r>
            <a:r>
              <a:rPr lang="en-US" altLang="zh-TW" dirty="0"/>
              <a:t>	</a:t>
            </a:r>
            <a:r>
              <a:rPr lang="zh-TW" altLang="en-US" dirty="0"/>
              <a:t>     </a:t>
            </a:r>
            <a:r>
              <a:rPr lang="en-US" altLang="zh-TW" dirty="0"/>
              <a:t>24358 	0	 19960 	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2753D37-5D37-86E1-CEAB-93A2601579E3}"/>
              </a:ext>
            </a:extLst>
          </p:cNvPr>
          <p:cNvSpPr txBox="1"/>
          <p:nvPr/>
        </p:nvSpPr>
        <p:spPr>
          <a:xfrm>
            <a:off x="3224676" y="5054420"/>
            <a:ext cx="14366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223F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Training set</a:t>
            </a:r>
            <a:endParaRPr lang="zh-TW" altLang="en-US" sz="2000" dirty="0">
              <a:solidFill>
                <a:srgbClr val="223F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6D9FDA03-6534-BD43-EB93-E96B652926E7}"/>
              </a:ext>
            </a:extLst>
          </p:cNvPr>
          <p:cNvCxnSpPr>
            <a:cxnSpLocks/>
          </p:cNvCxnSpPr>
          <p:nvPr/>
        </p:nvCxnSpPr>
        <p:spPr>
          <a:xfrm>
            <a:off x="5073825" y="4441388"/>
            <a:ext cx="4053641" cy="683526"/>
          </a:xfrm>
          <a:prstGeom prst="bentConnector4">
            <a:avLst>
              <a:gd name="adj1" fmla="val 4522"/>
              <a:gd name="adj2" fmla="val 133444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59E31EF-1E7C-6A58-8B63-3C87AB5F0909}"/>
              </a:ext>
            </a:extLst>
          </p:cNvPr>
          <p:cNvSpPr txBox="1"/>
          <p:nvPr/>
        </p:nvSpPr>
        <p:spPr>
          <a:xfrm>
            <a:off x="5392411" y="5392937"/>
            <a:ext cx="72030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/>
              <a:t>Gray  Hair Female</a:t>
            </a:r>
            <a:r>
              <a:rPr lang="zh-CN" altLang="en-US" sz="1600" b="1" dirty="0"/>
              <a:t> 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excluded from the training set and treated as 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unseen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25">
            <a:extLst>
              <a:ext uri="{FF2B5EF4-FFF2-40B4-BE49-F238E27FC236}">
                <a16:creationId xmlns:a16="http://schemas.microsoft.com/office/drawing/2014/main" id="{132585CF-0797-96EF-358C-6CD3F0FE3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2871" y="2299912"/>
            <a:ext cx="25465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TW" sz="2000" b="1" dirty="0"/>
              <a:t>&lt;Gray  Hair , Female&gt;</a:t>
            </a:r>
            <a:endParaRPr lang="zh-CN" altLang="en-US" sz="2000" b="1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59A80B5D-C10B-30A2-511F-3C63FE04AC23}"/>
              </a:ext>
            </a:extLst>
          </p:cNvPr>
          <p:cNvSpPr txBox="1"/>
          <p:nvPr/>
        </p:nvSpPr>
        <p:spPr>
          <a:xfrm>
            <a:off x="8067136" y="1702933"/>
            <a:ext cx="23722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223F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Target for Generation</a:t>
            </a:r>
            <a:endParaRPr lang="zh-TW" altLang="en-US" sz="2000" dirty="0">
              <a:solidFill>
                <a:srgbClr val="223F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0B877D-456E-A524-9F4F-3469D6E05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6B80C4-3A98-9538-F991-D22E5008D43C}"/>
              </a:ext>
            </a:extLst>
          </p:cNvPr>
          <p:cNvSpPr/>
          <p:nvPr/>
        </p:nvSpPr>
        <p:spPr>
          <a:xfrm>
            <a:off x="4173824" y="254000"/>
            <a:ext cx="8018175" cy="285459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3">
            <a:extLst>
              <a:ext uri="{FF2B5EF4-FFF2-40B4-BE49-F238E27FC236}">
                <a16:creationId xmlns:a16="http://schemas.microsoft.com/office/drawing/2014/main" id="{E5125A6C-C948-8B47-B8DB-454DD92A4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581" y="76626"/>
            <a:ext cx="444124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4-1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Experiment Setup: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CelebA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(CelebFace Attributes Dataset)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5063556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D2C7B-1D00-8630-2002-C825BFFED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C9D217B-5C0E-8C45-5169-EBF5D1FC3AA2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A75A21-4106-9106-CBC8-306233A0EBFB}"/>
              </a:ext>
            </a:extLst>
          </p:cNvPr>
          <p:cNvSpPr/>
          <p:nvPr/>
        </p:nvSpPr>
        <p:spPr>
          <a:xfrm>
            <a:off x="4173824" y="254000"/>
            <a:ext cx="8018175" cy="285459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09EE22D-9BA0-ADDE-06ED-CB431D69DAC5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CCDC70-C91E-7599-A58A-EF1194838C12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3">
            <a:extLst>
              <a:ext uri="{FF2B5EF4-FFF2-40B4-BE49-F238E27FC236}">
                <a16:creationId xmlns:a16="http://schemas.microsoft.com/office/drawing/2014/main" id="{F040F86A-1E54-A411-612E-D211926B9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581" y="76626"/>
            <a:ext cx="444124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4-1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Experiment Setup: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CelebA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(CelebFace Attributes Dataset)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36128FB2-99F1-966F-72E2-46B7CF9DBD61}"/>
              </a:ext>
            </a:extLst>
          </p:cNvPr>
          <p:cNvSpPr txBox="1"/>
          <p:nvPr/>
        </p:nvSpPr>
        <p:spPr>
          <a:xfrm>
            <a:off x="497154" y="845835"/>
            <a:ext cx="11540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dirty="0"/>
              <a:t>We generate images from unseen target attribute combinations and manually verify whether </a:t>
            </a:r>
          </a:p>
          <a:p>
            <a:r>
              <a:rPr lang="zh-TW" altLang="en-US" dirty="0"/>
              <a:t>      </a:t>
            </a:r>
            <a:r>
              <a:rPr lang="en-US" altLang="zh-TW" dirty="0"/>
              <a:t>they match the target condition.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3E06CE-41F8-BBD3-7EA4-98B60563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4391" y="6498632"/>
            <a:ext cx="2743200" cy="365125"/>
          </a:xfrm>
        </p:spPr>
        <p:txBody>
          <a:bodyPr/>
          <a:lstStyle/>
          <a:p>
            <a:fld id="{9D55DC8D-C4F0-4F0D-B826-92573808DA56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13BA6E9-FBAF-6539-79EC-FB3658BA12A8}"/>
              </a:ext>
            </a:extLst>
          </p:cNvPr>
          <p:cNvSpPr txBox="1"/>
          <p:nvPr/>
        </p:nvSpPr>
        <p:spPr>
          <a:xfrm>
            <a:off x="2574346" y="1568557"/>
            <a:ext cx="1030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dirty="0"/>
              <a:t>Pass</a:t>
            </a:r>
            <a:endParaRPr lang="zh-TW" altLang="en-US" sz="24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3C617993-5646-C8FA-3392-8C1C9B9F4974}"/>
              </a:ext>
            </a:extLst>
          </p:cNvPr>
          <p:cNvSpPr txBox="1"/>
          <p:nvPr/>
        </p:nvSpPr>
        <p:spPr>
          <a:xfrm>
            <a:off x="5717467" y="1564137"/>
            <a:ext cx="56750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Fail</a:t>
            </a:r>
            <a:r>
              <a:rPr lang="en-US" altLang="zh-TW" dirty="0"/>
              <a:t>(Does not match the target condition)</a:t>
            </a:r>
            <a:endParaRPr lang="zh-TW" altLang="en-US" sz="2400" dirty="0"/>
          </a:p>
        </p:txBody>
      </p:sp>
      <p:pic>
        <p:nvPicPr>
          <p:cNvPr id="38" name="圖片 37" descr="The image shows a woman with curly white hair wearing a red dress.&#10;&#10;AI 產生的內容可能不正確。">
            <a:extLst>
              <a:ext uri="{FF2B5EF4-FFF2-40B4-BE49-F238E27FC236}">
                <a16:creationId xmlns:a16="http://schemas.microsoft.com/office/drawing/2014/main" id="{FB6AEA87-DFD6-7486-A42C-6A2792B90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804" y="2080454"/>
            <a:ext cx="720000" cy="720000"/>
          </a:xfrm>
          <a:prstGeom prst="rect">
            <a:avLst/>
          </a:prstGeom>
        </p:spPr>
      </p:pic>
      <p:pic>
        <p:nvPicPr>
          <p:cNvPr id="40" name="圖片 39" descr="The image shows a person with silver-colored hair, wearing a dress, and standing at an event.&#10;&#10;AI 產生的內容可能不正確。">
            <a:extLst>
              <a:ext uri="{FF2B5EF4-FFF2-40B4-BE49-F238E27FC236}">
                <a16:creationId xmlns:a16="http://schemas.microsoft.com/office/drawing/2014/main" id="{E9AF3231-7888-ED20-83C8-CB4A9538C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922" y="3625867"/>
            <a:ext cx="720000" cy="720000"/>
          </a:xfrm>
          <a:prstGeom prst="rect">
            <a:avLst/>
          </a:prstGeom>
        </p:spPr>
      </p:pic>
      <p:pic>
        <p:nvPicPr>
          <p:cNvPr id="42" name="圖片 41" descr="The image shows a person with curly hair and wearing a black jacket, with part of their face visible.&#10;&#10;AI 產生的內容可能不正確。">
            <a:extLst>
              <a:ext uri="{FF2B5EF4-FFF2-40B4-BE49-F238E27FC236}">
                <a16:creationId xmlns:a16="http://schemas.microsoft.com/office/drawing/2014/main" id="{5FBE9DD5-BFA0-BC36-A378-C46C429BBD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863" y="3613556"/>
            <a:ext cx="720000" cy="720000"/>
          </a:xfrm>
          <a:prstGeom prst="rect">
            <a:avLst/>
          </a:prstGeom>
        </p:spPr>
      </p:pic>
      <p:pic>
        <p:nvPicPr>
          <p:cNvPr id="44" name="圖片 43" descr="The image shows an older woman with gray, wavy hair and a yellow background.&#10;&#10;AI 產生的內容可能不正確。">
            <a:extLst>
              <a:ext uri="{FF2B5EF4-FFF2-40B4-BE49-F238E27FC236}">
                <a16:creationId xmlns:a16="http://schemas.microsoft.com/office/drawing/2014/main" id="{8C395F36-ECD1-315D-8DA2-A5A1BD4912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922" y="2840328"/>
            <a:ext cx="720000" cy="720000"/>
          </a:xfrm>
          <a:prstGeom prst="rect">
            <a:avLst/>
          </a:prstGeom>
        </p:spPr>
      </p:pic>
      <p:pic>
        <p:nvPicPr>
          <p:cNvPr id="46" name="圖片 45" descr="The image shows a woman with long, light-colored hair.&#10;&#10;AI 產生的內容可能不正確。">
            <a:extLst>
              <a:ext uri="{FF2B5EF4-FFF2-40B4-BE49-F238E27FC236}">
                <a16:creationId xmlns:a16="http://schemas.microsoft.com/office/drawing/2014/main" id="{46C12B27-716F-DABC-7F5C-D3ED83C23F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863" y="2840328"/>
            <a:ext cx="720000" cy="720000"/>
          </a:xfrm>
          <a:prstGeom prst="rect">
            <a:avLst/>
          </a:prstGeom>
        </p:spPr>
      </p:pic>
      <p:pic>
        <p:nvPicPr>
          <p:cNvPr id="50" name="圖片 49" descr="The image shows a person with light-colored hair, wearing a black jacket, and their surroundings are indistinct.&#10;&#10;AI 產生的內容可能不正確。">
            <a:extLst>
              <a:ext uri="{FF2B5EF4-FFF2-40B4-BE49-F238E27FC236}">
                <a16:creationId xmlns:a16="http://schemas.microsoft.com/office/drawing/2014/main" id="{33108625-CCCA-A6A2-B496-844BD3E1D4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804" y="2840328"/>
            <a:ext cx="720000" cy="720000"/>
          </a:xfrm>
          <a:prstGeom prst="rect">
            <a:avLst/>
          </a:prstGeom>
        </p:spPr>
      </p:pic>
      <p:pic>
        <p:nvPicPr>
          <p:cNvPr id="52" name="圖片 51" descr="The image shows a person with grey hair and a red jacket.&#10;&#10;AI 產生的內容可能不正確。">
            <a:extLst>
              <a:ext uri="{FF2B5EF4-FFF2-40B4-BE49-F238E27FC236}">
                <a16:creationId xmlns:a16="http://schemas.microsoft.com/office/drawing/2014/main" id="{CF342FC9-0371-467C-C71D-280F73BD31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922" y="2069423"/>
            <a:ext cx="720000" cy="720000"/>
          </a:xfrm>
          <a:prstGeom prst="rect">
            <a:avLst/>
          </a:prstGeom>
        </p:spPr>
      </p:pic>
      <p:pic>
        <p:nvPicPr>
          <p:cNvPr id="54" name="圖片 53" descr="The image shows a person with light-colored, wavy hair and wearing a yellow dress.&#10;&#10;AI 產生的內容可能不正確。">
            <a:extLst>
              <a:ext uri="{FF2B5EF4-FFF2-40B4-BE49-F238E27FC236}">
                <a16:creationId xmlns:a16="http://schemas.microsoft.com/office/drawing/2014/main" id="{AF9CF96C-C14F-48C1-50D4-D3C7AF98F5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863" y="2080454"/>
            <a:ext cx="720000" cy="720000"/>
          </a:xfrm>
          <a:prstGeom prst="rect">
            <a:avLst/>
          </a:prstGeom>
        </p:spPr>
      </p:pic>
      <p:pic>
        <p:nvPicPr>
          <p:cNvPr id="58" name="圖片 57" descr="The image shows an individual with white, fine hair and a black blazer.&#10;&#10;AI 產生的內容可能不正確。">
            <a:extLst>
              <a:ext uri="{FF2B5EF4-FFF2-40B4-BE49-F238E27FC236}">
                <a16:creationId xmlns:a16="http://schemas.microsoft.com/office/drawing/2014/main" id="{E6E8B2DE-FCC7-44FD-00F8-2C82643A633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804" y="3613556"/>
            <a:ext cx="720000" cy="720000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7A3804CC-8066-17A8-9172-D58D57E006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7467" y="2069603"/>
            <a:ext cx="720000" cy="720000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12764F25-C28B-5A7D-7277-0043DB07144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1585" y="3615016"/>
            <a:ext cx="720000" cy="720000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6EFDDEA3-6603-809C-4986-E38E135157F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99526" y="3602705"/>
            <a:ext cx="720000" cy="720000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3DE4D1AB-7EB0-A1AD-1E90-754262B832D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1585" y="2829477"/>
            <a:ext cx="720000" cy="720000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44ABC660-F52D-C53B-6397-CD4AED09225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99526" y="2829477"/>
            <a:ext cx="720000" cy="720000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BCB0B75C-882C-9B4D-FED6-9B350AD9F35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7467" y="2829477"/>
            <a:ext cx="720000" cy="720000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B4803287-3A27-8A1E-E98A-8F1E2BF9A24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1585" y="2058572"/>
            <a:ext cx="720000" cy="720000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A1BFB6A5-1B67-2B9E-F620-47BEEBFA618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99526" y="2069603"/>
            <a:ext cx="720000" cy="720000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80458454-F259-4DDB-F67A-30FBDC3959A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7467" y="3602705"/>
            <a:ext cx="720000" cy="720000"/>
          </a:xfrm>
          <a:prstGeom prst="rect">
            <a:avLst/>
          </a:prstGeom>
        </p:spPr>
      </p:pic>
      <p:pic>
        <p:nvPicPr>
          <p:cNvPr id="105" name="圖片 104" descr="The image shows a person with a gray hair and wearing a patterned shirt.&#10;&#10;AI 產生的內容可能不正確。">
            <a:extLst>
              <a:ext uri="{FF2B5EF4-FFF2-40B4-BE49-F238E27FC236}">
                <a16:creationId xmlns:a16="http://schemas.microsoft.com/office/drawing/2014/main" id="{6120DF06-FF6C-4B0D-BC11-7BC79624380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3125" y="3625867"/>
            <a:ext cx="720000" cy="720000"/>
          </a:xfrm>
          <a:prstGeom prst="rect">
            <a:avLst/>
          </a:prstGeom>
        </p:spPr>
      </p:pic>
      <p:pic>
        <p:nvPicPr>
          <p:cNvPr id="107" name="圖片 106">
            <a:extLst>
              <a:ext uri="{FF2B5EF4-FFF2-40B4-BE49-F238E27FC236}">
                <a16:creationId xmlns:a16="http://schemas.microsoft.com/office/drawing/2014/main" id="{D695FFE8-D5B2-CF9B-318D-0F133439C9B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3125" y="2840328"/>
            <a:ext cx="720000" cy="720000"/>
          </a:xfrm>
          <a:prstGeom prst="rect">
            <a:avLst/>
          </a:prstGeom>
        </p:spPr>
      </p:pic>
      <p:pic>
        <p:nvPicPr>
          <p:cNvPr id="109" name="圖片 108">
            <a:extLst>
              <a:ext uri="{FF2B5EF4-FFF2-40B4-BE49-F238E27FC236}">
                <a16:creationId xmlns:a16="http://schemas.microsoft.com/office/drawing/2014/main" id="{483C0B88-1644-E9AD-756A-1310B0777B9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3125" y="2069423"/>
            <a:ext cx="720000" cy="720000"/>
          </a:xfrm>
          <a:prstGeom prst="rect">
            <a:avLst/>
          </a:prstGeom>
        </p:spPr>
      </p:pic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6755BD58-0C6A-47B8-4868-F1285F6AA69F}"/>
              </a:ext>
            </a:extLst>
          </p:cNvPr>
          <p:cNvSpPr txBox="1"/>
          <p:nvPr/>
        </p:nvSpPr>
        <p:spPr>
          <a:xfrm>
            <a:off x="-783772" y="4410558"/>
            <a:ext cx="11273931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zh-TW" dirty="0"/>
          </a:p>
          <a:p>
            <a:pPr algn="ctr"/>
            <a:r>
              <a:rPr lang="en-US" altLang="zh-TW" dirty="0"/>
              <a:t>Selected images are added to the training set for the next </a:t>
            </a:r>
          </a:p>
          <a:p>
            <a:pPr algn="ctr"/>
            <a:endParaRPr lang="en-US" altLang="zh-TW" dirty="0"/>
          </a:p>
          <a:p>
            <a:pPr algn="ctr"/>
            <a:endParaRPr lang="en-US" altLang="zh-TW" dirty="0"/>
          </a:p>
          <a:p>
            <a:pPr algn="ctr"/>
            <a:endParaRPr lang="en-US" altLang="zh-TW" dirty="0"/>
          </a:p>
          <a:p>
            <a:pPr algn="ctr"/>
            <a:r>
              <a:rPr lang="en-US" altLang="zh-TW" sz="1600" dirty="0"/>
              <a:t>*For γ = 0.3, 0.5, and 0.7, we omit the Iteration 1 experiment because unseen images have not yet been added, </a:t>
            </a:r>
          </a:p>
          <a:p>
            <a:pPr algn="ctr"/>
            <a:r>
              <a:rPr lang="en-US" altLang="zh-TW" sz="1600" dirty="0"/>
              <a:t>which makes class imbalance less severe at this stage.</a:t>
            </a:r>
          </a:p>
        </p:txBody>
      </p:sp>
    </p:spTree>
    <p:extLst>
      <p:ext uri="{BB962C8B-B14F-4D97-AF65-F5344CB8AC3E}">
        <p14:creationId xmlns:p14="http://schemas.microsoft.com/office/powerpoint/2010/main" val="476963938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76CFC-D64B-AECC-45E0-E804E3616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06EB99E-1454-484F-3D62-15B699C3BED7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A6E2754-5208-9170-DBB5-8310585B5CC8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6C608D-4E37-0A3E-5F24-B0F0040EFBE4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E696A9-93ED-C2B1-29A8-D38C0682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70E71F-1AA7-6D3D-0166-DA0D52EEF031}"/>
              </a:ext>
            </a:extLst>
          </p:cNvPr>
          <p:cNvSpPr/>
          <p:nvPr/>
        </p:nvSpPr>
        <p:spPr>
          <a:xfrm>
            <a:off x="4173824" y="254000"/>
            <a:ext cx="8018175" cy="285459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3">
            <a:extLst>
              <a:ext uri="{FF2B5EF4-FFF2-40B4-BE49-F238E27FC236}">
                <a16:creationId xmlns:a16="http://schemas.microsoft.com/office/drawing/2014/main" id="{9CB9CFA0-2D6B-CA4F-A865-56BB442A8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2229"/>
            <a:ext cx="44412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4-2 Evaluation metrics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C820DAF-9D46-D67E-3F46-BBD2E7B4135F}"/>
              </a:ext>
            </a:extLst>
          </p:cNvPr>
          <p:cNvSpPr txBox="1"/>
          <p:nvPr/>
        </p:nvSpPr>
        <p:spPr>
          <a:xfrm>
            <a:off x="609600" y="620537"/>
            <a:ext cx="531643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evaluate ?</a:t>
            </a:r>
            <a:r>
              <a:rPr lang="en-US" altLang="zh-CN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ea typeface="微软雅黑" pitchFamily="34" charset="-122"/>
              </a:rPr>
              <a:t>Quantitative Analysis</a:t>
            </a:r>
            <a:endParaRPr lang="en-US" altLang="zh-CN" sz="2000" b="1" dirty="0">
              <a:solidFill>
                <a:schemeClr val="accent5">
                  <a:lumMod val="75000"/>
                </a:schemeClr>
              </a:solidFill>
              <a:ea typeface="微软雅黑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8821794-F839-967E-417C-47E761C7C7DB}"/>
                  </a:ext>
                </a:extLst>
              </p:cNvPr>
              <p:cNvSpPr txBox="1"/>
              <p:nvPr/>
            </p:nvSpPr>
            <p:spPr>
              <a:xfrm>
                <a:off x="1139386" y="1437399"/>
                <a:ext cx="7822915" cy="537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The correctness ratio</a:t>
                </a:r>
                <a:r>
                  <a:rPr kumimoji="0" lang="en-US" altLang="zh-TW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=</a:t>
                </a:r>
                <a:r>
                  <a:rPr kumimoji="0" lang="zh-TW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zh-TW" altLang="en-US" sz="1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number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of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manually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selected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correct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images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number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of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randomly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generated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unseen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type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altLang="zh-TW" sz="14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標楷體"/>
                            <a:cs typeface="+mn-cs"/>
                          </a:rPr>
                          <m:t>images</m:t>
                        </m:r>
                      </m:den>
                    </m:f>
                  </m:oMath>
                </a14:m>
                <a:endParaRPr kumimoji="0" lang="zh-TW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8821794-F839-967E-417C-47E761C7C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386" y="1437399"/>
                <a:ext cx="7822915" cy="537968"/>
              </a:xfrm>
              <a:prstGeom prst="rect">
                <a:avLst/>
              </a:prstGeom>
              <a:blipFill>
                <a:blip r:embed="rId3"/>
                <a:stretch>
                  <a:fillRect l="-701" t="-9091" b="-11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6A0B72D3-5782-3E8D-6EC4-FF3E95A0CDF1}"/>
              </a:ext>
            </a:extLst>
          </p:cNvPr>
          <p:cNvSpPr txBox="1"/>
          <p:nvPr/>
        </p:nvSpPr>
        <p:spPr>
          <a:xfrm>
            <a:off x="1139386" y="23000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Evaluation metrics for </a:t>
            </a:r>
            <a:r>
              <a:rPr lang="en-US" altLang="zh-TW" b="1" dirty="0"/>
              <a:t>diversity  :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D5A895CB-6CC0-C456-171A-DD8118CEAB70}"/>
                  </a:ext>
                </a:extLst>
              </p:cNvPr>
              <p:cNvSpPr txBox="1"/>
              <p:nvPr/>
            </p:nvSpPr>
            <p:spPr>
              <a:xfrm>
                <a:off x="4369085" y="2103955"/>
                <a:ext cx="2785117" cy="778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b="1" i="1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𝑷𝑰𝑷𝑺</m:t>
                      </m:r>
                      <m:d>
                        <m:dPr>
                          <m:ctrlPr>
                            <a:rPr lang="zh-TW" altLang="en-US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zh-TW" altLang="en-US" b="1" i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zh-TW" altLang="en-US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zh-TW" altLang="en-US" b="1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zh-TW" altLang="en-US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nary>
                      <m:r>
                        <a:rPr lang="zh-TW" altLang="en-US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ⅆ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D5A895CB-6CC0-C456-171A-DD8118CEA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085" y="2103955"/>
                <a:ext cx="2785117" cy="7788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1D263F09-E598-0413-CAA1-0ABBD7ABE348}"/>
              </a:ext>
            </a:extLst>
          </p:cNvPr>
          <p:cNvSpPr txBox="1"/>
          <p:nvPr/>
        </p:nvSpPr>
        <p:spPr>
          <a:xfrm>
            <a:off x="400903" y="3159709"/>
            <a:ext cx="9084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In addition to the quantitative evaluation above, we also use t-SNE for qualitative analysis.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63C941D-34C7-E133-9BB9-586A3FB7531A}"/>
              </a:ext>
            </a:extLst>
          </p:cNvPr>
          <p:cNvSpPr txBox="1"/>
          <p:nvPr/>
        </p:nvSpPr>
        <p:spPr>
          <a:xfrm>
            <a:off x="609600" y="3464606"/>
            <a:ext cx="12374939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2800" b="1" dirty="0">
                <a:solidFill>
                  <a:schemeClr val="accent5">
                    <a:lumMod val="75000"/>
                  </a:schemeClr>
                </a:solidFill>
              </a:rPr>
              <a:t>Qualitative Diversity Evaluation</a:t>
            </a:r>
          </a:p>
          <a:p>
            <a:r>
              <a:rPr lang="en-US" altLang="zh-TW" dirty="0"/>
              <a:t>Step 1. Resize all generated images to 128 × 128 </a:t>
            </a:r>
          </a:p>
          <a:p>
            <a:r>
              <a:rPr lang="en-US" altLang="zh-TW" dirty="0"/>
              <a:t>Step 2. Extract visual features using the intermediate layer of an ImageNet-pretrained VGG16 </a:t>
            </a:r>
          </a:p>
          <a:p>
            <a:r>
              <a:rPr lang="en-US" altLang="zh-TW" dirty="0"/>
              <a:t>Step 3. Obtain a feature vector for each generated image </a:t>
            </a:r>
          </a:p>
          <a:p>
            <a:r>
              <a:rPr lang="en-US" altLang="zh-TW" dirty="0"/>
              <a:t>Step 4. Project high-dimensional features into 2D using t-SNE </a:t>
            </a:r>
          </a:p>
          <a:p>
            <a:r>
              <a:rPr lang="en-US" altLang="zh-TW" dirty="0"/>
              <a:t>Step 5. Visualize different iterations or γ values with different colors valuation above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5862193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9AB7-54BE-B33A-6B41-BB577D50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693F9B4-A686-2E16-72E2-28C4508AC2BA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1772E3-D18B-75F8-7F1B-B8F09A8EDA31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C22415-BE74-D589-8BCB-4F103B3CDC5C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341D978-061A-1679-900F-540F648F7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284404"/>
              </p:ext>
            </p:extLst>
          </p:nvPr>
        </p:nvGraphicFramePr>
        <p:xfrm>
          <a:off x="546429" y="1651820"/>
          <a:ext cx="11020096" cy="16916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99399">
                  <a:extLst>
                    <a:ext uri="{9D8B030D-6E8A-4147-A177-3AD203B41FA5}">
                      <a16:colId xmlns:a16="http://schemas.microsoft.com/office/drawing/2014/main" val="3682257249"/>
                    </a:ext>
                  </a:extLst>
                </a:gridCol>
                <a:gridCol w="1792019">
                  <a:extLst>
                    <a:ext uri="{9D8B030D-6E8A-4147-A177-3AD203B41FA5}">
                      <a16:colId xmlns:a16="http://schemas.microsoft.com/office/drawing/2014/main" val="3672455379"/>
                    </a:ext>
                  </a:extLst>
                </a:gridCol>
                <a:gridCol w="1877645">
                  <a:extLst>
                    <a:ext uri="{9D8B030D-6E8A-4147-A177-3AD203B41FA5}">
                      <a16:colId xmlns:a16="http://schemas.microsoft.com/office/drawing/2014/main" val="2100617318"/>
                    </a:ext>
                  </a:extLst>
                </a:gridCol>
                <a:gridCol w="1888936">
                  <a:extLst>
                    <a:ext uri="{9D8B030D-6E8A-4147-A177-3AD203B41FA5}">
                      <a16:colId xmlns:a16="http://schemas.microsoft.com/office/drawing/2014/main" val="1787583433"/>
                    </a:ext>
                  </a:extLst>
                </a:gridCol>
                <a:gridCol w="2007064">
                  <a:extLst>
                    <a:ext uri="{9D8B030D-6E8A-4147-A177-3AD203B41FA5}">
                      <a16:colId xmlns:a16="http://schemas.microsoft.com/office/drawing/2014/main" val="2642241921"/>
                    </a:ext>
                  </a:extLst>
                </a:gridCol>
                <a:gridCol w="2155033">
                  <a:extLst>
                    <a:ext uri="{9D8B030D-6E8A-4147-A177-3AD203B41FA5}">
                      <a16:colId xmlns:a16="http://schemas.microsoft.com/office/drawing/2014/main" val="4030343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Random</a:t>
                      </a:r>
                    </a:p>
                    <a:p>
                      <a:pPr algn="ctr"/>
                      <a:r>
                        <a:rPr lang="en-US" altLang="zh-TW" sz="1600" dirty="0"/>
                        <a:t>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Modified 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=0.3)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Modified 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=0.5)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Modified 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=0.7)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=1)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796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Iteration 1</a:t>
                      </a:r>
                      <a:endParaRPr lang="en-US" b="0" dirty="0">
                        <a:effectLst/>
                        <a:latin typeface="+mn-lt"/>
                      </a:endParaRP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+mn-lt"/>
                        </a:rPr>
                        <a:t>473 (9.46%)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+mn-lt"/>
                        </a:rPr>
                        <a:t>622 (12.44%)</a:t>
                      </a:r>
                    </a:p>
                  </a:txBody>
                  <a:tcPr marL="57150" marR="57150" marT="28575" marB="28575" anchor="ctr"/>
                </a:tc>
                <a:extLst>
                  <a:ext uri="{0D108BD9-81ED-4DB2-BD59-A6C34878D82A}">
                    <a16:rowId xmlns:a16="http://schemas.microsoft.com/office/drawing/2014/main" val="523673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Iteration 2</a:t>
                      </a:r>
                      <a:endParaRPr lang="en-US" b="0" dirty="0">
                        <a:effectLst/>
                        <a:latin typeface="+mn-lt"/>
                      </a:endParaRP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+mn-lt"/>
                        </a:rPr>
                        <a:t>1085 (21.7%)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+mn-lt"/>
                        </a:rPr>
                        <a:t>1231 (24.62%)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+mn-lt"/>
                        </a:rPr>
                        <a:t>1123 (24.16%)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+mn-lt"/>
                        </a:rPr>
                        <a:t>1132 (22.64%)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+mn-lt"/>
                        </a:rPr>
                        <a:t>1065 (21.3%)</a:t>
                      </a:r>
                    </a:p>
                  </a:txBody>
                  <a:tcPr marL="57150" marR="57150" marT="28575" marB="28575" anchor="ctr"/>
                </a:tc>
                <a:extLst>
                  <a:ext uri="{0D108BD9-81ED-4DB2-BD59-A6C34878D82A}">
                    <a16:rowId xmlns:a16="http://schemas.microsoft.com/office/drawing/2014/main" val="130575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Iteration 3</a:t>
                      </a:r>
                      <a:endParaRPr lang="en-US" b="0" dirty="0">
                        <a:effectLst/>
                        <a:latin typeface="+mn-lt"/>
                      </a:endParaRP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+mn-lt"/>
                        </a:rPr>
                        <a:t>1579 (31.58%)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+mn-lt"/>
                        </a:rPr>
                        <a:t>1641 (32.82%)</a:t>
                      </a:r>
                      <a:endParaRPr lang="zh-TW" altLang="en-US" b="0" dirty="0">
                        <a:effectLst/>
                        <a:latin typeface="+mn-lt"/>
                      </a:endParaRP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+mn-lt"/>
                        </a:rPr>
                        <a:t>1588 (31.76%)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+mn-lt"/>
                        </a:rPr>
                        <a:t>1751 (35.2%)</a:t>
                      </a:r>
                      <a:endParaRPr lang="zh-TW" altLang="en-US" b="0" dirty="0">
                        <a:effectLst/>
                        <a:latin typeface="+mn-lt"/>
                      </a:endParaRP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+mn-lt"/>
                        </a:rPr>
                        <a:t>1708 (34.16%)</a:t>
                      </a:r>
                    </a:p>
                  </a:txBody>
                  <a:tcPr marL="57150" marR="57150" marT="28575" marB="28575" anchor="ctr"/>
                </a:tc>
                <a:extLst>
                  <a:ext uri="{0D108BD9-81ED-4DB2-BD59-A6C34878D82A}">
                    <a16:rowId xmlns:a16="http://schemas.microsoft.com/office/drawing/2014/main" val="15516750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F74EED5B-6FD0-9AB2-6BA8-B1E818BEA7B7}"/>
              </a:ext>
            </a:extLst>
          </p:cNvPr>
          <p:cNvSpPr txBox="1"/>
          <p:nvPr/>
        </p:nvSpPr>
        <p:spPr>
          <a:xfrm>
            <a:off x="6355007" y="415800"/>
            <a:ext cx="69869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*Note: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For </a:t>
            </a:r>
            <a:r>
              <a:rPr lang="en-US" altLang="zh-TW" sz="1400" b="1" dirty="0"/>
              <a:t>γ = 0.3</a:t>
            </a:r>
            <a:r>
              <a:rPr lang="zh-TW" altLang="en-US" sz="1400" b="1" dirty="0"/>
              <a:t>、</a:t>
            </a:r>
            <a:r>
              <a:rPr lang="en-US" altLang="zh-TW" sz="1400" b="1" dirty="0"/>
              <a:t>0.5</a:t>
            </a:r>
            <a:r>
              <a:rPr lang="zh-TW" altLang="en-US" sz="1400" b="1" dirty="0"/>
              <a:t>、</a:t>
            </a:r>
            <a:r>
              <a:rPr lang="en-US" altLang="zh-TW" sz="1400" b="1" dirty="0"/>
              <a:t>0.7</a:t>
            </a:r>
            <a:r>
              <a:rPr lang="en-US" altLang="zh-TW" sz="1400" dirty="0"/>
              <a:t> , we </a:t>
            </a:r>
            <a:r>
              <a:rPr lang="en-US" altLang="zh-TW" sz="1400" b="1" dirty="0"/>
              <a:t>start from Iteration 2</a:t>
            </a:r>
            <a:r>
              <a:rPr lang="en-US" altLang="zh-TW" sz="1400" dirty="0"/>
              <a:t>, </a:t>
            </a:r>
          </a:p>
          <a:p>
            <a:r>
              <a:rPr lang="zh-TW" altLang="en-US" sz="1400" dirty="0"/>
              <a:t>       </a:t>
            </a:r>
            <a:r>
              <a:rPr lang="en-US" altLang="zh-TW" sz="1400" dirty="0"/>
              <a:t>using Iteration 1 (γ = 1) output as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The training dataset for </a:t>
            </a:r>
            <a:r>
              <a:rPr lang="en-US" altLang="zh-TW" sz="1400" b="1" dirty="0"/>
              <a:t>Iteration</a:t>
            </a:r>
            <a:r>
              <a:rPr lang="en-US" altLang="zh-TW" sz="1400" dirty="0"/>
              <a:t> </a:t>
            </a:r>
            <a:r>
              <a:rPr lang="en-US" altLang="zh-TW" sz="1400" b="1" dirty="0"/>
              <a:t>3</a:t>
            </a:r>
            <a:r>
              <a:rPr lang="en-US" altLang="zh-TW" sz="1400" dirty="0"/>
              <a:t> is constructed from the updated dataset </a:t>
            </a:r>
          </a:p>
          <a:p>
            <a:r>
              <a:rPr lang="zh-TW" altLang="en-US" sz="1400" dirty="0"/>
              <a:t>       </a:t>
            </a:r>
            <a:r>
              <a:rPr lang="en-US" altLang="zh-TW" sz="1400" dirty="0"/>
              <a:t>after image generation by each γ in </a:t>
            </a:r>
            <a:r>
              <a:rPr lang="en-US" altLang="zh-TW" sz="1400" b="1" dirty="0"/>
              <a:t>Iteration</a:t>
            </a:r>
            <a:r>
              <a:rPr lang="en-US" altLang="zh-TW" sz="1400" dirty="0"/>
              <a:t> </a:t>
            </a:r>
            <a:r>
              <a:rPr lang="en-US" altLang="zh-TW" sz="1400" b="1" dirty="0"/>
              <a:t>2</a:t>
            </a:r>
            <a:r>
              <a:rPr lang="en-US" altLang="zh-TW" sz="1400" dirty="0"/>
              <a:t>.</a:t>
            </a:r>
            <a:endParaRPr lang="zh-TW" altLang="en-US" sz="1100" dirty="0"/>
          </a:p>
        </p:txBody>
      </p:sp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A2B13307-B880-68F7-63EB-1844F632C6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3829884"/>
              </p:ext>
            </p:extLst>
          </p:nvPr>
        </p:nvGraphicFramePr>
        <p:xfrm>
          <a:off x="3104085" y="3334407"/>
          <a:ext cx="5983829" cy="3370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2B89440-A019-ABD0-8486-FA0DD0760AEF}"/>
              </a:ext>
            </a:extLst>
          </p:cNvPr>
          <p:cNvSpPr/>
          <p:nvPr/>
        </p:nvSpPr>
        <p:spPr>
          <a:xfrm>
            <a:off x="5651938" y="4459457"/>
            <a:ext cx="1411014" cy="6328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D20F124-2F1F-83A4-D307-CC7AD15901D7}"/>
              </a:ext>
            </a:extLst>
          </p:cNvPr>
          <p:cNvSpPr/>
          <p:nvPr/>
        </p:nvSpPr>
        <p:spPr>
          <a:xfrm>
            <a:off x="7393575" y="3939492"/>
            <a:ext cx="1411014" cy="6328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D081910-D076-6D10-4392-F2956BE88B74}"/>
              </a:ext>
            </a:extLst>
          </p:cNvPr>
          <p:cNvSpPr txBox="1"/>
          <p:nvPr/>
        </p:nvSpPr>
        <p:spPr>
          <a:xfrm>
            <a:off x="162092" y="4360360"/>
            <a:ext cx="2810613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When only a few additional images are included, smaller values of γ are preferred.</a:t>
            </a:r>
            <a:endParaRPr lang="zh-TW" altLang="en-US" sz="1600" dirty="0"/>
          </a:p>
        </p:txBody>
      </p:sp>
      <p:cxnSp>
        <p:nvCxnSpPr>
          <p:cNvPr id="19" name="接點: 弧形 18">
            <a:extLst>
              <a:ext uri="{FF2B5EF4-FFF2-40B4-BE49-F238E27FC236}">
                <a16:creationId xmlns:a16="http://schemas.microsoft.com/office/drawing/2014/main" id="{746451EC-8726-1C1C-F26F-E7A40D4D988E}"/>
              </a:ext>
            </a:extLst>
          </p:cNvPr>
          <p:cNvCxnSpPr>
            <a:cxnSpLocks/>
            <a:stCxn id="17" idx="0"/>
          </p:cNvCxnSpPr>
          <p:nvPr/>
        </p:nvCxnSpPr>
        <p:spPr>
          <a:xfrm rot="16200000" flipH="1">
            <a:off x="3404755" y="2523004"/>
            <a:ext cx="409826" cy="4084539"/>
          </a:xfrm>
          <a:prstGeom prst="curvedConnector4">
            <a:avLst>
              <a:gd name="adj1" fmla="val -55780"/>
              <a:gd name="adj2" fmla="val 67203"/>
            </a:avLst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447E7BF-18F6-052E-5D2A-6E5CE870BE57}"/>
              </a:ext>
            </a:extLst>
          </p:cNvPr>
          <p:cNvSpPr txBox="1"/>
          <p:nvPr/>
        </p:nvSpPr>
        <p:spPr>
          <a:xfrm>
            <a:off x="9135212" y="3731440"/>
            <a:ext cx="2964822" cy="13234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As more images are added, adopting a more balanced sampling strategy (larger γ) leads to better generation performance.</a:t>
            </a:r>
            <a:endParaRPr lang="zh-TW" altLang="en-US" sz="1600" dirty="0"/>
          </a:p>
        </p:txBody>
      </p:sp>
      <p:cxnSp>
        <p:nvCxnSpPr>
          <p:cNvPr id="23" name="接點: 弧形 22">
            <a:extLst>
              <a:ext uri="{FF2B5EF4-FFF2-40B4-BE49-F238E27FC236}">
                <a16:creationId xmlns:a16="http://schemas.microsoft.com/office/drawing/2014/main" id="{E9A3D15F-0860-0E7C-5658-306FD5EE3F3A}"/>
              </a:ext>
            </a:extLst>
          </p:cNvPr>
          <p:cNvCxnSpPr>
            <a:cxnSpLocks/>
            <a:stCxn id="13" idx="3"/>
            <a:endCxn id="22" idx="0"/>
          </p:cNvCxnSpPr>
          <p:nvPr/>
        </p:nvCxnSpPr>
        <p:spPr>
          <a:xfrm flipV="1">
            <a:off x="8804589" y="3731440"/>
            <a:ext cx="1813034" cy="524454"/>
          </a:xfrm>
          <a:prstGeom prst="curvedConnector4">
            <a:avLst>
              <a:gd name="adj1" fmla="val 9118"/>
              <a:gd name="adj2" fmla="val 143588"/>
            </a:avLst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49E875-50B1-BCC3-4718-2D6BF5904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307923-B708-662E-EC94-66401D160B33}"/>
              </a:ext>
            </a:extLst>
          </p:cNvPr>
          <p:cNvSpPr/>
          <p:nvPr/>
        </p:nvSpPr>
        <p:spPr>
          <a:xfrm>
            <a:off x="4042228" y="254000"/>
            <a:ext cx="8149771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文本框 3">
            <a:extLst>
              <a:ext uri="{FF2B5EF4-FFF2-40B4-BE49-F238E27FC236}">
                <a16:creationId xmlns:a16="http://schemas.microsoft.com/office/drawing/2014/main" id="{1AED5179-0F36-2F56-E0E2-A74B80977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79" y="153287"/>
            <a:ext cx="6958803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4-3 Experiment results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Quantitative Analysis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of Iterative Training on CelebA Dataset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4357672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7FA8C-5CF0-AC6A-6044-19B391C06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FD9637D-814B-BCD7-8EB1-C33C0600DADF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ADCDF8-7035-42A6-D3E9-E4FF98D58485}"/>
              </a:ext>
            </a:extLst>
          </p:cNvPr>
          <p:cNvSpPr/>
          <p:nvPr/>
        </p:nvSpPr>
        <p:spPr>
          <a:xfrm>
            <a:off x="4042228" y="254000"/>
            <a:ext cx="8149771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B33F2D-08D4-6C64-BC1F-FCC02E05DC35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C51ACD-6B35-0E5E-E993-233DB950E88E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83F6D5-1D10-4C9E-CD13-38C255579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79" y="153287"/>
            <a:ext cx="6958803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4-3 Experiment results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Quantitative Analysis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of Iterative Training on CelebA Dataset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387EB92-23DF-D1E4-E0C0-AB7B2187D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249517"/>
              </p:ext>
            </p:extLst>
          </p:nvPr>
        </p:nvGraphicFramePr>
        <p:xfrm>
          <a:off x="546179" y="2435534"/>
          <a:ext cx="10526960" cy="16916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63949">
                  <a:extLst>
                    <a:ext uri="{9D8B030D-6E8A-4147-A177-3AD203B41FA5}">
                      <a16:colId xmlns:a16="http://schemas.microsoft.com/office/drawing/2014/main" val="3682257249"/>
                    </a:ext>
                  </a:extLst>
                </a:gridCol>
                <a:gridCol w="1798315">
                  <a:extLst>
                    <a:ext uri="{9D8B030D-6E8A-4147-A177-3AD203B41FA5}">
                      <a16:colId xmlns:a16="http://schemas.microsoft.com/office/drawing/2014/main" val="3672455379"/>
                    </a:ext>
                  </a:extLst>
                </a:gridCol>
                <a:gridCol w="1866174">
                  <a:extLst>
                    <a:ext uri="{9D8B030D-6E8A-4147-A177-3AD203B41FA5}">
                      <a16:colId xmlns:a16="http://schemas.microsoft.com/office/drawing/2014/main" val="2969844181"/>
                    </a:ext>
                  </a:extLst>
                </a:gridCol>
                <a:gridCol w="1866174">
                  <a:extLst>
                    <a:ext uri="{9D8B030D-6E8A-4147-A177-3AD203B41FA5}">
                      <a16:colId xmlns:a16="http://schemas.microsoft.com/office/drawing/2014/main" val="2275171723"/>
                    </a:ext>
                  </a:extLst>
                </a:gridCol>
                <a:gridCol w="1866174">
                  <a:extLst>
                    <a:ext uri="{9D8B030D-6E8A-4147-A177-3AD203B41FA5}">
                      <a16:colId xmlns:a16="http://schemas.microsoft.com/office/drawing/2014/main" val="416895546"/>
                    </a:ext>
                  </a:extLst>
                </a:gridCol>
                <a:gridCol w="1866174">
                  <a:extLst>
                    <a:ext uri="{9D8B030D-6E8A-4147-A177-3AD203B41FA5}">
                      <a16:colId xmlns:a16="http://schemas.microsoft.com/office/drawing/2014/main" val="721285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Random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Modified 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=0.3)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Modified 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=0.5)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Modified 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=0.7)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=1)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796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Iteration1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0.5339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0.5596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673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Iteration2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0.5276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0.5346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0.5269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0.5082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0.5333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75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Iteration3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0.4461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0.4967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0.4675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0.4614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0.5117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675071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21FA9774-99F5-2160-0772-36774A53CFE6}"/>
              </a:ext>
            </a:extLst>
          </p:cNvPr>
          <p:cNvSpPr txBox="1"/>
          <p:nvPr/>
        </p:nvSpPr>
        <p:spPr>
          <a:xfrm>
            <a:off x="146293" y="1987626"/>
            <a:ext cx="2163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LPIPS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8E3FB62-0798-39FD-8832-B09949C7A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AC86E3D-4665-2D96-4EBD-B73A682F915D}"/>
              </a:ext>
            </a:extLst>
          </p:cNvPr>
          <p:cNvSpPr txBox="1"/>
          <p:nvPr/>
        </p:nvSpPr>
        <p:spPr>
          <a:xfrm>
            <a:off x="5809659" y="1232713"/>
            <a:ext cx="69869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*Note: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For </a:t>
            </a:r>
            <a:r>
              <a:rPr lang="en-US" altLang="zh-TW" sz="1400" b="1" dirty="0"/>
              <a:t>γ = 0.3</a:t>
            </a:r>
            <a:r>
              <a:rPr lang="zh-TW" altLang="en-US" sz="1400" b="1" dirty="0"/>
              <a:t>、</a:t>
            </a:r>
            <a:r>
              <a:rPr lang="en-US" altLang="zh-TW" sz="1400" b="1" dirty="0"/>
              <a:t>0.5</a:t>
            </a:r>
            <a:r>
              <a:rPr lang="zh-TW" altLang="en-US" sz="1400" b="1" dirty="0"/>
              <a:t>、</a:t>
            </a:r>
            <a:r>
              <a:rPr lang="en-US" altLang="zh-TW" sz="1400" b="1" dirty="0"/>
              <a:t>0.7</a:t>
            </a:r>
            <a:r>
              <a:rPr lang="en-US" altLang="zh-TW" sz="1400" dirty="0"/>
              <a:t> , we </a:t>
            </a:r>
            <a:r>
              <a:rPr lang="en-US" altLang="zh-TW" sz="1400" b="1" dirty="0"/>
              <a:t>start from Iteration 2</a:t>
            </a:r>
            <a:r>
              <a:rPr lang="en-US" altLang="zh-TW" sz="1400" dirty="0"/>
              <a:t>, </a:t>
            </a:r>
          </a:p>
          <a:p>
            <a:r>
              <a:rPr lang="zh-TW" altLang="en-US" sz="1400" dirty="0"/>
              <a:t>       </a:t>
            </a:r>
            <a:r>
              <a:rPr lang="en-US" altLang="zh-TW" sz="1400" dirty="0"/>
              <a:t>using Iteration 1 (γ = 1) output as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The training dataset for </a:t>
            </a:r>
            <a:r>
              <a:rPr lang="en-US" altLang="zh-TW" sz="1400" b="1" dirty="0"/>
              <a:t>Iteration</a:t>
            </a:r>
            <a:r>
              <a:rPr lang="en-US" altLang="zh-TW" sz="1400" dirty="0"/>
              <a:t> </a:t>
            </a:r>
            <a:r>
              <a:rPr lang="en-US" altLang="zh-TW" sz="1400" b="1" dirty="0"/>
              <a:t>3</a:t>
            </a:r>
            <a:r>
              <a:rPr lang="en-US" altLang="zh-TW" sz="1400" dirty="0"/>
              <a:t> is constructed from the updated dataset </a:t>
            </a:r>
          </a:p>
          <a:p>
            <a:r>
              <a:rPr lang="zh-TW" altLang="en-US" sz="1400" dirty="0"/>
              <a:t>       </a:t>
            </a:r>
            <a:r>
              <a:rPr lang="en-US" altLang="zh-TW" sz="1400" dirty="0"/>
              <a:t>after image generation by each γ in </a:t>
            </a:r>
            <a:r>
              <a:rPr lang="en-US" altLang="zh-TW" sz="1400" b="1" dirty="0"/>
              <a:t>Iteration</a:t>
            </a:r>
            <a:r>
              <a:rPr lang="en-US" altLang="zh-TW" sz="1400" dirty="0"/>
              <a:t> </a:t>
            </a:r>
            <a:r>
              <a:rPr lang="en-US" altLang="zh-TW" sz="1400" b="1" dirty="0"/>
              <a:t>2</a:t>
            </a:r>
            <a:r>
              <a:rPr lang="en-US" altLang="zh-TW" sz="1400" dirty="0"/>
              <a:t>.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089702891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0E8BD-94A6-3F05-1C15-259222A87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5E2E5AFF-B349-523C-0BE4-F0F5BC764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45" y="2350057"/>
            <a:ext cx="6637246" cy="3960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1361F95-EF58-A034-ABA4-312B3F0EF470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D80C9D-2659-E8D6-FE06-E0A2FC542E37}"/>
              </a:ext>
            </a:extLst>
          </p:cNvPr>
          <p:cNvSpPr/>
          <p:nvPr/>
        </p:nvSpPr>
        <p:spPr>
          <a:xfrm>
            <a:off x="4114800" y="254000"/>
            <a:ext cx="80772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AE60E5-78C2-424E-A539-D47112510B1D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F239DC-A8D4-6760-DF8D-01157FB971AC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0FF1E4-E60D-EF81-B705-9682C1EE7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79" y="153287"/>
            <a:ext cx="6958803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300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4-3 Experiment results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Qualitative Analysis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of Iterative Training on CelebA Dataset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E95041-0793-B29E-6E8A-5A742B7F1349}"/>
              </a:ext>
            </a:extLst>
          </p:cNvPr>
          <p:cNvSpPr txBox="1"/>
          <p:nvPr/>
        </p:nvSpPr>
        <p:spPr>
          <a:xfrm>
            <a:off x="2274514" y="6310057"/>
            <a:ext cx="280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t-SNE of 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89D2D8B-6407-3524-A0CD-E656042E2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54747"/>
              </p:ext>
            </p:extLst>
          </p:nvPr>
        </p:nvGraphicFramePr>
        <p:xfrm>
          <a:off x="826840" y="1301260"/>
          <a:ext cx="10526960" cy="9499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63949">
                  <a:extLst>
                    <a:ext uri="{9D8B030D-6E8A-4147-A177-3AD203B41FA5}">
                      <a16:colId xmlns:a16="http://schemas.microsoft.com/office/drawing/2014/main" val="240341367"/>
                    </a:ext>
                  </a:extLst>
                </a:gridCol>
                <a:gridCol w="1798315">
                  <a:extLst>
                    <a:ext uri="{9D8B030D-6E8A-4147-A177-3AD203B41FA5}">
                      <a16:colId xmlns:a16="http://schemas.microsoft.com/office/drawing/2014/main" val="347101353"/>
                    </a:ext>
                  </a:extLst>
                </a:gridCol>
                <a:gridCol w="1866174">
                  <a:extLst>
                    <a:ext uri="{9D8B030D-6E8A-4147-A177-3AD203B41FA5}">
                      <a16:colId xmlns:a16="http://schemas.microsoft.com/office/drawing/2014/main" val="3412805651"/>
                    </a:ext>
                  </a:extLst>
                </a:gridCol>
                <a:gridCol w="1866174">
                  <a:extLst>
                    <a:ext uri="{9D8B030D-6E8A-4147-A177-3AD203B41FA5}">
                      <a16:colId xmlns:a16="http://schemas.microsoft.com/office/drawing/2014/main" val="2255815802"/>
                    </a:ext>
                  </a:extLst>
                </a:gridCol>
                <a:gridCol w="1866174">
                  <a:extLst>
                    <a:ext uri="{9D8B030D-6E8A-4147-A177-3AD203B41FA5}">
                      <a16:colId xmlns:a16="http://schemas.microsoft.com/office/drawing/2014/main" val="1526538454"/>
                    </a:ext>
                  </a:extLst>
                </a:gridCol>
                <a:gridCol w="1866174">
                  <a:extLst>
                    <a:ext uri="{9D8B030D-6E8A-4147-A177-3AD203B41FA5}">
                      <a16:colId xmlns:a16="http://schemas.microsoft.com/office/drawing/2014/main" val="267270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Random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Modified 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=0.3)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Modified 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=0.5)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Modified 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=0.7)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=1)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968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Iteration2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0.5276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0.5346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0.5269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0.5082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0.5333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115993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C69FFBAB-2A2B-BA46-48BA-64E176C9A10D}"/>
              </a:ext>
            </a:extLst>
          </p:cNvPr>
          <p:cNvSpPr txBox="1"/>
          <p:nvPr/>
        </p:nvSpPr>
        <p:spPr>
          <a:xfrm>
            <a:off x="6993491" y="3429000"/>
            <a:ext cx="53093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When the diversity score is higher, the t-SNE points are more spread out, whereas lower diversity scores lead to more compact clusters. In this figure, the case with </a:t>
            </a:r>
            <a:r>
              <a:rPr lang="en-US" altLang="zh-TW" sz="16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γ=0.7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a lower diversity score and appears noticeably more concentrated in the t-SNE plot.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C7E541FE-876B-81F8-2143-1BF8BC8C570F}"/>
              </a:ext>
            </a:extLst>
          </p:cNvPr>
          <p:cNvSpPr/>
          <p:nvPr/>
        </p:nvSpPr>
        <p:spPr>
          <a:xfrm rot="20384572">
            <a:off x="1237420" y="4307951"/>
            <a:ext cx="3167269" cy="974932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42E85264-6DC8-CAE5-4D5C-B1BF1E60B941}"/>
              </a:ext>
            </a:extLst>
          </p:cNvPr>
          <p:cNvSpPr/>
          <p:nvPr/>
        </p:nvSpPr>
        <p:spPr>
          <a:xfrm rot="20384572">
            <a:off x="5427181" y="3302327"/>
            <a:ext cx="936902" cy="974932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8B6F017-70CB-518F-27B1-69C01AF0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34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0417633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48EB0-141A-7A09-60B8-6DF120BF8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78B989-03B2-F3B7-29BB-70DD86CD8B0F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4526EA-39A5-AFC2-D02B-C9D2CD0195C7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6ED4C04-E1DA-C49C-E3BA-77372CB332EE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9A69675-78A0-EDDB-291E-A3146A54E356}"/>
              </a:ext>
            </a:extLst>
          </p:cNvPr>
          <p:cNvSpPr txBox="1"/>
          <p:nvPr/>
        </p:nvSpPr>
        <p:spPr>
          <a:xfrm>
            <a:off x="4695646" y="6305012"/>
            <a:ext cx="280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t-SNE of 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BAECE07-35E5-0FAF-5DB2-D8A15343C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377" y="2345990"/>
            <a:ext cx="6637246" cy="3960000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93D891E-972C-3E62-445C-BAC473BFD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115065"/>
              </p:ext>
            </p:extLst>
          </p:nvPr>
        </p:nvGraphicFramePr>
        <p:xfrm>
          <a:off x="832520" y="1196953"/>
          <a:ext cx="10526960" cy="9499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63949">
                  <a:extLst>
                    <a:ext uri="{9D8B030D-6E8A-4147-A177-3AD203B41FA5}">
                      <a16:colId xmlns:a16="http://schemas.microsoft.com/office/drawing/2014/main" val="240341367"/>
                    </a:ext>
                  </a:extLst>
                </a:gridCol>
                <a:gridCol w="1798315">
                  <a:extLst>
                    <a:ext uri="{9D8B030D-6E8A-4147-A177-3AD203B41FA5}">
                      <a16:colId xmlns:a16="http://schemas.microsoft.com/office/drawing/2014/main" val="347101353"/>
                    </a:ext>
                  </a:extLst>
                </a:gridCol>
                <a:gridCol w="1866174">
                  <a:extLst>
                    <a:ext uri="{9D8B030D-6E8A-4147-A177-3AD203B41FA5}">
                      <a16:colId xmlns:a16="http://schemas.microsoft.com/office/drawing/2014/main" val="3412805651"/>
                    </a:ext>
                  </a:extLst>
                </a:gridCol>
                <a:gridCol w="1866174">
                  <a:extLst>
                    <a:ext uri="{9D8B030D-6E8A-4147-A177-3AD203B41FA5}">
                      <a16:colId xmlns:a16="http://schemas.microsoft.com/office/drawing/2014/main" val="2255815802"/>
                    </a:ext>
                  </a:extLst>
                </a:gridCol>
                <a:gridCol w="1866174">
                  <a:extLst>
                    <a:ext uri="{9D8B030D-6E8A-4147-A177-3AD203B41FA5}">
                      <a16:colId xmlns:a16="http://schemas.microsoft.com/office/drawing/2014/main" val="1526538454"/>
                    </a:ext>
                  </a:extLst>
                </a:gridCol>
                <a:gridCol w="1866174">
                  <a:extLst>
                    <a:ext uri="{9D8B030D-6E8A-4147-A177-3AD203B41FA5}">
                      <a16:colId xmlns:a16="http://schemas.microsoft.com/office/drawing/2014/main" val="267270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Random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Modified 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=0.3)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Modified 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=0.5)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Modified 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=0.7)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Balanced Sampling(</a:t>
                      </a:r>
                      <a:r>
                        <a:rPr lang="en-US" altLang="zh-TW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TW" sz="1600" dirty="0"/>
                        <a:t>=1)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968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Iteration3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0.4461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0.4967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0.4675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0.4614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0.5117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115993"/>
                  </a:ext>
                </a:extLst>
              </a:tr>
            </a:tbl>
          </a:graphicData>
        </a:graphic>
      </p:graphicFrame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C764874-A16E-D10D-BC6C-9731AFA5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73868EDD-4651-28FD-A755-C760072EEED4}"/>
              </a:ext>
            </a:extLst>
          </p:cNvPr>
          <p:cNvSpPr/>
          <p:nvPr/>
        </p:nvSpPr>
        <p:spPr>
          <a:xfrm rot="19530193">
            <a:off x="5181633" y="4247682"/>
            <a:ext cx="3306077" cy="974932"/>
          </a:xfrm>
          <a:prstGeom prst="ellipse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9848566-DE9A-8F32-FE25-0FE4CFD19F19}"/>
              </a:ext>
            </a:extLst>
          </p:cNvPr>
          <p:cNvSpPr txBox="1"/>
          <p:nvPr/>
        </p:nvSpPr>
        <p:spPr>
          <a:xfrm>
            <a:off x="9578210" y="3691325"/>
            <a:ext cx="22552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accent2"/>
                </a:solidFill>
              </a:rPr>
              <a:t>γ = 0</a:t>
            </a:r>
            <a:r>
              <a:rPr lang="en-US" altLang="zh-TW" dirty="0"/>
              <a:t>: Concentrated </a:t>
            </a:r>
          </a:p>
          <a:p>
            <a:r>
              <a:rPr lang="en-US" altLang="zh-TW" dirty="0"/>
              <a:t>  (Low Diversity)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DDFC22B-0E3C-96AE-3A7C-EC3EDA6E7C69}"/>
              </a:ext>
            </a:extLst>
          </p:cNvPr>
          <p:cNvSpPr txBox="1"/>
          <p:nvPr/>
        </p:nvSpPr>
        <p:spPr>
          <a:xfrm>
            <a:off x="899803" y="3259363"/>
            <a:ext cx="22552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accent6"/>
                </a:solidFill>
              </a:rPr>
              <a:t>γ = 1</a:t>
            </a:r>
            <a:r>
              <a:rPr lang="en-US" altLang="zh-TW" dirty="0"/>
              <a:t>: Dispersed (High Diversity)</a:t>
            </a:r>
            <a:endParaRPr lang="zh-TW" altLang="en-US" dirty="0"/>
          </a:p>
        </p:txBody>
      </p:sp>
      <p:cxnSp>
        <p:nvCxnSpPr>
          <p:cNvPr id="14" name="接點: 弧形 13">
            <a:extLst>
              <a:ext uri="{FF2B5EF4-FFF2-40B4-BE49-F238E27FC236}">
                <a16:creationId xmlns:a16="http://schemas.microsoft.com/office/drawing/2014/main" id="{6481EACB-1D96-C4A4-C5AA-F731B8DEAAA6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7156174" y="4014490"/>
            <a:ext cx="2422036" cy="1069297"/>
          </a:xfrm>
          <a:prstGeom prst="curvedConnector3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接點: 弧形 17">
            <a:extLst>
              <a:ext uri="{FF2B5EF4-FFF2-40B4-BE49-F238E27FC236}">
                <a16:creationId xmlns:a16="http://schemas.microsoft.com/office/drawing/2014/main" id="{C417B0BE-D7DD-E649-6F75-FC06172FC36B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H="1">
            <a:off x="2589226" y="2697570"/>
            <a:ext cx="1454111" cy="2577696"/>
          </a:xfrm>
          <a:prstGeom prst="curvedConnector4">
            <a:avLst>
              <a:gd name="adj1" fmla="val -15721"/>
              <a:gd name="adj2" fmla="val 71873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F78235B4-5AE3-1A49-2EB1-1F83618F1356}"/>
              </a:ext>
            </a:extLst>
          </p:cNvPr>
          <p:cNvSpPr/>
          <p:nvPr/>
        </p:nvSpPr>
        <p:spPr>
          <a:xfrm>
            <a:off x="4114800" y="254000"/>
            <a:ext cx="80772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3">
            <a:extLst>
              <a:ext uri="{FF2B5EF4-FFF2-40B4-BE49-F238E27FC236}">
                <a16:creationId xmlns:a16="http://schemas.microsoft.com/office/drawing/2014/main" id="{CCC855EF-097D-A21A-002B-380787AC2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79" y="153287"/>
            <a:ext cx="6958803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300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4-3 Experiment results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Qualitative Analysis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srgbClr val="044875"/>
                </a:solidFill>
                <a:latin typeface="微软雅黑" pitchFamily="34" charset="-122"/>
                <a:ea typeface="微软雅黑" pitchFamily="34" charset="-122"/>
              </a:rPr>
              <a:t>of Iterative Training on CelebA Dataset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440628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4046F-5816-C8B4-D7A9-79FEC8FC1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: 圓角 90">
            <a:extLst>
              <a:ext uri="{FF2B5EF4-FFF2-40B4-BE49-F238E27FC236}">
                <a16:creationId xmlns:a16="http://schemas.microsoft.com/office/drawing/2014/main" id="{8A319D0A-EC1D-4065-3B5A-EA3B7731BB97}"/>
              </a:ext>
            </a:extLst>
          </p:cNvPr>
          <p:cNvSpPr/>
          <p:nvPr/>
        </p:nvSpPr>
        <p:spPr>
          <a:xfrm>
            <a:off x="828261" y="962295"/>
            <a:ext cx="2471530" cy="49318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1951B0-D589-63A4-1189-84966C1B3660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61F1E6-B42A-CB39-78D3-B38C9586A3BA}"/>
              </a:ext>
            </a:extLst>
          </p:cNvPr>
          <p:cNvSpPr/>
          <p:nvPr/>
        </p:nvSpPr>
        <p:spPr>
          <a:xfrm>
            <a:off x="4092314" y="254001"/>
            <a:ext cx="8099685" cy="23245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E3A256-53A0-6B3A-E6C4-2B1A9709A9C5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61E5AE9-20CD-920B-E56D-EC9EECCE3499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0C151D7-8EDE-44DA-7CEB-D233E7878936}"/>
              </a:ext>
            </a:extLst>
          </p:cNvPr>
          <p:cNvSpPr txBox="1"/>
          <p:nvPr/>
        </p:nvSpPr>
        <p:spPr>
          <a:xfrm>
            <a:off x="670500" y="956560"/>
            <a:ext cx="27870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Sampling</a:t>
            </a:r>
            <a:r>
              <a:rPr lang="el-GR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(γ=1)</a:t>
            </a:r>
          </a:p>
          <a:p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0C25D6E-EBED-5BB0-7461-84933825E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7740" y="3633048"/>
            <a:ext cx="756000" cy="7560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1A4AC8A-9C90-6009-E8DF-34DE24C9AD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" y="4502599"/>
            <a:ext cx="756000" cy="7560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C8243A91-EBD6-40F1-6C18-71B2F0258D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0136" y="2752730"/>
            <a:ext cx="756000" cy="75600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D2C3944B-F7BD-F34E-5FE3-40B119F445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0136" y="4502599"/>
            <a:ext cx="756000" cy="75600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AE2EEDFE-0799-B922-6592-21314A3CB5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" y="3633048"/>
            <a:ext cx="756000" cy="756000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683804B7-F923-8587-66EB-B2BBBF6F0B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0136" y="3633048"/>
            <a:ext cx="756000" cy="756000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478E6519-1AAA-C5C4-E197-25B7C625F0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7740" y="4502599"/>
            <a:ext cx="756000" cy="75600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8E1D17E3-E567-FD75-66B1-BF60080FDE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7740" y="2752730"/>
            <a:ext cx="756000" cy="756000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386803F2-5CB7-1164-66DC-5A6F9F4FD63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7740" y="1872412"/>
            <a:ext cx="756000" cy="756000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235FD154-237A-D160-3F46-C2AA7545E79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0136" y="1872412"/>
            <a:ext cx="756000" cy="756000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0CC46262-3D75-6F1B-D3BE-4A96A53C24D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" y="2752730"/>
            <a:ext cx="756000" cy="756000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A03286B3-F450-2EDE-713E-57BBFD3AC25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" y="1876192"/>
            <a:ext cx="756000" cy="748440"/>
          </a:xfrm>
          <a:prstGeom prst="rect">
            <a:avLst/>
          </a:prstGeom>
        </p:spPr>
      </p:pic>
      <p:sp>
        <p:nvSpPr>
          <p:cNvPr id="37" name="文字方塊 36">
            <a:extLst>
              <a:ext uri="{FF2B5EF4-FFF2-40B4-BE49-F238E27FC236}">
                <a16:creationId xmlns:a16="http://schemas.microsoft.com/office/drawing/2014/main" id="{8ACA38EB-0C59-C095-9B92-39F280490D50}"/>
              </a:ext>
            </a:extLst>
          </p:cNvPr>
          <p:cNvSpPr txBox="1"/>
          <p:nvPr/>
        </p:nvSpPr>
        <p:spPr>
          <a:xfrm>
            <a:off x="380695" y="5372150"/>
            <a:ext cx="35691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Images from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1</a:t>
            </a:r>
          </a:p>
          <a:p>
            <a:endParaRPr lang="en-US" altLang="zh-TW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LPIPS:</a:t>
            </a:r>
            <a:r>
              <a:rPr lang="en-US" altLang="zh-TW" dirty="0"/>
              <a:t>0.5596</a:t>
            </a:r>
          </a:p>
          <a:p>
            <a:pPr lvl="0" algn="ctr">
              <a:defRPr/>
            </a:pPr>
            <a:r>
              <a:rPr lang="en-US" altLang="zh-TW" dirty="0"/>
              <a:t>Accuracy:12.44%</a:t>
            </a:r>
            <a:endParaRPr lang="zh-TW" altLang="en-US" dirty="0"/>
          </a:p>
          <a:p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A640A768-B240-E42F-8380-BAE7A88DB384}"/>
              </a:ext>
            </a:extLst>
          </p:cNvPr>
          <p:cNvSpPr txBox="1"/>
          <p:nvPr/>
        </p:nvSpPr>
        <p:spPr>
          <a:xfrm>
            <a:off x="8310085" y="5372150"/>
            <a:ext cx="35691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Images from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3</a:t>
            </a:r>
          </a:p>
          <a:p>
            <a:endParaRPr lang="en-US" altLang="zh-TW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LPIPS:</a:t>
            </a:r>
            <a:r>
              <a:rPr lang="en-US" altLang="zh-TW" dirty="0"/>
              <a:t>0.5117</a:t>
            </a:r>
          </a:p>
          <a:p>
            <a:pPr algn="ctr">
              <a:defRPr/>
            </a:pPr>
            <a:r>
              <a:rPr lang="en-US" altLang="zh-TW" dirty="0"/>
              <a:t>Accuracy:34.16%</a:t>
            </a:r>
            <a:endParaRPr lang="zh-TW" altLang="en-US" dirty="0"/>
          </a:p>
          <a:p>
            <a:pPr lvl="0" algn="ctr">
              <a:defRPr/>
            </a:pPr>
            <a:endParaRPr lang="zh-TW" altLang="en-US" dirty="0"/>
          </a:p>
          <a:p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25">
            <a:extLst>
              <a:ext uri="{FF2B5EF4-FFF2-40B4-BE49-F238E27FC236}">
                <a16:creationId xmlns:a16="http://schemas.microsoft.com/office/drawing/2014/main" id="{5A1918DB-5777-407A-139E-A691D811A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576" y="1420910"/>
            <a:ext cx="25465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TW" sz="2000" b="1" dirty="0"/>
              <a:t>&lt;Gray  Hair , Female&gt;</a:t>
            </a:r>
            <a:endParaRPr lang="zh-CN" altLang="en-US" sz="2000" b="1" dirty="0"/>
          </a:p>
        </p:txBody>
      </p:sp>
      <p:sp>
        <p:nvSpPr>
          <p:cNvPr id="90" name="文本框 25">
            <a:extLst>
              <a:ext uri="{FF2B5EF4-FFF2-40B4-BE49-F238E27FC236}">
                <a16:creationId xmlns:a16="http://schemas.microsoft.com/office/drawing/2014/main" id="{1D26B1D0-BD74-AEAD-1651-267BCC7FC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4442" y="1420910"/>
            <a:ext cx="25465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TW" sz="2000" b="1" dirty="0"/>
              <a:t>&lt;Gray  Hair , Female&gt;</a:t>
            </a:r>
            <a:endParaRPr lang="zh-CN" altLang="en-US" sz="2000" b="1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CA883BA-0029-177E-832C-B4C53A88BB1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62171" y="3660309"/>
            <a:ext cx="756000" cy="756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631C0A9-93BD-67D8-3961-6F9032E5896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10073" y="4531898"/>
            <a:ext cx="756000" cy="7560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C1D7802-6CDA-5852-66FC-C1B9055225F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9454" y="2767691"/>
            <a:ext cx="756000" cy="75600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52CEEEC1-B77E-4EC4-743D-63A3B761DFD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10073" y="2782029"/>
            <a:ext cx="756000" cy="75600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9BCC52CD-5384-4A00-96CE-51FFA96D066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26934" y="4531898"/>
            <a:ext cx="756000" cy="75600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12E6F7E2-2898-0F6D-51D7-4FBD6737D10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9454" y="3664385"/>
            <a:ext cx="756000" cy="756000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962A1DF9-052B-7434-6E20-BC58BB85B3A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1342" y="2780699"/>
            <a:ext cx="756000" cy="756000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A815FF4D-1193-FD57-B80D-170B1D6D7DA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10073" y="3660309"/>
            <a:ext cx="756000" cy="756000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A5858E8A-461D-8136-D53E-78B90D83E2B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3673" y="4541068"/>
            <a:ext cx="756000" cy="756000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0F47F3BF-FE9F-4E10-29C4-67EAF692A87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3673" y="1903749"/>
            <a:ext cx="756000" cy="756000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158B7C4C-26DB-2FC4-FE69-C0F0B95458B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10073" y="1903749"/>
            <a:ext cx="756000" cy="756000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45F62D41-436E-F309-8F66-5F926679592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9454" y="1896102"/>
            <a:ext cx="756000" cy="756000"/>
          </a:xfrm>
          <a:prstGeom prst="rect">
            <a:avLst/>
          </a:prstGeom>
        </p:spPr>
      </p:pic>
      <p:sp>
        <p:nvSpPr>
          <p:cNvPr id="36" name="投影片編號版面配置區 35">
            <a:extLst>
              <a:ext uri="{FF2B5EF4-FFF2-40B4-BE49-F238E27FC236}">
                <a16:creationId xmlns:a16="http://schemas.microsoft.com/office/drawing/2014/main" id="{9690164C-3C97-219F-FC24-12A5BD44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C69E5D98-BE03-458E-7578-1AAAA2C63419}"/>
              </a:ext>
            </a:extLst>
          </p:cNvPr>
          <p:cNvSpPr/>
          <p:nvPr/>
        </p:nvSpPr>
        <p:spPr>
          <a:xfrm>
            <a:off x="8667834" y="805529"/>
            <a:ext cx="2471530" cy="49318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E55EB3D4-BFE3-726F-A7A8-D1202EE3A866}"/>
              </a:ext>
            </a:extLst>
          </p:cNvPr>
          <p:cNvSpPr txBox="1"/>
          <p:nvPr/>
        </p:nvSpPr>
        <p:spPr>
          <a:xfrm>
            <a:off x="8510073" y="799794"/>
            <a:ext cx="27870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Sampling</a:t>
            </a:r>
            <a:r>
              <a:rPr lang="el-GR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(γ=1)</a:t>
            </a:r>
          </a:p>
          <a:p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A9023E0E-CDE4-CED3-A219-8A047EF962B0}"/>
              </a:ext>
            </a:extLst>
          </p:cNvPr>
          <p:cNvCxnSpPr/>
          <p:nvPr/>
        </p:nvCxnSpPr>
        <p:spPr>
          <a:xfrm>
            <a:off x="3810000" y="5552661"/>
            <a:ext cx="450008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91FC2D13-3B0F-CCB6-F841-D804E65F3D40}"/>
              </a:ext>
            </a:extLst>
          </p:cNvPr>
          <p:cNvSpPr txBox="1"/>
          <p:nvPr/>
        </p:nvSpPr>
        <p:spPr>
          <a:xfrm>
            <a:off x="3729678" y="4849554"/>
            <a:ext cx="46607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effectLst/>
              </a:rPr>
              <a:t>    By strategically reducing diversity, our method significantly boosts generation accuracy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7F25774-D648-D944-BFF1-3CA5EFA1AD0E}"/>
              </a:ext>
            </a:extLst>
          </p:cNvPr>
          <p:cNvSpPr txBox="1"/>
          <p:nvPr/>
        </p:nvSpPr>
        <p:spPr>
          <a:xfrm>
            <a:off x="609600" y="149924"/>
            <a:ext cx="609724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4-3 Experiment results</a:t>
            </a:r>
          </a:p>
        </p:txBody>
      </p:sp>
    </p:spTree>
    <p:extLst>
      <p:ext uri="{BB962C8B-B14F-4D97-AF65-F5344CB8AC3E}">
        <p14:creationId xmlns:p14="http://schemas.microsoft.com/office/powerpoint/2010/main" val="3006585520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3C756-0658-0542-467C-1123C4413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FBC0BCD-FDBE-E5AC-DA9D-F80AF91BC28E}"/>
              </a:ext>
            </a:extLst>
          </p:cNvPr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8DB769-9CF3-1CC8-9408-EBC7DC37E6D4}"/>
              </a:ext>
            </a:extLst>
          </p:cNvPr>
          <p:cNvSpPr/>
          <p:nvPr/>
        </p:nvSpPr>
        <p:spPr>
          <a:xfrm>
            <a:off x="0" y="2663825"/>
            <a:ext cx="951389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FF7D24-C1E3-93AC-547F-47FD1B243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389" y="2272774"/>
            <a:ext cx="251215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dist" eaLnBrk="1" hangingPunct="1"/>
            <a:r>
              <a:rPr lang="en-US" altLang="zh-CN" sz="8000" dirty="0">
                <a:solidFill>
                  <a:schemeClr val="bg1"/>
                </a:solidFill>
                <a:latin typeface="Impact" pitchFamily="34" charset="0"/>
              </a:rPr>
              <a:t>Part5</a:t>
            </a:r>
            <a:endParaRPr lang="zh-CN" altLang="en-US" sz="8000" dirty="0">
              <a:solidFill>
                <a:schemeClr val="bg1"/>
              </a:solidFill>
              <a:latin typeface="Impact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1AD253-CDCC-2C12-DC3F-A73D2EE4776A}"/>
              </a:ext>
            </a:extLst>
          </p:cNvPr>
          <p:cNvSpPr/>
          <p:nvPr/>
        </p:nvSpPr>
        <p:spPr>
          <a:xfrm>
            <a:off x="3463540" y="2663825"/>
            <a:ext cx="8728460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073F30-0D26-EFB3-A548-1249E8638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325" y="3632200"/>
            <a:ext cx="57277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Conclusion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6EF6C63-44FE-19BA-DB2D-962872177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37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7666023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36391-91BB-609C-5690-79B58221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C7FC3FD-86C6-BB67-8136-3EAA7CA21C41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5B207F-B698-E209-B110-70343E8C3329}"/>
              </a:ext>
            </a:extLst>
          </p:cNvPr>
          <p:cNvSpPr/>
          <p:nvPr/>
        </p:nvSpPr>
        <p:spPr>
          <a:xfrm>
            <a:off x="2581359" y="254000"/>
            <a:ext cx="9610641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BDB5C6-1F90-3D90-04F8-5ED4432C7B37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E4191C2-B0A2-CE3D-31B9-1A1CDA4CCBC2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CFE554-B32C-3658-8444-BD43962C9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2368" y="110658"/>
            <a:ext cx="32930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Conclusion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004738-BCC3-FBCD-0AEE-3D76B9DBF771}"/>
              </a:ext>
            </a:extLst>
          </p:cNvPr>
          <p:cNvSpPr txBox="1"/>
          <p:nvPr/>
        </p:nvSpPr>
        <p:spPr>
          <a:xfrm>
            <a:off x="609600" y="1424242"/>
            <a:ext cx="1080172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altLang="zh-TW" sz="2400" dirty="0"/>
          </a:p>
          <a:p>
            <a:pPr algn="just"/>
            <a:r>
              <a:rPr lang="en-US" altLang="zh-TW" sz="2400" dirty="0"/>
              <a:t>	</a:t>
            </a:r>
            <a:r>
              <a:rPr lang="en-US" altLang="zh-TW" sz="2200" dirty="0"/>
              <a:t>This study presents an </a:t>
            </a:r>
            <a:r>
              <a:rPr lang="en-US" altLang="zh-TW" sz="2200" b="1" dirty="0">
                <a:solidFill>
                  <a:srgbClr val="FF0000"/>
                </a:solidFill>
              </a:rPr>
              <a:t>iterative compositional </a:t>
            </a:r>
            <a:r>
              <a:rPr lang="en-US" altLang="zh-TW" sz="2200" b="1" dirty="0" err="1">
                <a:solidFill>
                  <a:srgbClr val="FF0000"/>
                </a:solidFill>
              </a:rPr>
              <a:t>DiT</a:t>
            </a:r>
            <a:r>
              <a:rPr lang="en-US" altLang="zh-TW" sz="2200" b="1" dirty="0">
                <a:solidFill>
                  <a:srgbClr val="FF0000"/>
                </a:solidFill>
              </a:rPr>
              <a:t> framework </a:t>
            </a:r>
            <a:r>
              <a:rPr lang="en-US" altLang="zh-TW" sz="2200" dirty="0"/>
              <a:t>for unseen attribute-object image generation. The model uses attribute and object conditions to guide latent diffusion with a Transformer backbone.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TW" sz="2200" dirty="0"/>
          </a:p>
          <a:p>
            <a:pPr algn="just"/>
            <a:r>
              <a:rPr lang="en-US" altLang="zh-TW" sz="2200" dirty="0"/>
              <a:t>	By combining </a:t>
            </a:r>
            <a:r>
              <a:rPr lang="en-US" altLang="zh-TW" sz="2200" b="1" dirty="0">
                <a:solidFill>
                  <a:srgbClr val="FF0000"/>
                </a:solidFill>
              </a:rPr>
              <a:t>curated iterative retraining</a:t>
            </a:r>
            <a:r>
              <a:rPr lang="en-US" altLang="zh-TW" sz="2200" dirty="0"/>
              <a:t> and </a:t>
            </a:r>
            <a:r>
              <a:rPr lang="en-US" altLang="zh-TW" sz="2200" b="1" dirty="0">
                <a:solidFill>
                  <a:srgbClr val="FF0000"/>
                </a:solidFill>
              </a:rPr>
              <a:t>gamma-based modified balanced sampling</a:t>
            </a:r>
            <a:r>
              <a:rPr lang="en-US" altLang="zh-TW" sz="2200" dirty="0"/>
              <a:t>, the proposed method progressively improves target-condition correctness while maintaining reasonable sample diversity. Experiments on </a:t>
            </a:r>
            <a:r>
              <a:rPr lang="en-US" altLang="zh-TW" sz="2200" dirty="0" err="1"/>
              <a:t>CelebA</a:t>
            </a:r>
            <a:r>
              <a:rPr lang="en-US" altLang="zh-TW" sz="2200" dirty="0"/>
              <a:t> show that gamma sampling provides a flexible way to balance generation accuracy and diversity under dynamic class imbalance.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A79B0A8-B1B0-7FA1-6B53-EC9A0AB72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8505732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9B93D-062F-5278-AA92-4F783ACD2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738B47E-8856-B61B-5F3D-B1290380ABC7}"/>
              </a:ext>
            </a:extLst>
          </p:cNvPr>
          <p:cNvSpPr/>
          <p:nvPr/>
        </p:nvSpPr>
        <p:spPr>
          <a:xfrm>
            <a:off x="1600200" y="2257425"/>
            <a:ext cx="8956675" cy="2382838"/>
          </a:xfrm>
          <a:prstGeom prst="rect">
            <a:avLst/>
          </a:prstGeom>
          <a:noFill/>
          <a:ln w="25400">
            <a:solidFill>
              <a:srgbClr val="0448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40CFED16-F7DB-B9C3-C9DE-E1C10192E47C}"/>
              </a:ext>
            </a:extLst>
          </p:cNvPr>
          <p:cNvGrpSpPr>
            <a:grpSpLocks/>
          </p:cNvGrpSpPr>
          <p:nvPr/>
        </p:nvGrpSpPr>
        <p:grpSpPr bwMode="auto">
          <a:xfrm>
            <a:off x="10290175" y="4325938"/>
            <a:ext cx="1109663" cy="1130300"/>
            <a:chOff x="2666985" y="682103"/>
            <a:chExt cx="1109138" cy="1131217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D375F5B-EE0B-729E-B316-10E5A4E86F92}"/>
                </a:ext>
              </a:extLst>
            </p:cNvPr>
            <p:cNvSpPr/>
            <p:nvPr/>
          </p:nvSpPr>
          <p:spPr>
            <a:xfrm>
              <a:off x="2841527" y="858458"/>
              <a:ext cx="769574" cy="768973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46C9F0A1-7A19-0834-4FF1-98D3470C398B}"/>
                </a:ext>
              </a:extLst>
            </p:cNvPr>
            <p:cNvSpPr/>
            <p:nvPr/>
          </p:nvSpPr>
          <p:spPr>
            <a:xfrm>
              <a:off x="2666985" y="682103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68822EA-7A80-6FED-B639-C74B10410C93}"/>
                </a:ext>
              </a:extLst>
            </p:cNvPr>
            <p:cNvSpPr/>
            <p:nvPr/>
          </p:nvSpPr>
          <p:spPr>
            <a:xfrm>
              <a:off x="3217587" y="1254067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53E1778-EF71-EBF2-C299-794B008F6088}"/>
              </a:ext>
            </a:extLst>
          </p:cNvPr>
          <p:cNvGrpSpPr>
            <a:grpSpLocks/>
          </p:cNvGrpSpPr>
          <p:nvPr/>
        </p:nvGrpSpPr>
        <p:grpSpPr bwMode="auto">
          <a:xfrm>
            <a:off x="792163" y="1462088"/>
            <a:ext cx="1109662" cy="1131887"/>
            <a:chOff x="2666985" y="682103"/>
            <a:chExt cx="1109138" cy="1131217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C196E6BD-9DE9-8B1A-808D-65B99AD29554}"/>
                </a:ext>
              </a:extLst>
            </p:cNvPr>
            <p:cNvSpPr/>
            <p:nvPr/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364722EB-2127-CEC2-731F-7987A597CBCA}"/>
                </a:ext>
              </a:extLst>
            </p:cNvPr>
            <p:cNvSpPr/>
            <p:nvPr/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2CF8080D-1B4C-5860-08A6-5BA357BB65E0}"/>
                </a:ext>
              </a:extLst>
            </p:cNvPr>
            <p:cNvSpPr/>
            <p:nvPr/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58275E58-CB02-CE0C-2FFF-D05E5DACCF8E}"/>
              </a:ext>
            </a:extLst>
          </p:cNvPr>
          <p:cNvSpPr/>
          <p:nvPr/>
        </p:nvSpPr>
        <p:spPr>
          <a:xfrm>
            <a:off x="0" y="-12700"/>
            <a:ext cx="12192000" cy="373063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239BBDE-C986-0EC8-604B-E0DDB91D70E1}"/>
              </a:ext>
            </a:extLst>
          </p:cNvPr>
          <p:cNvSpPr/>
          <p:nvPr/>
        </p:nvSpPr>
        <p:spPr>
          <a:xfrm>
            <a:off x="11566525" y="6523038"/>
            <a:ext cx="625475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23DDC6F-31B2-101D-E8AE-BF710E7D2A50}"/>
              </a:ext>
            </a:extLst>
          </p:cNvPr>
          <p:cNvSpPr/>
          <p:nvPr/>
        </p:nvSpPr>
        <p:spPr>
          <a:xfrm>
            <a:off x="0" y="6523038"/>
            <a:ext cx="10439400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2" name="Picture 4" descr="藍色_Logo_標誌">
            <a:extLst>
              <a:ext uri="{FF2B5EF4-FFF2-40B4-BE49-F238E27FC236}">
                <a16:creationId xmlns:a16="http://schemas.microsoft.com/office/drawing/2014/main" id="{C5E95366-5737-1484-FCB7-AB752A6B7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482619"/>
            <a:ext cx="1144402" cy="41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5A821929-EBBF-D643-ADA4-C696D84EBA23}"/>
              </a:ext>
            </a:extLst>
          </p:cNvPr>
          <p:cNvSpPr txBox="1"/>
          <p:nvPr/>
        </p:nvSpPr>
        <p:spPr>
          <a:xfrm>
            <a:off x="3048000" y="30983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 for listening!</a:t>
            </a:r>
          </a:p>
        </p:txBody>
      </p:sp>
    </p:spTree>
    <p:extLst>
      <p:ext uri="{BB962C8B-B14F-4D97-AF65-F5344CB8AC3E}">
        <p14:creationId xmlns:p14="http://schemas.microsoft.com/office/powerpoint/2010/main" val="471858725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242A23F-1040-FB0E-EC88-EDC18BB08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40</a:t>
            </a:fld>
            <a:endParaRPr lang="zh-CN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426665C-9451-985D-EA70-B558FAADFC2B}"/>
              </a:ext>
            </a:extLst>
          </p:cNvPr>
          <p:cNvSpPr txBox="1"/>
          <p:nvPr/>
        </p:nvSpPr>
        <p:spPr>
          <a:xfrm>
            <a:off x="2083558" y="2705725"/>
            <a:ext cx="80248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800" b="1" dirty="0"/>
              <a:t>Appendix</a:t>
            </a:r>
            <a:endParaRPr lang="zh-TW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41331276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C454E-E8D9-C799-A30D-0DEC167E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22F3052-CC09-C05E-E31B-1DEC2E70B4B8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EBB5E2-80A5-4ED9-1796-46DB50DD014D}"/>
              </a:ext>
            </a:extLst>
          </p:cNvPr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4F9572-554C-FDB9-8A41-E4417A5A8BE7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04652D-0F00-7A89-8AF5-FA0E7BFBA789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CF13294-41DA-EB7D-9262-D633587BA23C}"/>
              </a:ext>
            </a:extLst>
          </p:cNvPr>
          <p:cNvSpPr txBox="1"/>
          <p:nvPr/>
        </p:nvSpPr>
        <p:spPr>
          <a:xfrm>
            <a:off x="519639" y="915012"/>
            <a:ext cx="10822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model's ability to 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US" altLang="zh-TW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unseen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first conducted a preliminary test on a simpler toy dataset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combinations along the diagonal (e.g., &lt;Zero, White&gt;) were held out as unseen data.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 descr="一張含有 字型, 圖形, 文字, 鮮豔 的圖片&#10;&#10;自動產生的描述">
            <a:extLst>
              <a:ext uri="{FF2B5EF4-FFF2-40B4-BE49-F238E27FC236}">
                <a16:creationId xmlns:a16="http://schemas.microsoft.com/office/drawing/2014/main" id="{241B9802-AA82-BEC1-BDC3-060AFF3E0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844"/>
          <a:stretch>
            <a:fillRect/>
          </a:stretch>
        </p:blipFill>
        <p:spPr>
          <a:xfrm>
            <a:off x="2296536" y="2829014"/>
            <a:ext cx="3225660" cy="316230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CC8ACB59-B51D-67EF-DCBC-BB253AADD4FB}"/>
              </a:ext>
            </a:extLst>
          </p:cNvPr>
          <p:cNvSpPr txBox="1"/>
          <p:nvPr/>
        </p:nvSpPr>
        <p:spPr>
          <a:xfrm>
            <a:off x="2296536" y="2230917"/>
            <a:ext cx="322566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t>0       1      2      3      4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6BEE216-57D9-1F81-06A2-0F92215EE28C}"/>
              </a:ext>
            </a:extLst>
          </p:cNvPr>
          <p:cNvSpPr txBox="1"/>
          <p:nvPr/>
        </p:nvSpPr>
        <p:spPr>
          <a:xfrm>
            <a:off x="1208605" y="2792754"/>
            <a:ext cx="1033354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t>White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A7811A9-AE4A-6839-05BA-3F404BDAB49D}"/>
              </a:ext>
            </a:extLst>
          </p:cNvPr>
          <p:cNvSpPr txBox="1"/>
          <p:nvPr/>
        </p:nvSpPr>
        <p:spPr>
          <a:xfrm>
            <a:off x="1208605" y="3447402"/>
            <a:ext cx="1033354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t>Red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84C2B5A-F304-EE3C-0863-F8A1BFB959B9}"/>
              </a:ext>
            </a:extLst>
          </p:cNvPr>
          <p:cNvSpPr txBox="1"/>
          <p:nvPr/>
        </p:nvSpPr>
        <p:spPr>
          <a:xfrm>
            <a:off x="1208605" y="4756698"/>
            <a:ext cx="1033354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t>Blue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DDFE2AE-CE2A-8644-3ACD-80298FA215F1}"/>
              </a:ext>
            </a:extLst>
          </p:cNvPr>
          <p:cNvSpPr txBox="1"/>
          <p:nvPr/>
        </p:nvSpPr>
        <p:spPr>
          <a:xfrm>
            <a:off x="1208605" y="4102050"/>
            <a:ext cx="1033354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t>Green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9D5745B-B676-9BDC-06ED-598A204FB0FF}"/>
              </a:ext>
            </a:extLst>
          </p:cNvPr>
          <p:cNvSpPr txBox="1"/>
          <p:nvPr/>
        </p:nvSpPr>
        <p:spPr>
          <a:xfrm>
            <a:off x="1208604" y="5411347"/>
            <a:ext cx="1087931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t>Yellow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8249D67-99A4-8290-3799-0B23823EB478}"/>
              </a:ext>
            </a:extLst>
          </p:cNvPr>
          <p:cNvSpPr/>
          <p:nvPr/>
        </p:nvSpPr>
        <p:spPr>
          <a:xfrm>
            <a:off x="2310795" y="2852510"/>
            <a:ext cx="611267" cy="559004"/>
          </a:xfrm>
          <a:prstGeom prst="rect">
            <a:avLst/>
          </a:prstGeom>
          <a:gradFill flip="none" rotWithShape="1">
            <a:gsLst>
              <a:gs pos="0">
                <a:schemeClr val="dk1">
                  <a:tint val="66000"/>
                  <a:satMod val="160000"/>
                </a:schemeClr>
              </a:gs>
              <a:gs pos="50000">
                <a:schemeClr val="dk1">
                  <a:tint val="44500"/>
                  <a:satMod val="160000"/>
                </a:schemeClr>
              </a:gs>
              <a:gs pos="100000">
                <a:schemeClr val="dk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5EC1F6D-A3BC-EF88-AD86-018EC3D2B679}"/>
              </a:ext>
            </a:extLst>
          </p:cNvPr>
          <p:cNvSpPr/>
          <p:nvPr/>
        </p:nvSpPr>
        <p:spPr>
          <a:xfrm>
            <a:off x="2917038" y="3447402"/>
            <a:ext cx="611538" cy="61838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3416EA0-B222-4EB3-ED7A-5AFE35C6EC49}"/>
              </a:ext>
            </a:extLst>
          </p:cNvPr>
          <p:cNvSpPr/>
          <p:nvPr/>
        </p:nvSpPr>
        <p:spPr>
          <a:xfrm>
            <a:off x="3619391" y="4063629"/>
            <a:ext cx="611538" cy="61838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D0EC2D1-B52F-89DF-5F17-BEC96E10C600}"/>
              </a:ext>
            </a:extLst>
          </p:cNvPr>
          <p:cNvSpPr/>
          <p:nvPr/>
        </p:nvSpPr>
        <p:spPr>
          <a:xfrm>
            <a:off x="4141662" y="4682017"/>
            <a:ext cx="611538" cy="61838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5D56223-2A2D-3DF2-9991-829CDD1B3525}"/>
              </a:ext>
            </a:extLst>
          </p:cNvPr>
          <p:cNvSpPr/>
          <p:nvPr/>
        </p:nvSpPr>
        <p:spPr>
          <a:xfrm>
            <a:off x="4838153" y="5336665"/>
            <a:ext cx="611538" cy="61838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45" name="左大括弧 44">
            <a:extLst>
              <a:ext uri="{FF2B5EF4-FFF2-40B4-BE49-F238E27FC236}">
                <a16:creationId xmlns:a16="http://schemas.microsoft.com/office/drawing/2014/main" id="{18D66D7B-B095-66EC-442D-6003CA63B8F5}"/>
              </a:ext>
            </a:extLst>
          </p:cNvPr>
          <p:cNvSpPr/>
          <p:nvPr/>
        </p:nvSpPr>
        <p:spPr>
          <a:xfrm>
            <a:off x="853750" y="3147225"/>
            <a:ext cx="300277" cy="261794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46" name="左大括弧 45">
            <a:extLst>
              <a:ext uri="{FF2B5EF4-FFF2-40B4-BE49-F238E27FC236}">
                <a16:creationId xmlns:a16="http://schemas.microsoft.com/office/drawing/2014/main" id="{FAFA1952-65B5-FFED-41DE-10F9F884ABF5}"/>
              </a:ext>
            </a:extLst>
          </p:cNvPr>
          <p:cNvSpPr/>
          <p:nvPr/>
        </p:nvSpPr>
        <p:spPr>
          <a:xfrm rot="5400000">
            <a:off x="3787132" y="686855"/>
            <a:ext cx="240880" cy="3084238"/>
          </a:xfrm>
          <a:prstGeom prst="leftBrace">
            <a:avLst>
              <a:gd name="adj1" fmla="val 1983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70E8669-0504-0F91-25AE-A39E2135C70E}"/>
              </a:ext>
            </a:extLst>
          </p:cNvPr>
          <p:cNvSpPr txBox="1"/>
          <p:nvPr/>
        </p:nvSpPr>
        <p:spPr>
          <a:xfrm>
            <a:off x="2355499" y="1739202"/>
            <a:ext cx="3139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t>attribute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C5E5260A-FCBD-AF21-9316-D33B284750BF}"/>
              </a:ext>
            </a:extLst>
          </p:cNvPr>
          <p:cNvSpPr txBox="1"/>
          <p:nvPr/>
        </p:nvSpPr>
        <p:spPr>
          <a:xfrm rot="16200000">
            <a:off x="-973081" y="4271530"/>
            <a:ext cx="3139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t>object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EF710A9-8B44-2931-5D45-0F7C7648266D}"/>
              </a:ext>
            </a:extLst>
          </p:cNvPr>
          <p:cNvSpPr/>
          <p:nvPr/>
        </p:nvSpPr>
        <p:spPr>
          <a:xfrm>
            <a:off x="2971886" y="3468365"/>
            <a:ext cx="594000" cy="576000"/>
          </a:xfrm>
          <a:prstGeom prst="rect">
            <a:avLst/>
          </a:prstGeom>
          <a:gradFill flip="none" rotWithShape="1">
            <a:gsLst>
              <a:gs pos="0">
                <a:schemeClr val="dk1">
                  <a:tint val="66000"/>
                  <a:satMod val="160000"/>
                </a:schemeClr>
              </a:gs>
              <a:gs pos="50000">
                <a:schemeClr val="dk1">
                  <a:tint val="44500"/>
                  <a:satMod val="160000"/>
                </a:schemeClr>
              </a:gs>
              <a:gs pos="100000">
                <a:schemeClr val="dk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0694AA3-AB90-C038-E5D0-5F84BBF7FF8A}"/>
              </a:ext>
            </a:extLst>
          </p:cNvPr>
          <p:cNvSpPr/>
          <p:nvPr/>
        </p:nvSpPr>
        <p:spPr>
          <a:xfrm>
            <a:off x="3624523" y="4097459"/>
            <a:ext cx="594000" cy="576000"/>
          </a:xfrm>
          <a:prstGeom prst="rect">
            <a:avLst/>
          </a:prstGeom>
          <a:gradFill flip="none" rotWithShape="1">
            <a:gsLst>
              <a:gs pos="0">
                <a:schemeClr val="dk1">
                  <a:tint val="66000"/>
                  <a:satMod val="160000"/>
                </a:schemeClr>
              </a:gs>
              <a:gs pos="50000">
                <a:schemeClr val="dk1">
                  <a:tint val="44500"/>
                  <a:satMod val="160000"/>
                </a:schemeClr>
              </a:gs>
              <a:gs pos="100000">
                <a:schemeClr val="dk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AA9AC1D-5106-965B-DF2F-1130B5FC4FAB}"/>
              </a:ext>
            </a:extLst>
          </p:cNvPr>
          <p:cNvSpPr/>
          <p:nvPr/>
        </p:nvSpPr>
        <p:spPr>
          <a:xfrm>
            <a:off x="4274286" y="4739471"/>
            <a:ext cx="576000" cy="576000"/>
          </a:xfrm>
          <a:prstGeom prst="rect">
            <a:avLst/>
          </a:prstGeom>
          <a:gradFill flip="none" rotWithShape="1">
            <a:gsLst>
              <a:gs pos="0">
                <a:schemeClr val="dk1">
                  <a:tint val="66000"/>
                  <a:satMod val="160000"/>
                </a:schemeClr>
              </a:gs>
              <a:gs pos="50000">
                <a:schemeClr val="dk1">
                  <a:tint val="44500"/>
                  <a:satMod val="160000"/>
                </a:schemeClr>
              </a:gs>
              <a:gs pos="100000">
                <a:schemeClr val="dk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A8B01F6-FF47-A540-B43E-A38D0FC5233D}"/>
              </a:ext>
            </a:extLst>
          </p:cNvPr>
          <p:cNvSpPr/>
          <p:nvPr/>
        </p:nvSpPr>
        <p:spPr>
          <a:xfrm>
            <a:off x="4909944" y="5375864"/>
            <a:ext cx="576000" cy="559004"/>
          </a:xfrm>
          <a:prstGeom prst="rect">
            <a:avLst/>
          </a:prstGeom>
          <a:gradFill flip="none" rotWithShape="1">
            <a:gsLst>
              <a:gs pos="0">
                <a:schemeClr val="dk1">
                  <a:tint val="66000"/>
                  <a:satMod val="160000"/>
                </a:schemeClr>
              </a:gs>
              <a:gs pos="50000">
                <a:schemeClr val="dk1">
                  <a:tint val="44500"/>
                  <a:satMod val="160000"/>
                </a:schemeClr>
              </a:gs>
              <a:gs pos="100000">
                <a:schemeClr val="dk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58" name="矩形: 圓角 57">
            <a:extLst>
              <a:ext uri="{FF2B5EF4-FFF2-40B4-BE49-F238E27FC236}">
                <a16:creationId xmlns:a16="http://schemas.microsoft.com/office/drawing/2014/main" id="{9347E810-4D2B-0B7C-F8CC-ACA9A07EDB81}"/>
              </a:ext>
            </a:extLst>
          </p:cNvPr>
          <p:cNvSpPr/>
          <p:nvPr/>
        </p:nvSpPr>
        <p:spPr>
          <a:xfrm>
            <a:off x="7143438" y="2130141"/>
            <a:ext cx="3938156" cy="4042362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9B54100C-7BE1-C5E1-332A-33D10869F7DE}"/>
              </a:ext>
            </a:extLst>
          </p:cNvPr>
          <p:cNvSpPr txBox="1"/>
          <p:nvPr/>
        </p:nvSpPr>
        <p:spPr>
          <a:xfrm>
            <a:off x="7427441" y="2312574"/>
            <a:ext cx="215207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&lt;Zero, White</a:t>
            </a:r>
            <a:r>
              <a:rPr lang="en-US" altLang="zh-TW" sz="1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&lt;One, Red</a:t>
            </a:r>
            <a:r>
              <a:rPr lang="en-US" altLang="zh-TW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&lt;Two, Green</a:t>
            </a:r>
            <a:r>
              <a:rPr lang="en-US" altLang="zh-TW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&lt;Three, Blue</a:t>
            </a:r>
            <a:r>
              <a:rPr lang="en-US" altLang="zh-TW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&lt;Four, Yellow</a:t>
            </a:r>
            <a:r>
              <a:rPr lang="en-US" altLang="zh-TW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5" name="圖片 74" descr="一張含有 符號, 圖形, 設計 的圖片&#10;&#10;AI 產生的內容可能不正確。">
            <a:extLst>
              <a:ext uri="{FF2B5EF4-FFF2-40B4-BE49-F238E27FC236}">
                <a16:creationId xmlns:a16="http://schemas.microsoft.com/office/drawing/2014/main" id="{38D6846F-4C1E-CF60-B508-47F6E0685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656" y="2231662"/>
            <a:ext cx="609600" cy="609600"/>
          </a:xfrm>
          <a:prstGeom prst="rect">
            <a:avLst/>
          </a:prstGeom>
        </p:spPr>
      </p:pic>
      <p:pic>
        <p:nvPicPr>
          <p:cNvPr id="77" name="圖片 76" descr="一張含有 文字, 檯燈, 紅色, 螢幕擷取畫面 的圖片&#10;&#10;AI 產生的內容可能不正確。">
            <a:extLst>
              <a:ext uri="{FF2B5EF4-FFF2-40B4-BE49-F238E27FC236}">
                <a16:creationId xmlns:a16="http://schemas.microsoft.com/office/drawing/2014/main" id="{53B034D1-FA2D-F51D-A716-0CEACE4285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656" y="3043847"/>
            <a:ext cx="609600" cy="609600"/>
          </a:xfrm>
          <a:prstGeom prst="rect">
            <a:avLst/>
          </a:prstGeom>
        </p:spPr>
      </p:pic>
      <p:pic>
        <p:nvPicPr>
          <p:cNvPr id="79" name="圖片 78" descr="一張含有 文字, 圖形, 平面設計, 字型 的圖片&#10;&#10;AI 產生的內容可能不正確。">
            <a:extLst>
              <a:ext uri="{FF2B5EF4-FFF2-40B4-BE49-F238E27FC236}">
                <a16:creationId xmlns:a16="http://schemas.microsoft.com/office/drawing/2014/main" id="{16C7A0D2-0F13-A279-8605-AE8EE93737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656" y="3856032"/>
            <a:ext cx="609600" cy="609600"/>
          </a:xfrm>
          <a:prstGeom prst="rect">
            <a:avLst/>
          </a:prstGeom>
        </p:spPr>
      </p:pic>
      <p:pic>
        <p:nvPicPr>
          <p:cNvPr id="81" name="圖片 80" descr="一張含有 黑色, 黑暗, 藝術, 夜晚 的圖片&#10;&#10;AI 產生的內容可能不正確。">
            <a:extLst>
              <a:ext uri="{FF2B5EF4-FFF2-40B4-BE49-F238E27FC236}">
                <a16:creationId xmlns:a16="http://schemas.microsoft.com/office/drawing/2014/main" id="{0871F421-CBCC-B503-EB19-7BF51243E4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656" y="4668217"/>
            <a:ext cx="609600" cy="609600"/>
          </a:xfrm>
          <a:prstGeom prst="rect">
            <a:avLst/>
          </a:prstGeom>
        </p:spPr>
      </p:pic>
      <p:pic>
        <p:nvPicPr>
          <p:cNvPr id="83" name="圖片 82" descr="一張含有 符號, 像素, 黃色, 文字 的圖片&#10;&#10;AI 產生的內容可能不正確。">
            <a:extLst>
              <a:ext uri="{FF2B5EF4-FFF2-40B4-BE49-F238E27FC236}">
                <a16:creationId xmlns:a16="http://schemas.microsoft.com/office/drawing/2014/main" id="{0CE36849-0109-9529-9C6D-699669BDE8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656" y="5480404"/>
            <a:ext cx="609600" cy="609600"/>
          </a:xfrm>
          <a:prstGeom prst="rect">
            <a:avLst/>
          </a:prstGeom>
        </p:spPr>
      </p:pic>
      <p:sp>
        <p:nvSpPr>
          <p:cNvPr id="86" name="文字方塊 85">
            <a:extLst>
              <a:ext uri="{FF2B5EF4-FFF2-40B4-BE49-F238E27FC236}">
                <a16:creationId xmlns:a16="http://schemas.microsoft.com/office/drawing/2014/main" id="{7C9F0E83-1F08-3804-929F-60A39C615A56}"/>
              </a:ext>
            </a:extLst>
          </p:cNvPr>
          <p:cNvSpPr txBox="1"/>
          <p:nvPr/>
        </p:nvSpPr>
        <p:spPr>
          <a:xfrm>
            <a:off x="3010762" y="6098210"/>
            <a:ext cx="14366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223F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Training set</a:t>
            </a:r>
            <a:endParaRPr lang="zh-TW" altLang="en-US" sz="2000" dirty="0">
              <a:solidFill>
                <a:srgbClr val="223F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4AAAD7D9-DACA-399A-BE8D-3EFDA97F351E}"/>
              </a:ext>
            </a:extLst>
          </p:cNvPr>
          <p:cNvSpPr txBox="1"/>
          <p:nvPr/>
        </p:nvSpPr>
        <p:spPr>
          <a:xfrm>
            <a:off x="8067136" y="1702933"/>
            <a:ext cx="23722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223F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Target for Generation</a:t>
            </a:r>
            <a:endParaRPr lang="zh-TW" altLang="en-US" sz="2000" dirty="0">
              <a:solidFill>
                <a:srgbClr val="223F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8" name="文本框 3">
            <a:extLst>
              <a:ext uri="{FF2B5EF4-FFF2-40B4-BE49-F238E27FC236}">
                <a16:creationId xmlns:a16="http://schemas.microsoft.com/office/drawing/2014/main" id="{FF5D600C-C02C-B0B4-E3BB-B383F56BA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72267"/>
            <a:ext cx="444124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Experiment Setup: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Mnist Color Dataset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217AFA-41AF-757B-B3F7-5A0A4896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9867545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09BB5-58EE-BCDF-A115-6F7DA0E18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6ACC60B-54EF-0253-6480-F41A211ADFD4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4EFB88-4179-F10E-F5DF-B96803B94FDC}"/>
              </a:ext>
            </a:extLst>
          </p:cNvPr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06B607-0269-ECA7-4B4E-F65956185CA6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94407E-769D-9A6F-7DB2-B39DE8E7568F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" name="文本框 3">
            <a:extLst>
              <a:ext uri="{FF2B5EF4-FFF2-40B4-BE49-F238E27FC236}">
                <a16:creationId xmlns:a16="http://schemas.microsoft.com/office/drawing/2014/main" id="{EFB656D8-9C8F-096E-8F16-0F30AD847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" y="72267"/>
            <a:ext cx="48482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Experiment Results: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Mnist Color Dataset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- sample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pic>
        <p:nvPicPr>
          <p:cNvPr id="5" name="圖片 4" descr="一張含有 文字, 字型, 圖形, 鮮豔 的圖片&#10;&#10;AI 產生的內容可能不正確。">
            <a:extLst>
              <a:ext uri="{FF2B5EF4-FFF2-40B4-BE49-F238E27FC236}">
                <a16:creationId xmlns:a16="http://schemas.microsoft.com/office/drawing/2014/main" id="{538C8FB5-10FD-E36D-1D40-68FABA9CE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1975644"/>
            <a:ext cx="3162300" cy="31623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BDAA11-D980-9B01-8A21-1D9939FE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035195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0AB93-1D36-3669-4775-B4C7CADC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898704-5584-7FEC-1D05-6632B4038EC6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8E56C4-885E-6180-7BA5-FE49F9C2694B}"/>
              </a:ext>
            </a:extLst>
          </p:cNvPr>
          <p:cNvSpPr/>
          <p:nvPr/>
        </p:nvSpPr>
        <p:spPr>
          <a:xfrm>
            <a:off x="2556933" y="254000"/>
            <a:ext cx="9635067" cy="28678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A3AF73-97C7-C4B1-62ED-C24A7B141905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C64DD89-131A-1DFC-9796-5A58E096712C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A8C52A-E093-A30C-0183-09DF1D774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359"/>
            <a:ext cx="32930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Classifier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立方體 10">
            <a:extLst>
              <a:ext uri="{FF2B5EF4-FFF2-40B4-BE49-F238E27FC236}">
                <a16:creationId xmlns:a16="http://schemas.microsoft.com/office/drawing/2014/main" id="{E2299F42-81FB-8A0E-D89D-908E605DA271}"/>
              </a:ext>
            </a:extLst>
          </p:cNvPr>
          <p:cNvSpPr/>
          <p:nvPr/>
        </p:nvSpPr>
        <p:spPr>
          <a:xfrm>
            <a:off x="3285473" y="2410450"/>
            <a:ext cx="1745638" cy="723900"/>
          </a:xfrm>
          <a:prstGeom prst="cube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lumMod val="75000"/>
              </a:srgbClr>
            </a:solidFill>
            <a:prstDash val="solid"/>
            <a:miter lim="800000"/>
          </a:ln>
          <a:effectLst/>
        </p:spPr>
        <p:txBody>
          <a:bodyPr lIns="91441" tIns="45720" rIns="91441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Attribute(Condition1)</a:t>
            </a:r>
          </a:p>
          <a:p>
            <a:pPr lvl="0" algn="ctr">
              <a:defRPr/>
            </a:pP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Binary Classifier</a:t>
            </a:r>
          </a:p>
        </p:txBody>
      </p:sp>
      <p:sp>
        <p:nvSpPr>
          <p:cNvPr id="12" name="立方體 11">
            <a:extLst>
              <a:ext uri="{FF2B5EF4-FFF2-40B4-BE49-F238E27FC236}">
                <a16:creationId xmlns:a16="http://schemas.microsoft.com/office/drawing/2014/main" id="{C89A7258-764F-A21D-0389-E613F75B84E6}"/>
              </a:ext>
            </a:extLst>
          </p:cNvPr>
          <p:cNvSpPr/>
          <p:nvPr/>
        </p:nvSpPr>
        <p:spPr>
          <a:xfrm>
            <a:off x="3285473" y="3574635"/>
            <a:ext cx="1745637" cy="723900"/>
          </a:xfrm>
          <a:prstGeom prst="cube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lumMod val="75000"/>
              </a:srgbClr>
            </a:solidFill>
            <a:prstDash val="solid"/>
            <a:miter lim="800000"/>
          </a:ln>
          <a:effectLst/>
        </p:spPr>
        <p:txBody>
          <a:bodyPr lIns="91441" tIns="45720" rIns="91441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Object(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Condition2)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Binary Classifier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53DC016-C9C9-EDF7-5AC8-C3C621AA3147}"/>
              </a:ext>
            </a:extLst>
          </p:cNvPr>
          <p:cNvSpPr/>
          <p:nvPr/>
        </p:nvSpPr>
        <p:spPr>
          <a:xfrm>
            <a:off x="1065839" y="3003232"/>
            <a:ext cx="1358546" cy="723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B026A2A-4151-19C8-DB83-A1CF5CD5D965}"/>
              </a:ext>
            </a:extLst>
          </p:cNvPr>
          <p:cNvSpPr txBox="1"/>
          <p:nvPr/>
        </p:nvSpPr>
        <p:spPr>
          <a:xfrm>
            <a:off x="1156386" y="3193136"/>
            <a:ext cx="12679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TW" sz="1600" b="1" kern="0" dirty="0">
                <a:solidFill>
                  <a:prstClr val="black"/>
                </a:solidFill>
                <a:latin typeface="Times New Roman"/>
                <a:ea typeface="微軟正黑體"/>
              </a:rPr>
              <a:t>Test data </a:t>
            </a:r>
            <a:r>
              <a:rPr lang="zh-TW" altLang="en-US" sz="16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軟正黑體"/>
                <a:cs typeface="Times New Roman" panose="02020603050405020304" pitchFamily="18" charset="0"/>
              </a:rPr>
              <a:t>𝐷</a:t>
            </a:r>
            <a:r>
              <a:rPr lang="en-US" altLang="zh-TW" sz="1600" b="1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微軟正黑體"/>
                <a:cs typeface="Times New Roman" panose="02020603050405020304" pitchFamily="18" charset="0"/>
              </a:rPr>
              <a:t>2</a:t>
            </a:r>
            <a:endParaRPr lang="en-US" altLang="zh-TW" sz="1600" b="1" kern="0" dirty="0">
              <a:solidFill>
                <a:prstClr val="black"/>
              </a:solidFill>
              <a:latin typeface="Times New Roman"/>
              <a:ea typeface="微軟正黑體"/>
            </a:endParaRPr>
          </a:p>
        </p:txBody>
      </p: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310A3A18-55CC-104B-DC50-C9421935A77F}"/>
              </a:ext>
            </a:extLst>
          </p:cNvPr>
          <p:cNvCxnSpPr>
            <a:cxnSpLocks/>
            <a:stCxn id="14" idx="3"/>
            <a:endCxn id="11" idx="2"/>
          </p:cNvCxnSpPr>
          <p:nvPr/>
        </p:nvCxnSpPr>
        <p:spPr>
          <a:xfrm flipV="1">
            <a:off x="2424385" y="2862888"/>
            <a:ext cx="861088" cy="502294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C9DDABAC-795A-F7E4-082A-62823378C0E2}"/>
              </a:ext>
            </a:extLst>
          </p:cNvPr>
          <p:cNvCxnSpPr>
            <a:cxnSpLocks/>
            <a:stCxn id="14" idx="3"/>
            <a:endCxn id="12" idx="2"/>
          </p:cNvCxnSpPr>
          <p:nvPr/>
        </p:nvCxnSpPr>
        <p:spPr>
          <a:xfrm>
            <a:off x="2424385" y="3365182"/>
            <a:ext cx="861088" cy="661891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流程圖: 決策 30">
            <a:extLst>
              <a:ext uri="{FF2B5EF4-FFF2-40B4-BE49-F238E27FC236}">
                <a16:creationId xmlns:a16="http://schemas.microsoft.com/office/drawing/2014/main" id="{D4CFC5B5-E3A4-E6D4-5727-6D9ABBE92D56}"/>
              </a:ext>
            </a:extLst>
          </p:cNvPr>
          <p:cNvSpPr/>
          <p:nvPr/>
        </p:nvSpPr>
        <p:spPr>
          <a:xfrm>
            <a:off x="5892198" y="3496111"/>
            <a:ext cx="1440000" cy="720000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</a:p>
          <a:p>
            <a:pPr algn="ctr"/>
            <a:r>
              <a:rPr lang="en-US" altLang="zh-TW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Object?</a:t>
            </a:r>
            <a:endParaRPr lang="zh-TW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流程圖: 決策 31">
            <a:extLst>
              <a:ext uri="{FF2B5EF4-FFF2-40B4-BE49-F238E27FC236}">
                <a16:creationId xmlns:a16="http://schemas.microsoft.com/office/drawing/2014/main" id="{D231B414-67B3-7B70-A28E-618989B85D78}"/>
              </a:ext>
            </a:extLst>
          </p:cNvPr>
          <p:cNvSpPr/>
          <p:nvPr/>
        </p:nvSpPr>
        <p:spPr>
          <a:xfrm>
            <a:off x="5892198" y="2318551"/>
            <a:ext cx="1440000" cy="720000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</a:p>
          <a:p>
            <a:pPr algn="ctr"/>
            <a:r>
              <a:rPr lang="en-US" altLang="zh-TW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Attribute?</a:t>
            </a:r>
            <a:endParaRPr lang="zh-TW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DDAAAE94-D122-A3BC-FC8F-DBB6CF9A5E11}"/>
              </a:ext>
            </a:extLst>
          </p:cNvPr>
          <p:cNvCxnSpPr>
            <a:cxnSpLocks/>
            <a:stCxn id="11" idx="5"/>
            <a:endCxn id="32" idx="1"/>
          </p:cNvCxnSpPr>
          <p:nvPr/>
        </p:nvCxnSpPr>
        <p:spPr>
          <a:xfrm flipV="1">
            <a:off x="5031111" y="2678551"/>
            <a:ext cx="861087" cy="33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B1DA15AA-2937-4C05-6E4E-4ED37F27CCAA}"/>
              </a:ext>
            </a:extLst>
          </p:cNvPr>
          <p:cNvCxnSpPr>
            <a:cxnSpLocks/>
            <a:stCxn id="12" idx="5"/>
            <a:endCxn id="31" idx="1"/>
          </p:cNvCxnSpPr>
          <p:nvPr/>
        </p:nvCxnSpPr>
        <p:spPr>
          <a:xfrm>
            <a:off x="5031110" y="3846098"/>
            <a:ext cx="861088" cy="100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流程圖: 程序 50">
            <a:extLst>
              <a:ext uri="{FF2B5EF4-FFF2-40B4-BE49-F238E27FC236}">
                <a16:creationId xmlns:a16="http://schemas.microsoft.com/office/drawing/2014/main" id="{EF93C6E6-1112-EFE8-F799-51D61D0EE3EE}"/>
              </a:ext>
            </a:extLst>
          </p:cNvPr>
          <p:cNvSpPr/>
          <p:nvPr/>
        </p:nvSpPr>
        <p:spPr>
          <a:xfrm>
            <a:off x="8084865" y="2862888"/>
            <a:ext cx="1854058" cy="76844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intersection</a:t>
            </a:r>
          </a:p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 two  Conditions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接點: 肘形 51">
            <a:extLst>
              <a:ext uri="{FF2B5EF4-FFF2-40B4-BE49-F238E27FC236}">
                <a16:creationId xmlns:a16="http://schemas.microsoft.com/office/drawing/2014/main" id="{753C2CF7-9CB1-7C6F-3DFF-F1190C614FA0}"/>
              </a:ext>
            </a:extLst>
          </p:cNvPr>
          <p:cNvCxnSpPr>
            <a:cxnSpLocks/>
            <a:stCxn id="32" idx="3"/>
            <a:endCxn id="51" idx="1"/>
          </p:cNvCxnSpPr>
          <p:nvPr/>
        </p:nvCxnSpPr>
        <p:spPr>
          <a:xfrm>
            <a:off x="7332198" y="2678551"/>
            <a:ext cx="752667" cy="56856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接點: 肘形 54">
            <a:extLst>
              <a:ext uri="{FF2B5EF4-FFF2-40B4-BE49-F238E27FC236}">
                <a16:creationId xmlns:a16="http://schemas.microsoft.com/office/drawing/2014/main" id="{8A285DD3-5CC6-F0F1-BF7A-19C38130AB56}"/>
              </a:ext>
            </a:extLst>
          </p:cNvPr>
          <p:cNvCxnSpPr>
            <a:cxnSpLocks/>
            <a:stCxn id="31" idx="3"/>
            <a:endCxn id="51" idx="1"/>
          </p:cNvCxnSpPr>
          <p:nvPr/>
        </p:nvCxnSpPr>
        <p:spPr>
          <a:xfrm flipV="1">
            <a:off x="7332198" y="3247112"/>
            <a:ext cx="752667" cy="608999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7DCE57AA-D09F-47CB-E0EC-9DE6C6810C62}"/>
              </a:ext>
            </a:extLst>
          </p:cNvPr>
          <p:cNvSpPr txBox="1"/>
          <p:nvPr/>
        </p:nvSpPr>
        <p:spPr>
          <a:xfrm>
            <a:off x="7332198" y="2352358"/>
            <a:ext cx="487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新細明體" panose="02020500000000000000" pitchFamily="18" charset="-120"/>
                <a:cs typeface="+mn-cs"/>
              </a:rPr>
              <a:t>yes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新細明體" panose="02020500000000000000" pitchFamily="18" charset="-120"/>
                <a:cs typeface="+mn-cs"/>
              </a:rPr>
              <a:t> </a:t>
            </a:r>
            <a:endParaRPr lang="zh-TW" altLang="en-US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9D227976-3A97-FD6F-046D-E4BD4545253B}"/>
              </a:ext>
            </a:extLst>
          </p:cNvPr>
          <p:cNvSpPr txBox="1"/>
          <p:nvPr/>
        </p:nvSpPr>
        <p:spPr>
          <a:xfrm>
            <a:off x="7332197" y="3728847"/>
            <a:ext cx="487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新細明體" panose="02020500000000000000" pitchFamily="18" charset="-120"/>
                <a:cs typeface="+mn-cs"/>
              </a:rPr>
              <a:t>yes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新細明體" panose="02020500000000000000" pitchFamily="18" charset="-120"/>
                <a:cs typeface="+mn-cs"/>
              </a:rPr>
              <a:t> 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6DAA27-1866-2955-80D1-C945E2EC3D64}"/>
              </a:ext>
            </a:extLst>
          </p:cNvPr>
          <p:cNvSpPr/>
          <p:nvPr/>
        </p:nvSpPr>
        <p:spPr>
          <a:xfrm>
            <a:off x="6315336" y="1741928"/>
            <a:ext cx="583721" cy="238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drop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CA6ACD-00A1-7C87-F1F0-37DBEB16BDA8}"/>
              </a:ext>
            </a:extLst>
          </p:cNvPr>
          <p:cNvSpPr/>
          <p:nvPr/>
        </p:nvSpPr>
        <p:spPr>
          <a:xfrm>
            <a:off x="6328963" y="4582183"/>
            <a:ext cx="583721" cy="238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drop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439E818-95B1-8DF1-F084-5A222DC7BB0C}"/>
              </a:ext>
            </a:extLst>
          </p:cNvPr>
          <p:cNvCxnSpPr>
            <a:cxnSpLocks/>
            <a:stCxn id="31" idx="2"/>
            <a:endCxn id="9" idx="0"/>
          </p:cNvCxnSpPr>
          <p:nvPr/>
        </p:nvCxnSpPr>
        <p:spPr>
          <a:xfrm>
            <a:off x="6612198" y="4216111"/>
            <a:ext cx="8626" cy="3660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36122014-5279-F06F-1AB2-8AA44CF30D82}"/>
              </a:ext>
            </a:extLst>
          </p:cNvPr>
          <p:cNvCxnSpPr>
            <a:cxnSpLocks/>
            <a:stCxn id="32" idx="0"/>
            <a:endCxn id="5" idx="2"/>
          </p:cNvCxnSpPr>
          <p:nvPr/>
        </p:nvCxnSpPr>
        <p:spPr>
          <a:xfrm flipH="1" flipV="1">
            <a:off x="6607197" y="1980053"/>
            <a:ext cx="5001" cy="3384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06C5EB5-0AE1-E609-3124-8FCE902F0329}"/>
              </a:ext>
            </a:extLst>
          </p:cNvPr>
          <p:cNvSpPr txBox="1"/>
          <p:nvPr/>
        </p:nvSpPr>
        <p:spPr>
          <a:xfrm>
            <a:off x="6598571" y="4123015"/>
            <a:ext cx="487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新細明體" panose="02020500000000000000" pitchFamily="18" charset="-120"/>
                <a:cs typeface="+mn-cs"/>
              </a:rPr>
              <a:t>no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新細明體" panose="02020500000000000000" pitchFamily="18" charset="-120"/>
                <a:cs typeface="+mn-cs"/>
              </a:rPr>
              <a:t> 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89DAAD39-0BA5-04CA-013F-14F534E50DD4}"/>
              </a:ext>
            </a:extLst>
          </p:cNvPr>
          <p:cNvSpPr txBox="1"/>
          <p:nvPr/>
        </p:nvSpPr>
        <p:spPr>
          <a:xfrm>
            <a:off x="6616511" y="1928659"/>
            <a:ext cx="487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新細明體" panose="02020500000000000000" pitchFamily="18" charset="-120"/>
                <a:cs typeface="+mn-cs"/>
              </a:rPr>
              <a:t>no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新細明體" panose="02020500000000000000" pitchFamily="18" charset="-120"/>
                <a:cs typeface="+mn-cs"/>
              </a:rPr>
              <a:t> 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4B64A66-BC15-EC10-39F9-5AE019403F53}"/>
              </a:ext>
            </a:extLst>
          </p:cNvPr>
          <p:cNvSpPr txBox="1"/>
          <p:nvPr/>
        </p:nvSpPr>
        <p:spPr>
          <a:xfrm>
            <a:off x="452145" y="597880"/>
            <a:ext cx="609716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Ablation Study: Impact of Generated Data</a:t>
            </a:r>
          </a:p>
          <a:p>
            <a:r>
              <a:rPr lang="en-US" altLang="zh-TW" sz="1600" dirty="0"/>
              <a:t>Classifier 1: Real data only   → Baseline performance</a:t>
            </a:r>
          </a:p>
          <a:p>
            <a:r>
              <a:rPr lang="en-US" altLang="zh-TW" sz="1600" dirty="0"/>
              <a:t>Classifier 2: Real + Generated   → Improved accuracy by X%</a:t>
            </a:r>
            <a:endParaRPr lang="zh-TW" altLang="en-US" sz="160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8D3F8F-42BB-5F84-18F5-AD5553509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43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2882546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36E7-C63E-CABB-D47B-60F293A95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D009A36-823A-E4BE-56D9-3F892EC167B6}"/>
              </a:ext>
            </a:extLst>
          </p:cNvPr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17401F-BF7D-F434-F2C2-C4B2510824B9}"/>
              </a:ext>
            </a:extLst>
          </p:cNvPr>
          <p:cNvSpPr/>
          <p:nvPr/>
        </p:nvSpPr>
        <p:spPr>
          <a:xfrm>
            <a:off x="3810000" y="254000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EA39A4C-BCD9-D177-98A2-26FCFF9BDB28}"/>
              </a:ext>
            </a:extLst>
          </p:cNvPr>
          <p:cNvSpPr/>
          <p:nvPr/>
        </p:nvSpPr>
        <p:spPr>
          <a:xfrm>
            <a:off x="11566525" y="6621463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69E957-4CE2-154A-F29F-8160C4A678E2}"/>
              </a:ext>
            </a:extLst>
          </p:cNvPr>
          <p:cNvSpPr/>
          <p:nvPr/>
        </p:nvSpPr>
        <p:spPr>
          <a:xfrm>
            <a:off x="0" y="6621463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8B2C68-8B6E-7DBA-0BDD-2022E51D7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68" y="103684"/>
            <a:ext cx="32930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4487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Classifier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44875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254C8AF-CC39-F4AC-ABED-EF27D7133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021577"/>
              </p:ext>
            </p:extLst>
          </p:nvPr>
        </p:nvGraphicFramePr>
        <p:xfrm>
          <a:off x="563268" y="849586"/>
          <a:ext cx="10699680" cy="59537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835540">
                  <a:extLst>
                    <a:ext uri="{9D8B030D-6E8A-4147-A177-3AD203B41FA5}">
                      <a16:colId xmlns:a16="http://schemas.microsoft.com/office/drawing/2014/main" val="3682257249"/>
                    </a:ext>
                  </a:extLst>
                </a:gridCol>
                <a:gridCol w="2514300">
                  <a:extLst>
                    <a:ext uri="{9D8B030D-6E8A-4147-A177-3AD203B41FA5}">
                      <a16:colId xmlns:a16="http://schemas.microsoft.com/office/drawing/2014/main" val="3672455379"/>
                    </a:ext>
                  </a:extLst>
                </a:gridCol>
                <a:gridCol w="2674920">
                  <a:extLst>
                    <a:ext uri="{9D8B030D-6E8A-4147-A177-3AD203B41FA5}">
                      <a16:colId xmlns:a16="http://schemas.microsoft.com/office/drawing/2014/main" val="2100617318"/>
                    </a:ext>
                  </a:extLst>
                </a:gridCol>
                <a:gridCol w="2674920">
                  <a:extLst>
                    <a:ext uri="{9D8B030D-6E8A-4147-A177-3AD203B41FA5}">
                      <a16:colId xmlns:a16="http://schemas.microsoft.com/office/drawing/2014/main" val="836384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score</a:t>
                      </a:r>
                    </a:p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classifier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Condition1</a:t>
                      </a:r>
                    </a:p>
                    <a:p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Number of corrects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Condition2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Number of corrects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Composition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Number of corrects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796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  <a:endParaRPr lang="zh-TW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673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b="1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Sampling</a:t>
                      </a:r>
                      <a:endParaRPr lang="zh-TW" altLang="en-US" sz="1600" b="1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756989"/>
                  </a:ext>
                </a:extLst>
              </a:tr>
              <a:tr h="35447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Sampling </a:t>
                      </a:r>
                      <a:endParaRPr lang="zh-TW" altLang="en-US" sz="16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675071"/>
                  </a:ext>
                </a:extLst>
              </a:tr>
              <a:tr h="35447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b="1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Uniform Sampling</a:t>
                      </a:r>
                      <a:endParaRPr lang="zh-TW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943288"/>
                  </a:ext>
                </a:extLst>
              </a:tr>
              <a:tr h="35447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Uniform Sampling </a:t>
                      </a:r>
                      <a:endParaRPr lang="zh-TW" altLang="en-US" sz="16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257078"/>
                  </a:ext>
                </a:extLst>
              </a:tr>
              <a:tr h="35447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b="1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Balanced Sampling</a:t>
                      </a:r>
                    </a:p>
                    <a:p>
                      <a:pPr algn="l"/>
                      <a:r>
                        <a:rPr lang="en-US" altLang="zh-TW" sz="1600" b="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(gamma=0.5)</a:t>
                      </a:r>
                      <a:endParaRPr lang="zh-TW" altLang="en-US" sz="1600" b="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339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665242"/>
                  </a:ext>
                </a:extLst>
              </a:tr>
              <a:tr h="35447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Balanced Sampling</a:t>
                      </a:r>
                    </a:p>
                    <a:p>
                      <a:pPr algn="l"/>
                      <a:r>
                        <a:rPr lang="en-US" altLang="zh-TW" sz="16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(gamma=0.5)</a:t>
                      </a:r>
                      <a:endParaRPr lang="zh-TW" altLang="en-US" sz="1600" b="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353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377352"/>
                  </a:ext>
                </a:extLst>
              </a:tr>
              <a:tr h="35447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b="1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Balanced Sampling</a:t>
                      </a:r>
                    </a:p>
                    <a:p>
                      <a:pPr algn="l"/>
                      <a:r>
                        <a:rPr lang="en-US" altLang="zh-TW" sz="1600" b="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(gamma=0.3)</a:t>
                      </a:r>
                      <a:endParaRPr lang="zh-TW" altLang="en-US" sz="1600" b="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92683"/>
                  </a:ext>
                </a:extLst>
              </a:tr>
              <a:tr h="35447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Balanced Sampling</a:t>
                      </a:r>
                    </a:p>
                    <a:p>
                      <a:pPr algn="l"/>
                      <a:r>
                        <a:rPr lang="en-US" altLang="zh-TW" sz="16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(gamma=0.3)</a:t>
                      </a:r>
                      <a:endParaRPr lang="zh-TW" altLang="en-US" sz="1600" b="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447364"/>
                  </a:ext>
                </a:extLst>
              </a:tr>
              <a:tr h="35447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b="1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Balanced Sampling</a:t>
                      </a:r>
                    </a:p>
                    <a:p>
                      <a:pPr algn="l"/>
                      <a:r>
                        <a:rPr lang="en-US" altLang="zh-TW" sz="1600" b="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(gamma=0.7)</a:t>
                      </a:r>
                      <a:endParaRPr lang="zh-TW" altLang="en-US" sz="1600" b="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760633"/>
                  </a:ext>
                </a:extLst>
              </a:tr>
              <a:tr h="35447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Balanced Sampling</a:t>
                      </a:r>
                    </a:p>
                    <a:p>
                      <a:pPr algn="l"/>
                      <a:r>
                        <a:rPr lang="en-US" altLang="zh-TW" sz="16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(gamma=0.7)</a:t>
                      </a:r>
                      <a:endParaRPr lang="zh-TW" altLang="en-US" sz="1600" b="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434961"/>
                  </a:ext>
                </a:extLst>
              </a:tr>
            </a:tbl>
          </a:graphicData>
        </a:graphic>
      </p:graphicFrame>
      <p:sp>
        <p:nvSpPr>
          <p:cNvPr id="60" name="文字方塊 59">
            <a:extLst>
              <a:ext uri="{FF2B5EF4-FFF2-40B4-BE49-F238E27FC236}">
                <a16:creationId xmlns:a16="http://schemas.microsoft.com/office/drawing/2014/main" id="{1154DF2F-2A63-65DF-17CA-A14503BA7CD1}"/>
              </a:ext>
            </a:extLst>
          </p:cNvPr>
          <p:cNvSpPr txBox="1"/>
          <p:nvPr/>
        </p:nvSpPr>
        <p:spPr>
          <a:xfrm>
            <a:off x="654350" y="541809"/>
            <a:ext cx="40760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TW" sz="1400" kern="0" dirty="0">
                <a:solidFill>
                  <a:prstClr val="black"/>
                </a:solidFill>
                <a:latin typeface="Times New Roman"/>
                <a:ea typeface="微軟正黑體"/>
              </a:rPr>
              <a:t>Use 1000 Gray_Hair Female images as Test data </a:t>
            </a:r>
            <a:r>
              <a:rPr lang="zh-TW" altLang="en-US" sz="1400" kern="0" dirty="0">
                <a:solidFill>
                  <a:prstClr val="black"/>
                </a:solidFill>
                <a:latin typeface="Times New Roman" panose="02020603050405020304" pitchFamily="18" charset="0"/>
                <a:ea typeface="微軟正黑體"/>
                <a:cs typeface="Times New Roman" panose="02020603050405020304" pitchFamily="18" charset="0"/>
              </a:rPr>
              <a:t>𝐷</a:t>
            </a:r>
            <a:r>
              <a:rPr lang="en-US" altLang="zh-TW" sz="14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微軟正黑體"/>
                <a:cs typeface="Times New Roman" panose="02020603050405020304" pitchFamily="18" charset="0"/>
              </a:rPr>
              <a:t>2</a:t>
            </a:r>
            <a:endParaRPr lang="en-US" altLang="zh-TW" sz="1400" kern="0" dirty="0">
              <a:solidFill>
                <a:prstClr val="black"/>
              </a:solidFill>
              <a:latin typeface="Times New Roman"/>
              <a:ea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A0B5003-2B00-D5ED-ABCF-FC0CC5DF3142}"/>
              </a:ext>
            </a:extLst>
          </p:cNvPr>
          <p:cNvSpPr txBox="1"/>
          <p:nvPr/>
        </p:nvSpPr>
        <p:spPr>
          <a:xfrm>
            <a:off x="9711513" y="138680"/>
            <a:ext cx="18550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3</a:t>
            </a:r>
            <a:endParaRPr lang="zh-TW" alt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D19F2EA-4CD4-B086-4F99-87010DD53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5DC8D-C4F0-4F0D-B826-92573808DA56}" type="slidenum">
              <a:rPr lang="zh-CN" altLang="en-US" smtClean="0"/>
              <a:pPr/>
              <a:t>44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773064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這個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97251</TotalTime>
  <Words>3081</Words>
  <Application>Microsoft Office PowerPoint</Application>
  <PresentationFormat>寬螢幕</PresentationFormat>
  <Paragraphs>771</Paragraphs>
  <Slides>44</Slides>
  <Notes>32</Notes>
  <HiddenSlides>0</HiddenSlides>
  <MMClips>0</MMClips>
  <ScaleCrop>false</ScaleCrop>
  <HeadingPairs>
    <vt:vector size="6" baseType="variant">
      <vt:variant>
        <vt:lpstr>使用字型</vt:lpstr>
      </vt:variant>
      <vt:variant>
        <vt:i4>15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44</vt:i4>
      </vt:variant>
    </vt:vector>
  </HeadingPairs>
  <TitlesOfParts>
    <vt:vector size="60" baseType="lpstr">
      <vt:lpstr>fkGroteskNeue</vt:lpstr>
      <vt:lpstr>KaTeX_Main</vt:lpstr>
      <vt:lpstr>KaTeX_Math</vt:lpstr>
      <vt:lpstr>Microsoft YaHei</vt:lpstr>
      <vt:lpstr>pplxSerif</vt:lpstr>
      <vt:lpstr>新細明體</vt:lpstr>
      <vt:lpstr>Aptos</vt:lpstr>
      <vt:lpstr>Arial</vt:lpstr>
      <vt:lpstr>Calibri</vt:lpstr>
      <vt:lpstr>Calibri Light</vt:lpstr>
      <vt:lpstr>Cambria</vt:lpstr>
      <vt:lpstr>Cambria Math</vt:lpstr>
      <vt:lpstr>Impact</vt:lpstr>
      <vt:lpstr>Times New Roman</vt:lpstr>
      <vt:lpstr>Wingdings</vt:lpstr>
      <vt:lpstr>Office 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佩珊 吳</dc:creator>
  <cp:lastModifiedBy>吳佩珊</cp:lastModifiedBy>
  <cp:revision>366</cp:revision>
  <dcterms:created xsi:type="dcterms:W3CDTF">2025-02-16T23:33:30Z</dcterms:created>
  <dcterms:modified xsi:type="dcterms:W3CDTF">2026-07-16T19:35:36Z</dcterms:modified>
</cp:coreProperties>
</file>